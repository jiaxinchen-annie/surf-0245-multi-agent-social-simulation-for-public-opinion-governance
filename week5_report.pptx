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13:16:52.6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13:16:53.51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13:16:53.87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13:16:58.95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Reference style: D:/surf/week4/week4_report.pptx</a:t>
            </a:r>
          </a:p>
          <a:p>
            <a:r>
              <a:t>Template reference: D:/surf/week1/week report sample(1).pptx</a:t>
            </a:r>
          </a:p>
          <a:p>
            <a:r>
              <a:t>Week5 outputs: D:/surf/week5/SURF-0245-Multi-Agent-Social-Simulation-for-Public-Opinion-Governance--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README source: D:/surf/week5/SURF-0245-Multi-Agent-Social-Simulation-for-Public-Opinion-Governance--/README.md</a:t>
            </a:r>
          </a:p>
          <a:p>
            <a:r>
              <a:t>Mock metadata: D:/surf/week5/SURF-0245-Multi-Agent-Social-Simulation-for-Public-Opinion-Governance--/output_mock_100x50/run_meta.json</a:t>
            </a:r>
          </a:p>
          <a:p>
            <a:r>
              <a:t>DeepSeek metadata: D:/surf/week5/SURF-0245-Multi-Agent-Social-Simulation-for-Public-Opinion-Governance--/output_ds_100x20/run_meta.json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README source: D:/surf/week5/SURF-0245-Multi-Agent-Social-Simulation-for-Public-Opinion-Governance--/README.md</a:t>
            </a:r>
          </a:p>
          <a:p>
            <a:r>
              <a:t>Configuration files: D:/surf/week5/SURF-0245-Multi-Agent-Social-Simulation-for-Public-Opinion-Governance--/config_100_mock.yaml and D:/surf/week5/SURF-0245-Multi-Agent-Social-Simulation-for-Public-Opinion-Governance--/config_100_ds.yaml</a:t>
            </a:r>
          </a:p>
          <a:p>
            <a:r>
              <a:t>Metrics source: D:/surf/week5/SURF-0245-Multi-Agent-Social-Simulation-for-Public-Opinion-Governance--/output_mock_100x50/metrics.csv and D:/surf/week5/SURF-0245-Multi-Agent-Social-Simulation-for-Public-Opinion-Governance--/output_ds_100x20/metrics.csv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Chart source: D:/surf/week5/SURF-0245-Multi-Agent-Social-Simulation-for-Public-Opinion-Governance--/output_mock_100x50/figures/fig1_bounded_trends.png</a:t>
            </a:r>
          </a:p>
          <a:p>
            <a:r>
              <a:t>Metadata source: D:/surf/week5/SURF-0245-Multi-Agent-Social-Simulation-for-Public-Opinion-Governance--/output_mock_100x50/run_meta.json</a:t>
            </a:r>
          </a:p>
          <a:p>
            <a:r>
              <a:t>Metrics source: D:/surf/week5/SURF-0245-Multi-Agent-Social-Simulation-for-Public-Opinion-Governance--/output_mock_100x50/metrics.csv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Chart source: D:/surf/week5/SURF-0245-Multi-Agent-Social-Simulation-for-Public-Opinion-Governance--/output_ds_100x20/figures/fig1_bounded_trends.png</a:t>
            </a:r>
          </a:p>
          <a:p>
            <a:r>
              <a:rPr dirty="0"/>
              <a:t>Metadata source: D:/surf/week5/SURF-0245-Multi-Agent-Social-Simulation-for-Public-Opinion-Governance--/output_ds_100x20/run_meta.json</a:t>
            </a:r>
          </a:p>
          <a:p>
            <a:r>
              <a:rPr dirty="0"/>
              <a:t>Metrics source: D:/surf/week5/SURF-0245-Multi-Agent-Social-Simulation-for-Public-Opinion-Governance--/output_ds_100x20/metrics.csv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Comparison computed from: D:/surf/week5/SURF-0245-Multi-Agent-Social-Simulation-for-Public-Opinion-Governance--/output_mock_100x50/metrics.csv</a:t>
            </a:r>
          </a:p>
          <a:p>
            <a:r>
              <a:t>Comparison computed from: D:/surf/week5/SURF-0245-Multi-Agent-Social-Simulation-for-Public-Opinion-Governance--/output_ds_100x20/metrics.csv</a:t>
            </a:r>
          </a:p>
          <a:p>
            <a:r>
              <a:t>Chart source: D:/surf/week5/SURF-0245-Multi-Agent-Social-Simulation-for-Public-Opinion-Governance--/output_ds_100x20/figures/fig2_count_trends.png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README source: D:/surf/week5/SURF-0245-Multi-Agent-Social-Simulation-for-Public-Opinion-Governance--/README.md</a:t>
            </a:r>
          </a:p>
          <a:p>
            <a:r>
              <a:t>Experiment report source: D:/surf/week5/SURF-0245-Multi-Agent-Social-Simulation-for-Public-Opinion-Governance--/实验报告_Mock与DeepSeek对比.md</a:t>
            </a:r>
          </a:p>
          <a:p>
            <a:r>
              <a:t>Metadata sources: run_meta.json files under output_mock_100x50 and output_ds_100x20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ACM DL source: https://dl.acm.org/doi/10.1145/3586183.3606763</a:t>
            </a:r>
          </a:p>
          <a:p>
            <a:r>
              <a:t>Stanford HCI publication page: https://hci.stanford.edu/publications/paper.php?id=482</a:t>
            </a:r>
          </a:p>
          <a:p>
            <a:r>
              <a:t>arXiv source: https://arxiv.org/abs/2304.03442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5FC2237-5E38-4EB2-8D6E-8A6E44CC40FF}"/>
              </a:ext>
            </a:extLst>
          </p:cNvPr>
          <p:cNvSpPr>
            <a:spLocks noGrp="1"/>
          </p:cNvSpPr>
          <p:nvPr/>
        </p:nvSpPr>
        <p:spPr>
          <a:xfrm>
            <a:off x="5342603" y="817614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F4E79"/>
                </a:solidFill>
              </a:defRPr>
            </a:pPr>
            <a:r>
              <a:rPr sz="3300" b="1" dirty="0">
                <a:solidFill>
                  <a:srgbClr val="1F4E79"/>
                </a:solidFill>
              </a:rPr>
              <a:t>week 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FF36D0-E3AF-4AF7-B001-2265372944F7}"/>
              </a:ext>
            </a:extLst>
          </p:cNvPr>
          <p:cNvSpPr>
            <a:spLocks noGrp="1"/>
          </p:cNvSpPr>
          <p:nvPr/>
        </p:nvSpPr>
        <p:spPr>
          <a:xfrm>
            <a:off x="4009102" y="1542282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F2937"/>
                </a:solidFill>
              </a:defRPr>
            </a:pPr>
            <a:r>
              <a:rPr sz="3200" b="1" dirty="0" err="1">
                <a:solidFill>
                  <a:srgbClr val="1F2937"/>
                </a:solidFill>
              </a:rPr>
              <a:t>多智能体舆情处理系统</a:t>
            </a:r>
            <a:endParaRPr sz="3200" b="1" dirty="0">
              <a:solidFill>
                <a:srgbClr val="1F2937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24CAE8-8CDC-4122-99B2-E1E8AC1FB650}"/>
              </a:ext>
            </a:extLst>
          </p:cNvPr>
          <p:cNvSpPr>
            <a:spLocks noGrp="1"/>
          </p:cNvSpPr>
          <p:nvPr/>
        </p:nvSpPr>
        <p:spPr>
          <a:xfrm>
            <a:off x="3647768" y="23431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rPr sz="2000" b="0" dirty="0">
                <a:solidFill>
                  <a:srgbClr val="6B7280"/>
                </a:solidFill>
              </a:rPr>
              <a:t>100 Agent </a:t>
            </a:r>
            <a:r>
              <a:rPr sz="2000" b="0" dirty="0" err="1">
                <a:solidFill>
                  <a:srgbClr val="6B7280"/>
                </a:solidFill>
              </a:rPr>
              <a:t>闭环升级与</a:t>
            </a:r>
            <a:r>
              <a:rPr sz="2000" b="0" dirty="0">
                <a:solidFill>
                  <a:srgbClr val="6B7280"/>
                </a:solidFill>
              </a:rPr>
              <a:t> Mock / DeepSeek </a:t>
            </a:r>
            <a:r>
              <a:rPr sz="2000" b="0" dirty="0" err="1">
                <a:solidFill>
                  <a:srgbClr val="6B7280"/>
                </a:solidFill>
              </a:rPr>
              <a:t>对照实验</a:t>
            </a:r>
            <a:endParaRPr sz="2000" b="0" dirty="0">
              <a:solidFill>
                <a:srgbClr val="6B728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ED65B0-E15F-4F5E-B870-612C98CBE25F}"/>
              </a:ext>
            </a:extLst>
          </p:cNvPr>
          <p:cNvSpPr>
            <a:spLocks noGrp="1"/>
          </p:cNvSpPr>
          <p:nvPr/>
        </p:nvSpPr>
        <p:spPr>
          <a:xfrm>
            <a:off x="11239500" y="59245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11DED4-9A0A-BCCA-3285-F52A2FF0A59B}"/>
              </a:ext>
            </a:extLst>
          </p:cNvPr>
          <p:cNvSpPr>
            <a:spLocks noGrp="1"/>
          </p:cNvSpPr>
          <p:nvPr/>
        </p:nvSpPr>
        <p:spPr>
          <a:xfrm>
            <a:off x="4167187" y="3030486"/>
            <a:ext cx="3857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A </a:t>
            </a:r>
            <a:r>
              <a:rPr sz="1600" b="0" dirty="0" err="1">
                <a:solidFill>
                  <a:srgbClr val="444444"/>
                </a:solidFill>
              </a:rPr>
              <a:t>陈佳欣</a:t>
            </a:r>
            <a:r>
              <a:rPr sz="1600" b="0" dirty="0">
                <a:solidFill>
                  <a:srgbClr val="444444"/>
                </a:solidFill>
              </a:rPr>
              <a:t> 2471400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B </a:t>
            </a:r>
            <a:r>
              <a:rPr sz="1600" b="0" dirty="0" err="1">
                <a:solidFill>
                  <a:srgbClr val="444444"/>
                </a:solidFill>
              </a:rPr>
              <a:t>张乐</a:t>
            </a:r>
            <a:r>
              <a:rPr lang="zh-CN" altLang="en-US" sz="1600" b="0" dirty="0">
                <a:solidFill>
                  <a:srgbClr val="444444"/>
                </a:solidFill>
              </a:rPr>
              <a:t>年</a:t>
            </a:r>
            <a:r>
              <a:rPr sz="1600" b="0" dirty="0">
                <a:solidFill>
                  <a:srgbClr val="444444"/>
                </a:solidFill>
              </a:rPr>
              <a:t> 2471172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C </a:t>
            </a:r>
            <a:r>
              <a:rPr sz="1600" b="0" dirty="0" err="1">
                <a:solidFill>
                  <a:srgbClr val="444444"/>
                </a:solidFill>
              </a:rPr>
              <a:t>石雨</a:t>
            </a:r>
            <a:r>
              <a:rPr lang="zh-CN" altLang="en-US" sz="1600" b="0" dirty="0">
                <a:solidFill>
                  <a:srgbClr val="444444"/>
                </a:solidFill>
              </a:rPr>
              <a:t>凡</a:t>
            </a:r>
            <a:r>
              <a:rPr sz="1600" b="0" dirty="0">
                <a:solidFill>
                  <a:srgbClr val="444444"/>
                </a:solidFill>
              </a:rPr>
              <a:t> 2363487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D 张</a:t>
            </a:r>
            <a:r>
              <a:rPr lang="zh-CN" altLang="en-US" sz="1600" b="0" dirty="0">
                <a:solidFill>
                  <a:srgbClr val="444444"/>
                </a:solidFill>
              </a:rPr>
              <a:t>峻烨</a:t>
            </a:r>
            <a:r>
              <a:rPr sz="1600" b="0" dirty="0">
                <a:solidFill>
                  <a:srgbClr val="444444"/>
                </a:solidFill>
              </a:rPr>
              <a:t> 2471659</a:t>
            </a:r>
          </a:p>
          <a:p>
            <a:pPr algn="ctr"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E </a:t>
            </a:r>
            <a:r>
              <a:rPr sz="1600" b="0" dirty="0" err="1">
                <a:solidFill>
                  <a:srgbClr val="444444"/>
                </a:solidFill>
              </a:rPr>
              <a:t>刘嘉</a:t>
            </a:r>
            <a:r>
              <a:rPr lang="zh-CN" altLang="en-US" sz="1600" b="0" dirty="0">
                <a:solidFill>
                  <a:srgbClr val="444444"/>
                </a:solidFill>
              </a:rPr>
              <a:t>铭</a:t>
            </a:r>
            <a:r>
              <a:rPr sz="1600" b="0" dirty="0">
                <a:solidFill>
                  <a:srgbClr val="444444"/>
                </a:solidFill>
              </a:rPr>
              <a:t> 2471680</a:t>
            </a:r>
          </a:p>
        </p:txBody>
      </p:sp>
    </p:spTree>
    <p:extLst>
      <p:ext uri="{BB962C8B-B14F-4D97-AF65-F5344CB8AC3E}">
        <p14:creationId xmlns:p14="http://schemas.microsoft.com/office/powerpoint/2010/main" val="95075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4CE6F80-81F8-456B-8FD1-F8E143B7B847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sz="2800" b="1" dirty="0" err="1">
                <a:solidFill>
                  <a:srgbClr val="1F2937"/>
                </a:solidFill>
              </a:rPr>
              <a:t>进度</a:t>
            </a:r>
            <a:r>
              <a:rPr sz="2800" b="1" dirty="0">
                <a:solidFill>
                  <a:srgbClr val="1F2937"/>
                </a:solidFill>
              </a:rPr>
              <a:t> Schedule：100 Agent </a:t>
            </a:r>
            <a:r>
              <a:rPr sz="2800" b="1" dirty="0" err="1">
                <a:solidFill>
                  <a:srgbClr val="1F2937"/>
                </a:solidFill>
              </a:rPr>
              <a:t>闭环已形成可验证输出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6AAB5B-4549-4FEC-8703-CCFF6CC3F4E2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E8721C-71FC-4EA9-8CE1-3A881338DE77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F8F1BD-D820-4746-99AF-D30E40996941}"/>
              </a:ext>
            </a:extLst>
          </p:cNvPr>
          <p:cNvSpPr>
            <a:spLocks noGrp="1"/>
          </p:cNvSpPr>
          <p:nvPr/>
        </p:nvSpPr>
        <p:spPr>
          <a:xfrm>
            <a:off x="381000" y="2027596"/>
            <a:ext cx="4857750" cy="8508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2000" b="1" dirty="0" err="1">
                <a:solidFill>
                  <a:srgbClr val="0070C0"/>
                </a:solidFill>
              </a:rPr>
              <a:t>本周</a:t>
            </a:r>
            <a:r>
              <a:rPr lang="zh-CN" altLang="en-US" sz="2000" b="1" dirty="0">
                <a:solidFill>
                  <a:srgbClr val="0070C0"/>
                </a:solidFill>
              </a:rPr>
              <a:t>计划</a:t>
            </a:r>
            <a:endParaRPr sz="2000" b="1" dirty="0">
              <a:solidFill>
                <a:srgbClr val="0070C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9ECE30-B7E4-4D5C-82F3-79BC8ECC87B6}"/>
              </a:ext>
            </a:extLst>
          </p:cNvPr>
          <p:cNvSpPr>
            <a:spLocks noGrp="1"/>
          </p:cNvSpPr>
          <p:nvPr/>
        </p:nvSpPr>
        <p:spPr>
          <a:xfrm>
            <a:off x="381000" y="2453025"/>
            <a:ext cx="4857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rPr lang="en-US" altLang="zh-CN" sz="1600" dirty="0">
                <a:solidFill>
                  <a:srgbClr val="333333"/>
                </a:solidFill>
              </a:rPr>
              <a:t>1 </a:t>
            </a:r>
            <a:r>
              <a:rPr lang="zh-CN" altLang="en-US" sz="1600" dirty="0">
                <a:solidFill>
                  <a:srgbClr val="333333"/>
                </a:solidFill>
              </a:rPr>
              <a:t>全量</a:t>
            </a:r>
            <a:r>
              <a:rPr lang="en-US" altLang="zh-CN" sz="1600" dirty="0">
                <a:solidFill>
                  <a:srgbClr val="333333"/>
                </a:solidFill>
              </a:rPr>
              <a:t>agent</a:t>
            </a:r>
            <a:r>
              <a:rPr lang="zh-CN" altLang="en-US" sz="1600" dirty="0">
                <a:solidFill>
                  <a:srgbClr val="333333"/>
                </a:solidFill>
              </a:rPr>
              <a:t>接入，做</a:t>
            </a:r>
            <a:r>
              <a:rPr lang="en-US" altLang="zh-CN" sz="1600" dirty="0">
                <a:solidFill>
                  <a:srgbClr val="333333"/>
                </a:solidFill>
              </a:rPr>
              <a:t>BDI</a:t>
            </a:r>
            <a:r>
              <a:rPr lang="zh-CN" altLang="en-US" sz="1600" dirty="0">
                <a:solidFill>
                  <a:srgbClr val="333333"/>
                </a:solidFill>
              </a:rPr>
              <a:t>稳定性和压力测试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rPr lang="en-US" altLang="zh-CN" sz="1600" dirty="0">
                <a:solidFill>
                  <a:srgbClr val="333333"/>
                </a:solidFill>
              </a:rPr>
              <a:t>2 </a:t>
            </a:r>
            <a:r>
              <a:rPr lang="en-US" altLang="zh-CN" sz="1600" dirty="0" err="1">
                <a:solidFill>
                  <a:srgbClr val="333333"/>
                </a:solidFill>
              </a:rPr>
              <a:t>Datacollector</a:t>
            </a:r>
            <a:r>
              <a:rPr lang="zh-CN" altLang="en-US" sz="1600" dirty="0">
                <a:solidFill>
                  <a:srgbClr val="333333"/>
                </a:solidFill>
              </a:rPr>
              <a:t>对全模块调度并发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A134F4E-AC7A-4781-9A58-BC6B157128A9}"/>
              </a:ext>
            </a:extLst>
          </p:cNvPr>
          <p:cNvSpPr>
            <a:spLocks noGrp="1"/>
          </p:cNvSpPr>
          <p:nvPr/>
        </p:nvSpPr>
        <p:spPr>
          <a:xfrm>
            <a:off x="6572250" y="2027595"/>
            <a:ext cx="4572000" cy="3565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rPr lang="zh-CN" altLang="en-US" sz="2000" b="1" dirty="0">
                <a:solidFill>
                  <a:srgbClr val="0070C0"/>
                </a:solidFill>
              </a:rPr>
              <a:t>本周完成</a:t>
            </a:r>
            <a:endParaRPr sz="2000" b="1" dirty="0">
              <a:solidFill>
                <a:srgbClr val="0070C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D5160D-71E1-49D9-A5B6-55DE3BC43C9B}"/>
              </a:ext>
            </a:extLst>
          </p:cNvPr>
          <p:cNvSpPr>
            <a:spLocks noGrp="1"/>
          </p:cNvSpPr>
          <p:nvPr/>
        </p:nvSpPr>
        <p:spPr>
          <a:xfrm>
            <a:off x="6572250" y="2453025"/>
            <a:ext cx="4572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lang="en-US" sz="1600" b="0" dirty="0">
                <a:solidFill>
                  <a:srgbClr val="1F2937"/>
                </a:solidFill>
              </a:rPr>
              <a:t>1 50%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rgbClr val="1F2937"/>
                </a:solidFill>
              </a:rPr>
              <a:t>2 50%</a:t>
            </a:r>
            <a:endParaRPr sz="1600" b="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44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380716F-165A-45A0-9DF1-88C6EFF1AF5C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sz="2800" b="1" dirty="0">
                <a:solidFill>
                  <a:srgbClr val="1F2937"/>
                </a:solidFill>
              </a:rPr>
              <a:t>1 </a:t>
            </a:r>
            <a:r>
              <a:rPr sz="2800" b="1" dirty="0" err="1">
                <a:solidFill>
                  <a:srgbClr val="1F2937"/>
                </a:solidFill>
              </a:rPr>
              <a:t>闭环规模从单</a:t>
            </a:r>
            <a:r>
              <a:rPr sz="2800" b="1" dirty="0">
                <a:solidFill>
                  <a:srgbClr val="1F2937"/>
                </a:solidFill>
              </a:rPr>
              <a:t> Agent </a:t>
            </a:r>
            <a:r>
              <a:rPr sz="2800" b="1" dirty="0" err="1">
                <a:solidFill>
                  <a:srgbClr val="1F2937"/>
                </a:solidFill>
              </a:rPr>
              <a:t>升级到</a:t>
            </a:r>
            <a:r>
              <a:rPr sz="2800" b="1" dirty="0">
                <a:solidFill>
                  <a:srgbClr val="1F2937"/>
                </a:solidFill>
              </a:rPr>
              <a:t> 100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C518A1-336E-4F19-8D0B-3AAA11500F2B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C1282-B864-4B92-8980-205F453B1191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E5899D-C116-4472-ABDF-9B2627038534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766E"/>
                </a:solidFill>
              </a:defRPr>
            </a:pPr>
            <a:r>
              <a:rPr sz="2000" b="1" dirty="0">
                <a:solidFill>
                  <a:srgbClr val="0F766E"/>
                </a:solidFill>
              </a:rPr>
              <a:t>100 Agents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6F0032-FD60-42A5-AEA9-A3B36EC170BE}"/>
              </a:ext>
            </a:extLst>
          </p:cNvPr>
          <p:cNvSpPr>
            <a:spLocks noGrp="1"/>
          </p:cNvSpPr>
          <p:nvPr/>
        </p:nvSpPr>
        <p:spPr>
          <a:xfrm>
            <a:off x="762000" y="2152649"/>
            <a:ext cx="1600200" cy="599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ORDINARY / ACTIVE / RATIONAL / CONTROLLER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37731D-C058-44C0-AE67-976445384524}"/>
              </a:ext>
            </a:extLst>
          </p:cNvPr>
          <p:cNvSpPr>
            <a:spLocks noGrp="1"/>
          </p:cNvSpPr>
          <p:nvPr/>
        </p:nvSpPr>
        <p:spPr>
          <a:xfrm>
            <a:off x="2581275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028A55-A36B-4E84-AEA6-3B5BD25AF53F}"/>
              </a:ext>
            </a:extLst>
          </p:cNvPr>
          <p:cNvSpPr>
            <a:spLocks noGrp="1"/>
          </p:cNvSpPr>
          <p:nvPr/>
        </p:nvSpPr>
        <p:spPr>
          <a:xfrm>
            <a:off x="3000375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rPr sz="2000" b="1" dirty="0">
                <a:solidFill>
                  <a:srgbClr val="1F4E79"/>
                </a:solidFill>
              </a:rPr>
              <a:t>B </a:t>
            </a:r>
            <a:r>
              <a:rPr sz="2000" b="1" dirty="0" err="1">
                <a:solidFill>
                  <a:srgbClr val="1F4E79"/>
                </a:solidFill>
              </a:rPr>
              <a:t>生成行动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58E4F-952A-4E39-AA11-599271E86DC4}"/>
              </a:ext>
            </a:extLst>
          </p:cNvPr>
          <p:cNvSpPr>
            <a:spLocks noGrp="1"/>
          </p:cNvSpPr>
          <p:nvPr/>
        </p:nvSpPr>
        <p:spPr>
          <a:xfrm>
            <a:off x="3000375" y="2152650"/>
            <a:ext cx="1600200" cy="599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belief + perception → </a:t>
            </a:r>
            <a:r>
              <a:rPr sz="1200" b="0" dirty="0" err="1">
                <a:solidFill>
                  <a:srgbClr val="6B7280"/>
                </a:solidFill>
              </a:rPr>
              <a:t>ActionRecord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4C335D-574C-4BC6-9F21-8752AAFED836}"/>
              </a:ext>
            </a:extLst>
          </p:cNvPr>
          <p:cNvSpPr>
            <a:spLocks noGrp="1"/>
          </p:cNvSpPr>
          <p:nvPr/>
        </p:nvSpPr>
        <p:spPr>
          <a:xfrm>
            <a:off x="4819650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984C58-9B9A-4766-B90B-78813409D16C}"/>
              </a:ext>
            </a:extLst>
          </p:cNvPr>
          <p:cNvSpPr>
            <a:spLocks noGrp="1"/>
          </p:cNvSpPr>
          <p:nvPr/>
        </p:nvSpPr>
        <p:spPr>
          <a:xfrm>
            <a:off x="5238750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rPr sz="2000" b="1" dirty="0">
                <a:solidFill>
                  <a:srgbClr val="1F4E79"/>
                </a:solidFill>
              </a:rPr>
              <a:t>A </a:t>
            </a:r>
            <a:r>
              <a:rPr sz="2000" b="1" dirty="0" err="1">
                <a:solidFill>
                  <a:srgbClr val="1F4E79"/>
                </a:solidFill>
              </a:rPr>
              <a:t>更新环境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C26F82-DBFA-4A82-89A2-C491FF406975}"/>
              </a:ext>
            </a:extLst>
          </p:cNvPr>
          <p:cNvSpPr>
            <a:spLocks noGrp="1"/>
          </p:cNvSpPr>
          <p:nvPr/>
        </p:nvSpPr>
        <p:spPr>
          <a:xfrm>
            <a:off x="5238750" y="2152649"/>
            <a:ext cx="1600200" cy="5008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step </a:t>
            </a:r>
            <a:r>
              <a:rPr sz="1200" b="0" dirty="0" err="1">
                <a:solidFill>
                  <a:srgbClr val="6B7280"/>
                </a:solidFill>
              </a:rPr>
              <a:t>调度、热度传播、DataCollector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73D9F1-086A-4971-99C6-7842EE7196B5}"/>
              </a:ext>
            </a:extLst>
          </p:cNvPr>
          <p:cNvSpPr>
            <a:spLocks noGrp="1"/>
          </p:cNvSpPr>
          <p:nvPr/>
        </p:nvSpPr>
        <p:spPr>
          <a:xfrm>
            <a:off x="7058025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0069AB-9866-4B95-873C-1E4AED4C45E1}"/>
              </a:ext>
            </a:extLst>
          </p:cNvPr>
          <p:cNvSpPr>
            <a:spLocks noGrp="1"/>
          </p:cNvSpPr>
          <p:nvPr/>
        </p:nvSpPr>
        <p:spPr>
          <a:xfrm>
            <a:off x="7477125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rPr sz="2000" b="1" dirty="0">
                <a:solidFill>
                  <a:srgbClr val="1F4E79"/>
                </a:solidFill>
              </a:rPr>
              <a:t>C </a:t>
            </a:r>
            <a:r>
              <a:rPr sz="2000" b="1" dirty="0" err="1">
                <a:solidFill>
                  <a:srgbClr val="1F4E79"/>
                </a:solidFill>
              </a:rPr>
              <a:t>支撑链路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D2270D-A70E-4FCA-B928-1BE82C1FF824}"/>
              </a:ext>
            </a:extLst>
          </p:cNvPr>
          <p:cNvSpPr>
            <a:spLocks noGrp="1"/>
          </p:cNvSpPr>
          <p:nvPr/>
        </p:nvSpPr>
        <p:spPr>
          <a:xfrm>
            <a:off x="7477125" y="2152649"/>
            <a:ext cx="1600200" cy="4627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Hawkes / LLM / </a:t>
            </a:r>
            <a:r>
              <a:rPr sz="1200" b="0" dirty="0" err="1">
                <a:solidFill>
                  <a:srgbClr val="6B7280"/>
                </a:solidFill>
              </a:rPr>
              <a:t>降级路径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244852-DC44-4592-B3CB-C6D418D76CED}"/>
              </a:ext>
            </a:extLst>
          </p:cNvPr>
          <p:cNvSpPr>
            <a:spLocks noGrp="1"/>
          </p:cNvSpPr>
          <p:nvPr/>
        </p:nvSpPr>
        <p:spPr>
          <a:xfrm>
            <a:off x="9296400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E82B85-BE68-43C2-9B6E-49546309FA4F}"/>
              </a:ext>
            </a:extLst>
          </p:cNvPr>
          <p:cNvSpPr>
            <a:spLocks noGrp="1"/>
          </p:cNvSpPr>
          <p:nvPr/>
        </p:nvSpPr>
        <p:spPr>
          <a:xfrm>
            <a:off x="9715500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rPr sz="2000" b="1" dirty="0">
                <a:solidFill>
                  <a:srgbClr val="1F4E79"/>
                </a:solidFill>
              </a:rPr>
              <a:t>E </a:t>
            </a:r>
            <a:r>
              <a:rPr sz="2000" b="1" dirty="0" err="1">
                <a:solidFill>
                  <a:srgbClr val="1F4E79"/>
                </a:solidFill>
              </a:rPr>
              <a:t>导出结果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EFF7DFC-5369-477E-80A4-EF50CFD3A9CE}"/>
              </a:ext>
            </a:extLst>
          </p:cNvPr>
          <p:cNvSpPr>
            <a:spLocks noGrp="1"/>
          </p:cNvSpPr>
          <p:nvPr/>
        </p:nvSpPr>
        <p:spPr>
          <a:xfrm>
            <a:off x="9715500" y="2152650"/>
            <a:ext cx="1600200" cy="46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CSV / JSON / </a:t>
            </a:r>
            <a:r>
              <a:rPr sz="1200" b="0" dirty="0" err="1">
                <a:solidFill>
                  <a:srgbClr val="6B7280"/>
                </a:solidFill>
              </a:rPr>
              <a:t>趋势图</a:t>
            </a:r>
            <a:r>
              <a:rPr sz="1200" b="0" dirty="0">
                <a:solidFill>
                  <a:srgbClr val="6B7280"/>
                </a:solidFill>
              </a:rPr>
              <a:t> / </a:t>
            </a:r>
            <a:r>
              <a:rPr sz="1200" b="0" dirty="0" err="1">
                <a:solidFill>
                  <a:srgbClr val="6B7280"/>
                </a:solidFill>
              </a:rPr>
              <a:t>step耗时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6B3B284-5F1E-460C-97C1-27E07F4629FB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83CFC0-F560-4583-921C-FA71C9BEA1DE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B9BC14-B479-4BEE-A368-CCAEECC7E9C6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Agent </a:t>
            </a:r>
            <a:r>
              <a:rPr sz="1200" b="0" dirty="0" err="1">
                <a:solidFill>
                  <a:srgbClr val="6B7280"/>
                </a:solidFill>
              </a:rPr>
              <a:t>数量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55F05BA-ECD7-4AEF-8C53-26C07215BDDB}"/>
              </a:ext>
            </a:extLst>
          </p:cNvPr>
          <p:cNvSpPr>
            <a:spLocks noGrp="1"/>
          </p:cNvSpPr>
          <p:nvPr/>
        </p:nvSpPr>
        <p:spPr>
          <a:xfrm>
            <a:off x="278130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8AD2CD-B09B-41D3-BDAA-D8C49AB53364}"/>
              </a:ext>
            </a:extLst>
          </p:cNvPr>
          <p:cNvSpPr>
            <a:spLocks noGrp="1"/>
          </p:cNvSpPr>
          <p:nvPr/>
        </p:nvSpPr>
        <p:spPr>
          <a:xfrm>
            <a:off x="295275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50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7C94A0-F283-4C22-96CE-D0A16BE9AC2E}"/>
              </a:ext>
            </a:extLst>
          </p:cNvPr>
          <p:cNvSpPr>
            <a:spLocks noGrp="1"/>
          </p:cNvSpPr>
          <p:nvPr/>
        </p:nvSpPr>
        <p:spPr>
          <a:xfrm>
            <a:off x="295275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Mock </a:t>
            </a:r>
            <a:r>
              <a:rPr sz="1200" b="0" dirty="0" err="1">
                <a:solidFill>
                  <a:srgbClr val="6B7280"/>
                </a:solidFill>
              </a:rPr>
              <a:t>步数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7083C33-AA56-4B8A-BD45-499B2B7CDE50}"/>
              </a:ext>
            </a:extLst>
          </p:cNvPr>
          <p:cNvSpPr>
            <a:spLocks noGrp="1"/>
          </p:cNvSpPr>
          <p:nvPr/>
        </p:nvSpPr>
        <p:spPr>
          <a:xfrm>
            <a:off x="474345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C71E34-0653-4276-B944-31F341D07F6F}"/>
              </a:ext>
            </a:extLst>
          </p:cNvPr>
          <p:cNvSpPr>
            <a:spLocks noGrp="1"/>
          </p:cNvSpPr>
          <p:nvPr/>
        </p:nvSpPr>
        <p:spPr>
          <a:xfrm>
            <a:off x="491490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5B5FC7"/>
                </a:solidFill>
              </a:defRPr>
            </a:pPr>
            <a:r>
              <a:rPr sz="1875" b="1">
                <a:solidFill>
                  <a:srgbClr val="5B5FC7"/>
                </a:solidFill>
              </a:rPr>
              <a:t>20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46B5051-C6A5-43FA-B7AA-26BC48EA66D6}"/>
              </a:ext>
            </a:extLst>
          </p:cNvPr>
          <p:cNvSpPr>
            <a:spLocks noGrp="1"/>
          </p:cNvSpPr>
          <p:nvPr/>
        </p:nvSpPr>
        <p:spPr>
          <a:xfrm>
            <a:off x="491490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1200" b="0" dirty="0">
                <a:solidFill>
                  <a:srgbClr val="6B7280"/>
                </a:solidFill>
              </a:rPr>
              <a:t>DeepSeek </a:t>
            </a:r>
            <a:r>
              <a:rPr sz="1200" b="0" dirty="0" err="1">
                <a:solidFill>
                  <a:srgbClr val="6B7280"/>
                </a:solidFill>
              </a:rPr>
              <a:t>步数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FB9F4F3-7FC7-4B12-85E5-D36B4AA2BD14}"/>
              </a:ext>
            </a:extLst>
          </p:cNvPr>
          <p:cNvSpPr>
            <a:spLocks noGrp="1"/>
          </p:cNvSpPr>
          <p:nvPr/>
        </p:nvSpPr>
        <p:spPr>
          <a:xfrm>
            <a:off x="670560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CF3CC8-51D5-46F1-8E57-F3BEDD34232F}"/>
              </a:ext>
            </a:extLst>
          </p:cNvPr>
          <p:cNvSpPr>
            <a:spLocks noGrp="1"/>
          </p:cNvSpPr>
          <p:nvPr/>
        </p:nvSpPr>
        <p:spPr>
          <a:xfrm>
            <a:off x="687705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42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7CDD22D-0068-4C0F-8927-D3EB630887B7}"/>
              </a:ext>
            </a:extLst>
          </p:cNvPr>
          <p:cNvSpPr>
            <a:spLocks noGrp="1"/>
          </p:cNvSpPr>
          <p:nvPr/>
        </p:nvSpPr>
        <p:spPr>
          <a:xfrm>
            <a:off x="687705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1200" b="0" dirty="0" err="1">
                <a:solidFill>
                  <a:srgbClr val="6B7280"/>
                </a:solidFill>
              </a:rPr>
              <a:t>随机种子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0F72FC0-257D-4E73-A70A-47672C069BF8}"/>
              </a:ext>
            </a:extLst>
          </p:cNvPr>
          <p:cNvSpPr>
            <a:spLocks noGrp="1"/>
          </p:cNvSpPr>
          <p:nvPr/>
        </p:nvSpPr>
        <p:spPr>
          <a:xfrm>
            <a:off x="8667750" y="2897322"/>
            <a:ext cx="2762250" cy="1773371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6B61C98-9B7D-48F8-809E-FFBF8FF30B8A}"/>
              </a:ext>
            </a:extLst>
          </p:cNvPr>
          <p:cNvSpPr>
            <a:spLocks noGrp="1"/>
          </p:cNvSpPr>
          <p:nvPr/>
        </p:nvSpPr>
        <p:spPr>
          <a:xfrm>
            <a:off x="8728894" y="2962276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F4E79"/>
                </a:solidFill>
              </a:defRPr>
            </a:pPr>
            <a:r>
              <a:rPr sz="1875" b="1" dirty="0">
                <a:solidFill>
                  <a:srgbClr val="1F4E79"/>
                </a:solidFill>
              </a:rPr>
              <a:t>11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DB3B48-93CC-4B94-8259-D49B1CA1CE62}"/>
              </a:ext>
            </a:extLst>
          </p:cNvPr>
          <p:cNvSpPr>
            <a:spLocks noGrp="1"/>
          </p:cNvSpPr>
          <p:nvPr/>
        </p:nvSpPr>
        <p:spPr>
          <a:xfrm>
            <a:off x="8721366" y="3283236"/>
            <a:ext cx="2643956" cy="12636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B7280"/>
                </a:solidFill>
              </a:defRPr>
            </a:pPr>
            <a:r>
              <a:rPr sz="1200" b="0" dirty="0" err="1">
                <a:solidFill>
                  <a:srgbClr val="6B7280"/>
                </a:solidFill>
              </a:rPr>
              <a:t>指标列</a:t>
            </a:r>
            <a:r>
              <a:rPr lang="zh-CN" altLang="en-US" sz="1200" b="0" dirty="0">
                <a:solidFill>
                  <a:srgbClr val="6B7280"/>
                </a:solidFill>
              </a:rPr>
              <a:t>：</a:t>
            </a:r>
            <a:r>
              <a:rPr lang="zh-CN" altLang="zh-CN" sz="1200" dirty="0"/>
              <a:t>tick</a:t>
            </a:r>
            <a:r>
              <a:rPr lang="zh-CN" altLang="en-US" sz="1200" dirty="0"/>
              <a:t>、</a:t>
            </a:r>
            <a:r>
              <a:rPr lang="zh-CN" altLang="zh-CN" sz="1200" dirty="0"/>
              <a:t>avg_opinion</a:t>
            </a:r>
            <a:r>
              <a:rPr lang="zh-CN" altLang="en-US" sz="1200" dirty="0"/>
              <a:t>、</a:t>
            </a:r>
            <a:r>
              <a:rPr lang="zh-CN" altLang="zh-CN" sz="1200" dirty="0"/>
              <a:t>polarizati</a:t>
            </a:r>
            <a:r>
              <a:rPr lang="en-US" altLang="zh-CN" sz="1200" dirty="0"/>
              <a:t>on</a:t>
            </a:r>
            <a:r>
              <a:rPr lang="zh-CN" altLang="en-US" sz="1200" dirty="0"/>
              <a:t>、</a:t>
            </a:r>
            <a:r>
              <a:rPr lang="zh-CN" altLang="zh-CN" sz="1200" dirty="0"/>
              <a:t>emotional_contagion</a:t>
            </a:r>
            <a:r>
              <a:rPr lang="zh-CN" altLang="en-US" sz="1200" dirty="0"/>
              <a:t>、</a:t>
            </a:r>
            <a:r>
              <a:rPr lang="zh-CN" altLang="zh-CN" sz="1200" dirty="0"/>
              <a:t>message_cou</a:t>
            </a:r>
            <a:r>
              <a:rPr lang="en-US" altLang="zh-CN" sz="1200" dirty="0" err="1"/>
              <a:t>nt</a:t>
            </a:r>
            <a:r>
              <a:rPr lang="zh-CN" altLang="en-US" sz="1200" dirty="0"/>
              <a:t>、</a:t>
            </a:r>
            <a:r>
              <a:rPr lang="zh-CN" altLang="zh-CN" sz="1200" dirty="0"/>
              <a:t>negative_emotion</a:t>
            </a:r>
            <a:r>
              <a:rPr lang="zh-CN" altLang="en-US" sz="1200" dirty="0"/>
              <a:t>、</a:t>
            </a:r>
            <a:r>
              <a:rPr lang="zh-CN" altLang="zh-CN" sz="1200" dirty="0"/>
              <a:t>distortion_level</a:t>
            </a:r>
            <a:r>
              <a:rPr lang="zh-CN" altLang="en-US" sz="1200" dirty="0"/>
              <a:t>、</a:t>
            </a:r>
            <a:r>
              <a:rPr lang="zh-CN" altLang="zh-CN" sz="1200" dirty="0"/>
              <a:t>cross_group_forward</a:t>
            </a:r>
            <a:r>
              <a:rPr lang="zh-CN" altLang="en-US" sz="1200" dirty="0"/>
              <a:t>、</a:t>
            </a:r>
            <a:r>
              <a:rPr lang="zh-CN" altLang="zh-CN" sz="1200" dirty="0"/>
              <a:t>intervention_tick</a:t>
            </a:r>
            <a:r>
              <a:rPr lang="zh-CN" altLang="en-US" sz="1200" dirty="0"/>
              <a:t>、</a:t>
            </a:r>
            <a:r>
              <a:rPr lang="zh-CN" altLang="zh-CN" sz="1200" dirty="0"/>
              <a:t>recovery_time</a:t>
            </a:r>
            <a:r>
              <a:rPr lang="zh-CN" altLang="en-US" sz="1200" dirty="0"/>
              <a:t>、</a:t>
            </a:r>
            <a:r>
              <a:rPr lang="zh-CN" altLang="zh-CN" sz="1200" dirty="0"/>
              <a:t>step_seconds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429C8BB-9C50-429E-AF1F-2BE864A3703E}"/>
              </a:ext>
            </a:extLst>
          </p:cNvPr>
          <p:cNvSpPr>
            <a:spLocks noGrp="1"/>
          </p:cNvSpPr>
          <p:nvPr/>
        </p:nvSpPr>
        <p:spPr>
          <a:xfrm>
            <a:off x="857250" y="4748981"/>
            <a:ext cx="9810750" cy="9660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Mock </a:t>
            </a:r>
            <a:r>
              <a:rPr sz="1600" b="0" dirty="0" err="1">
                <a:solidFill>
                  <a:srgbClr val="1F2937"/>
                </a:solidFill>
              </a:rPr>
              <a:t>用于快速压力与接口验收；DeepSeek</a:t>
            </a:r>
            <a:r>
              <a:rPr sz="1600" b="0" dirty="0">
                <a:solidFill>
                  <a:srgbClr val="1F2937"/>
                </a:solidFill>
              </a:rPr>
              <a:t> </a:t>
            </a:r>
            <a:r>
              <a:rPr sz="1600" b="0" dirty="0" err="1">
                <a:solidFill>
                  <a:srgbClr val="1F2937"/>
                </a:solidFill>
              </a:rPr>
              <a:t>用于验证真实</a:t>
            </a:r>
            <a:r>
              <a:rPr sz="1600" b="0" dirty="0">
                <a:solidFill>
                  <a:srgbClr val="1F2937"/>
                </a:solidFill>
              </a:rPr>
              <a:t> LLM </a:t>
            </a:r>
            <a:r>
              <a:rPr sz="1600" b="0" dirty="0" err="1">
                <a:solidFill>
                  <a:srgbClr val="1F2937"/>
                </a:solidFill>
              </a:rPr>
              <a:t>是否会改变观点、极化和情绪指标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两个路径使用相同网络、角色比例和</a:t>
            </a:r>
            <a:r>
              <a:rPr sz="1600" b="0" dirty="0">
                <a:solidFill>
                  <a:srgbClr val="1F2937"/>
                </a:solidFill>
              </a:rPr>
              <a:t> </a:t>
            </a:r>
            <a:r>
              <a:rPr sz="1600" b="0" dirty="0" err="1">
                <a:solidFill>
                  <a:srgbClr val="1F2937"/>
                </a:solidFill>
              </a:rPr>
              <a:t>seed，便于定位差异来自</a:t>
            </a:r>
            <a:r>
              <a:rPr sz="1600" b="0" dirty="0">
                <a:solidFill>
                  <a:srgbClr val="1F2937"/>
                </a:solidFill>
              </a:rPr>
              <a:t> LLM </a:t>
            </a:r>
            <a:r>
              <a:rPr sz="1600" b="0" dirty="0" err="1">
                <a:solidFill>
                  <a:srgbClr val="1F2937"/>
                </a:solidFill>
              </a:rPr>
              <a:t>后端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986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892FE69-01E8-4456-A756-D32BE39811E0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sz="2800" b="1" dirty="0">
                <a:solidFill>
                  <a:srgbClr val="1F2937"/>
                </a:solidFill>
              </a:rPr>
              <a:t>2 Mock 100×50 </a:t>
            </a:r>
            <a:r>
              <a:rPr sz="2800" b="1" dirty="0" err="1">
                <a:solidFill>
                  <a:srgbClr val="1F2937"/>
                </a:solidFill>
              </a:rPr>
              <a:t>压测通过，适合作为快速回归基线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4FB331-BA56-49E5-B03E-9E5531A8DE07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67AC62-FE06-437C-ACC8-E2DAF2A496F0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04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292366"/>
            <a:ext cx="6572250" cy="4262860"/>
          </a:xfrm>
          <a:prstGeom prst="roundRect">
            <a:avLst>
              <a:gd name="adj" fmla="val 2105"/>
            </a:avLst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C6DE8D6-A46F-472E-B1AB-1E56ED532182}"/>
              </a:ext>
            </a:extLst>
          </p:cNvPr>
          <p:cNvSpPr>
            <a:spLocks noGrp="1"/>
          </p:cNvSpPr>
          <p:nvPr/>
        </p:nvSpPr>
        <p:spPr>
          <a:xfrm>
            <a:off x="7524750" y="13525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8ADC90-027B-4CF5-938C-0B2C8CD64ACB}"/>
              </a:ext>
            </a:extLst>
          </p:cNvPr>
          <p:cNvSpPr>
            <a:spLocks noGrp="1"/>
          </p:cNvSpPr>
          <p:nvPr/>
        </p:nvSpPr>
        <p:spPr>
          <a:xfrm>
            <a:off x="7696200" y="1485900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0.84s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7D8CB0-3C12-4434-909C-C9E0E7C5EDC0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总耗时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E1A559-0652-4034-9D9E-E9438C19D745}"/>
              </a:ext>
            </a:extLst>
          </p:cNvPr>
          <p:cNvSpPr>
            <a:spLocks noGrp="1"/>
          </p:cNvSpPr>
          <p:nvPr/>
        </p:nvSpPr>
        <p:spPr>
          <a:xfrm>
            <a:off x="9429750" y="1352550"/>
            <a:ext cx="1809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77BD6D-C2AE-4395-9228-0A15A4399072}"/>
              </a:ext>
            </a:extLst>
          </p:cNvPr>
          <p:cNvSpPr>
            <a:spLocks noGrp="1"/>
          </p:cNvSpPr>
          <p:nvPr/>
        </p:nvSpPr>
        <p:spPr>
          <a:xfrm>
            <a:off x="9601200" y="14859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0.0167s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68FB5A-0BF1-4027-8BC2-B00C94B4BF2E}"/>
              </a:ext>
            </a:extLst>
          </p:cNvPr>
          <p:cNvSpPr>
            <a:spLocks noGrp="1"/>
          </p:cNvSpPr>
          <p:nvPr/>
        </p:nvSpPr>
        <p:spPr>
          <a:xfrm>
            <a:off x="9601200" y="184785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平均每步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A52035-8C31-4924-A9C4-5AA46A180E37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5210A6-6096-44FA-A15E-6E395B520471}"/>
              </a:ext>
            </a:extLst>
          </p:cNvPr>
          <p:cNvSpPr>
            <a:spLocks noGrp="1"/>
          </p:cNvSpPr>
          <p:nvPr/>
        </p:nvSpPr>
        <p:spPr>
          <a:xfrm>
            <a:off x="7696200" y="2533650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50 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17B432-A346-43B8-8B3C-376A87C66CCB}"/>
              </a:ext>
            </a:extLst>
          </p:cNvPr>
          <p:cNvSpPr>
            <a:spLocks noGrp="1"/>
          </p:cNvSpPr>
          <p:nvPr/>
        </p:nvSpPr>
        <p:spPr>
          <a:xfrm>
            <a:off x="7696200" y="289560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DataCollector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330DEDD-3D4F-4747-9307-3CDF808200AB}"/>
              </a:ext>
            </a:extLst>
          </p:cNvPr>
          <p:cNvSpPr>
            <a:spLocks noGrp="1"/>
          </p:cNvSpPr>
          <p:nvPr/>
        </p:nvSpPr>
        <p:spPr>
          <a:xfrm>
            <a:off x="9429750" y="2400300"/>
            <a:ext cx="1809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05BAED-218E-49C4-9112-4FF8FD670D13}"/>
              </a:ext>
            </a:extLst>
          </p:cNvPr>
          <p:cNvSpPr>
            <a:spLocks noGrp="1"/>
          </p:cNvSpPr>
          <p:nvPr/>
        </p:nvSpPr>
        <p:spPr>
          <a:xfrm>
            <a:off x="9601200" y="25336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EA525A-AC43-4B6F-B1A1-9D16A65390B3}"/>
              </a:ext>
            </a:extLst>
          </p:cNvPr>
          <p:cNvSpPr>
            <a:spLocks noGrp="1"/>
          </p:cNvSpPr>
          <p:nvPr/>
        </p:nvSpPr>
        <p:spPr>
          <a:xfrm>
            <a:off x="9601200" y="28956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NaN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A747C9-A4DC-44C8-9657-528783CA83EE}"/>
              </a:ext>
            </a:extLst>
          </p:cNvPr>
          <p:cNvSpPr>
            <a:spLocks noGrp="1"/>
          </p:cNvSpPr>
          <p:nvPr/>
        </p:nvSpPr>
        <p:spPr>
          <a:xfrm>
            <a:off x="7524750" y="36195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2000" b="1" dirty="0" err="1">
                <a:solidFill>
                  <a:srgbClr val="00B050"/>
                </a:solidFill>
              </a:rPr>
              <a:t>结果解释</a:t>
            </a:r>
            <a:endParaRPr sz="2000" b="1" dirty="0">
              <a:solidFill>
                <a:srgbClr val="00B05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D38679-E46C-4914-9892-5A6277018A38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37147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Mock </a:t>
            </a:r>
            <a:r>
              <a:rPr sz="1600" b="0" dirty="0" err="1">
                <a:solidFill>
                  <a:srgbClr val="1F2937"/>
                </a:solidFill>
              </a:rPr>
              <a:t>路径下平均观点和极化几乎保持不变，说明规则后端主要用于验证骨架稳定性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负面情绪从</a:t>
            </a:r>
            <a:r>
              <a:rPr sz="1600" b="0" dirty="0">
                <a:solidFill>
                  <a:srgbClr val="1F2937"/>
                </a:solidFill>
              </a:rPr>
              <a:t> 0.49 </a:t>
            </a:r>
            <a:r>
              <a:rPr sz="1600" b="0" dirty="0" err="1">
                <a:solidFill>
                  <a:srgbClr val="1F2937"/>
                </a:solidFill>
              </a:rPr>
              <a:t>升至</a:t>
            </a:r>
            <a:r>
              <a:rPr sz="1600" b="0" dirty="0">
                <a:solidFill>
                  <a:srgbClr val="1F2937"/>
                </a:solidFill>
              </a:rPr>
              <a:t> 0.59，跨群热度累计到 94，环境侧时序更新正常。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779E31-0247-436F-A6E1-1968AB69B22A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</a:defRPr>
            </a:pPr>
            <a:r>
              <a:rPr sz="1125" b="0" dirty="0" err="1">
                <a:solidFill>
                  <a:srgbClr val="6B7280"/>
                </a:solidFill>
              </a:rPr>
              <a:t>末态：avg_opinion</a:t>
            </a:r>
            <a:r>
              <a:rPr sz="1125" b="0" dirty="0">
                <a:solidFill>
                  <a:srgbClr val="6B7280"/>
                </a:solidFill>
              </a:rPr>
              <a:t>=0.043，polarization=0.601，negative_emotion=0.59，distortion=0.005</a:t>
            </a:r>
          </a:p>
        </p:txBody>
      </p:sp>
    </p:spTree>
    <p:extLst>
      <p:ext uri="{BB962C8B-B14F-4D97-AF65-F5344CB8AC3E}">
        <p14:creationId xmlns:p14="http://schemas.microsoft.com/office/powerpoint/2010/main" val="43806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FC9C423-D39F-4E7C-BD09-595CB2C7FB89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sz="2800" b="1" dirty="0">
                <a:solidFill>
                  <a:srgbClr val="1F2937"/>
                </a:solidFill>
              </a:rPr>
              <a:t>3 DeepSeek </a:t>
            </a:r>
            <a:r>
              <a:rPr sz="2800" b="1" dirty="0" err="1">
                <a:solidFill>
                  <a:srgbClr val="1F2937"/>
                </a:solidFill>
              </a:rPr>
              <a:t>真实模型路径产生可观测的观点与情绪演化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9D6650-6767-48CA-B481-9BF72D87AF90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9B8326-4CE2-45BB-A700-CE434E51AFC4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05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292365"/>
            <a:ext cx="6572250" cy="3944725"/>
          </a:xfrm>
          <a:prstGeom prst="roundRect">
            <a:avLst>
              <a:gd name="adj" fmla="val 2105"/>
            </a:avLst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A06E2BBD-7921-4DC3-8E4E-76C2351BF3A7}"/>
              </a:ext>
            </a:extLst>
          </p:cNvPr>
          <p:cNvSpPr>
            <a:spLocks noGrp="1"/>
          </p:cNvSpPr>
          <p:nvPr/>
        </p:nvSpPr>
        <p:spPr>
          <a:xfrm>
            <a:off x="7524750" y="125730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33D290-0570-4522-A1D2-D0CEB70E5BBB}"/>
              </a:ext>
            </a:extLst>
          </p:cNvPr>
          <p:cNvSpPr>
            <a:spLocks noGrp="1"/>
          </p:cNvSpPr>
          <p:nvPr/>
        </p:nvSpPr>
        <p:spPr>
          <a:xfrm>
            <a:off x="7696200" y="139065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5309"/>
                </a:solidFill>
              </a:defRPr>
            </a:pPr>
            <a:r>
              <a:rPr sz="1875" b="1" dirty="0">
                <a:solidFill>
                  <a:srgbClr val="B45309"/>
                </a:solidFill>
              </a:rPr>
              <a:t>1687.6s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C634EC-7DC4-4531-A2C7-075FE3224D02}"/>
              </a:ext>
            </a:extLst>
          </p:cNvPr>
          <p:cNvSpPr>
            <a:spLocks noGrp="1"/>
          </p:cNvSpPr>
          <p:nvPr/>
        </p:nvSpPr>
        <p:spPr>
          <a:xfrm>
            <a:off x="7696200" y="175260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总耗时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D1C525-F55E-40D4-BB62-3C2C23C8571C}"/>
              </a:ext>
            </a:extLst>
          </p:cNvPr>
          <p:cNvSpPr>
            <a:spLocks noGrp="1"/>
          </p:cNvSpPr>
          <p:nvPr/>
        </p:nvSpPr>
        <p:spPr>
          <a:xfrm>
            <a:off x="9525000" y="125730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4D9154-14B1-4315-B190-6EC0E7F36839}"/>
              </a:ext>
            </a:extLst>
          </p:cNvPr>
          <p:cNvSpPr>
            <a:spLocks noGrp="1"/>
          </p:cNvSpPr>
          <p:nvPr/>
        </p:nvSpPr>
        <p:spPr>
          <a:xfrm>
            <a:off x="9696450" y="139065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5309"/>
                </a:solidFill>
              </a:defRPr>
            </a:pPr>
            <a:r>
              <a:rPr sz="1875" b="1" dirty="0">
                <a:solidFill>
                  <a:srgbClr val="B45309"/>
                </a:solidFill>
              </a:rPr>
              <a:t>84.24s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7EF9CB-08E3-4050-8BC4-85CEEC3EDBFA}"/>
              </a:ext>
            </a:extLst>
          </p:cNvPr>
          <p:cNvSpPr>
            <a:spLocks noGrp="1"/>
          </p:cNvSpPr>
          <p:nvPr/>
        </p:nvSpPr>
        <p:spPr>
          <a:xfrm>
            <a:off x="9696450" y="175260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平均每 tick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8AC542A-15F7-4CF1-8B65-1909F027DD39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20EDFF-D440-4714-9BE1-295573B59BB0}"/>
              </a:ext>
            </a:extLst>
          </p:cNvPr>
          <p:cNvSpPr>
            <a:spLocks noGrp="1"/>
          </p:cNvSpPr>
          <p:nvPr/>
        </p:nvSpPr>
        <p:spPr>
          <a:xfrm>
            <a:off x="7696200" y="243840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0.962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CD3A26-7192-422A-84C3-DE1BA7E6CE43}"/>
              </a:ext>
            </a:extLst>
          </p:cNvPr>
          <p:cNvSpPr>
            <a:spLocks noGrp="1"/>
          </p:cNvSpPr>
          <p:nvPr/>
        </p:nvSpPr>
        <p:spPr>
          <a:xfrm>
            <a:off x="7696200" y="280035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极化末态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037E374-BB9D-40F0-BBBA-21FBBD03B657}"/>
              </a:ext>
            </a:extLst>
          </p:cNvPr>
          <p:cNvSpPr>
            <a:spLocks noGrp="1"/>
          </p:cNvSpPr>
          <p:nvPr/>
        </p:nvSpPr>
        <p:spPr>
          <a:xfrm>
            <a:off x="9525000" y="230505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54F17F-465F-4B72-8795-FE056D6093C7}"/>
              </a:ext>
            </a:extLst>
          </p:cNvPr>
          <p:cNvSpPr>
            <a:spLocks noGrp="1"/>
          </p:cNvSpPr>
          <p:nvPr/>
        </p:nvSpPr>
        <p:spPr>
          <a:xfrm>
            <a:off x="9696450" y="243840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0.87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1BD7FD-8429-4E16-A134-F26DE2C5F79D}"/>
              </a:ext>
            </a:extLst>
          </p:cNvPr>
          <p:cNvSpPr>
            <a:spLocks noGrp="1"/>
          </p:cNvSpPr>
          <p:nvPr/>
        </p:nvSpPr>
        <p:spPr>
          <a:xfrm>
            <a:off x="9696450" y="280035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 dirty="0" err="1">
                <a:solidFill>
                  <a:srgbClr val="6B7280"/>
                </a:solidFill>
              </a:rPr>
              <a:t>负面末态</a:t>
            </a:r>
            <a:endParaRPr sz="975" b="0" dirty="0">
              <a:solidFill>
                <a:srgbClr val="6B728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11F218-5FF2-4F9B-89CA-0831B20B7276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3810000" cy="344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91C1C"/>
                </a:solidFill>
              </a:defRPr>
            </a:pPr>
            <a:r>
              <a:rPr sz="2000" b="1" dirty="0" err="1">
                <a:solidFill>
                  <a:srgbClr val="00B050"/>
                </a:solidFill>
              </a:rPr>
              <a:t>结果解释</a:t>
            </a:r>
            <a:endParaRPr sz="2000" b="1" dirty="0">
              <a:solidFill>
                <a:srgbClr val="00B05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6A05F5-9BDD-4ED4-A06B-B683D61B6D72}"/>
              </a:ext>
            </a:extLst>
          </p:cNvPr>
          <p:cNvSpPr>
            <a:spLocks noGrp="1"/>
          </p:cNvSpPr>
          <p:nvPr/>
        </p:nvSpPr>
        <p:spPr>
          <a:xfrm>
            <a:off x="7524750" y="3829050"/>
            <a:ext cx="38100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真实</a:t>
            </a:r>
            <a:r>
              <a:rPr sz="1600" b="0" dirty="0">
                <a:solidFill>
                  <a:srgbClr val="1F2937"/>
                </a:solidFill>
              </a:rPr>
              <a:t> LLM </a:t>
            </a:r>
            <a:r>
              <a:rPr sz="1600" b="0" dirty="0" err="1">
                <a:solidFill>
                  <a:srgbClr val="1F2937"/>
                </a:solidFill>
              </a:rPr>
              <a:t>接入后，平均观点由</a:t>
            </a:r>
            <a:r>
              <a:rPr sz="1600" b="0" dirty="0">
                <a:solidFill>
                  <a:srgbClr val="1F2937"/>
                </a:solidFill>
              </a:rPr>
              <a:t> +0.024 </a:t>
            </a:r>
            <a:r>
              <a:rPr sz="1600" b="0" dirty="0" err="1">
                <a:solidFill>
                  <a:srgbClr val="1F2937"/>
                </a:solidFill>
              </a:rPr>
              <a:t>漂移到</a:t>
            </a:r>
            <a:r>
              <a:rPr sz="1600" b="0" dirty="0">
                <a:solidFill>
                  <a:srgbClr val="1F2937"/>
                </a:solidFill>
              </a:rPr>
              <a:t> -0.053，出现内生观点变化。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极化从</a:t>
            </a:r>
            <a:r>
              <a:rPr sz="1600" b="0" dirty="0">
                <a:solidFill>
                  <a:srgbClr val="1F2937"/>
                </a:solidFill>
              </a:rPr>
              <a:t> 0.64 </a:t>
            </a:r>
            <a:r>
              <a:rPr sz="1600" b="0" dirty="0" err="1">
                <a:solidFill>
                  <a:srgbClr val="1F2937"/>
                </a:solidFill>
              </a:rPr>
              <a:t>升到</a:t>
            </a:r>
            <a:r>
              <a:rPr sz="1600" b="0" dirty="0">
                <a:solidFill>
                  <a:srgbClr val="1F2937"/>
                </a:solidFill>
              </a:rPr>
              <a:t> 0.96，负面情绪从 0.49 </a:t>
            </a:r>
            <a:r>
              <a:rPr sz="1600" b="0" dirty="0" err="1">
                <a:solidFill>
                  <a:srgbClr val="1F2937"/>
                </a:solidFill>
              </a:rPr>
              <a:t>升到</a:t>
            </a:r>
            <a:r>
              <a:rPr sz="1600" b="0" dirty="0">
                <a:solidFill>
                  <a:srgbClr val="1F2937"/>
                </a:solidFill>
              </a:rPr>
              <a:t> 0.87，说明 BDI/LLM </a:t>
            </a:r>
            <a:r>
              <a:rPr sz="1600" b="0" dirty="0" err="1">
                <a:solidFill>
                  <a:srgbClr val="1F2937"/>
                </a:solidFill>
              </a:rPr>
              <a:t>更新开始影响群体状态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代价是运行明显变慢，后续需要并发、采样或部分</a:t>
            </a:r>
            <a:r>
              <a:rPr sz="1600" b="0" dirty="0">
                <a:solidFill>
                  <a:srgbClr val="1F2937"/>
                </a:solidFill>
              </a:rPr>
              <a:t> Agent </a:t>
            </a:r>
            <a:r>
              <a:rPr sz="1600" b="0" dirty="0" err="1">
                <a:solidFill>
                  <a:srgbClr val="1F2937"/>
                </a:solidFill>
              </a:rPr>
              <a:t>调用策略来控制成本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539A5A-3EDA-445A-ACA1-9650056B6590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运行范围：100 agents × 20 steps；输出 20 行 metrics，NaN=0。</a:t>
            </a:r>
          </a:p>
        </p:txBody>
      </p:sp>
    </p:spTree>
    <p:extLst>
      <p:ext uri="{BB962C8B-B14F-4D97-AF65-F5344CB8AC3E}">
        <p14:creationId xmlns:p14="http://schemas.microsoft.com/office/powerpoint/2010/main" val="27779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8DBCC562-9082-402F-9298-25DEFAB658AD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sz="2800" b="1" dirty="0">
                <a:solidFill>
                  <a:srgbClr val="1F2937"/>
                </a:solidFill>
              </a:rPr>
              <a:t>4 同 seed </a:t>
            </a:r>
            <a:r>
              <a:rPr sz="2800" b="1" dirty="0" err="1">
                <a:solidFill>
                  <a:srgbClr val="1F2937"/>
                </a:solidFill>
              </a:rPr>
              <a:t>对照显示：差异主要来自</a:t>
            </a:r>
            <a:r>
              <a:rPr sz="2800" b="1" dirty="0">
                <a:solidFill>
                  <a:srgbClr val="1F2937"/>
                </a:solidFill>
              </a:rPr>
              <a:t> LLM </a:t>
            </a:r>
            <a:r>
              <a:rPr sz="2800" b="1" dirty="0" err="1">
                <a:solidFill>
                  <a:srgbClr val="1F2937"/>
                </a:solidFill>
              </a:rPr>
              <a:t>认知</a:t>
            </a:r>
            <a:r>
              <a:rPr sz="2800" b="1" dirty="0">
                <a:solidFill>
                  <a:srgbClr val="1F2937"/>
                </a:solidFill>
              </a:rPr>
              <a:t>—</a:t>
            </a:r>
            <a:r>
              <a:rPr sz="2800" b="1" dirty="0" err="1">
                <a:solidFill>
                  <a:srgbClr val="1F2937"/>
                </a:solidFill>
              </a:rPr>
              <a:t>情绪层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18F327-58CB-49A8-88A2-431B77B01D62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D94101-854E-4C57-9E8A-38EEAFD5529C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4C9FA7-2BB0-489D-85A7-F04BD1CB4623}"/>
              </a:ext>
            </a:extLst>
          </p:cNvPr>
          <p:cNvSpPr>
            <a:spLocks noGrp="1"/>
          </p:cNvSpPr>
          <p:nvPr/>
        </p:nvSpPr>
        <p:spPr>
          <a:xfrm>
            <a:off x="6477000" y="1346741"/>
            <a:ext cx="2095500" cy="438150"/>
          </a:xfrm>
          <a:prstGeom prst="rect">
            <a:avLst/>
          </a:prstGeom>
          <a:solidFill>
            <a:srgbClr val="EAF3F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12534-1B1C-41C1-9E74-2F4EA50E0390}"/>
              </a:ext>
            </a:extLst>
          </p:cNvPr>
          <p:cNvSpPr>
            <a:spLocks noGrp="1"/>
          </p:cNvSpPr>
          <p:nvPr/>
        </p:nvSpPr>
        <p:spPr>
          <a:xfrm>
            <a:off x="6572250" y="143246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指标（tick=19）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0F51A6-7F26-45D5-B6D4-49FB276752CC}"/>
              </a:ext>
            </a:extLst>
          </p:cNvPr>
          <p:cNvSpPr>
            <a:spLocks noGrp="1"/>
          </p:cNvSpPr>
          <p:nvPr/>
        </p:nvSpPr>
        <p:spPr>
          <a:xfrm>
            <a:off x="8572500" y="1346741"/>
            <a:ext cx="1619250" cy="438150"/>
          </a:xfrm>
          <a:prstGeom prst="rect">
            <a:avLst/>
          </a:prstGeom>
          <a:solidFill>
            <a:srgbClr val="EAF3F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4586DB-E352-46CD-8A90-5E443F50834F}"/>
              </a:ext>
            </a:extLst>
          </p:cNvPr>
          <p:cNvSpPr>
            <a:spLocks noGrp="1"/>
          </p:cNvSpPr>
          <p:nvPr/>
        </p:nvSpPr>
        <p:spPr>
          <a:xfrm>
            <a:off x="8667750" y="14324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4E79"/>
                </a:solidFill>
              </a:defRPr>
            </a:pPr>
            <a:r>
              <a:rPr sz="1050" b="1" dirty="0">
                <a:solidFill>
                  <a:srgbClr val="1F4E79"/>
                </a:solidFill>
              </a:rPr>
              <a:t>Mock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D1B900-1F86-42B3-AF0B-D1B6325C54BB}"/>
              </a:ext>
            </a:extLst>
          </p:cNvPr>
          <p:cNvSpPr>
            <a:spLocks noGrp="1"/>
          </p:cNvSpPr>
          <p:nvPr/>
        </p:nvSpPr>
        <p:spPr>
          <a:xfrm>
            <a:off x="10191750" y="1346741"/>
            <a:ext cx="1619250" cy="438150"/>
          </a:xfrm>
          <a:prstGeom prst="rect">
            <a:avLst/>
          </a:prstGeom>
          <a:solidFill>
            <a:srgbClr val="EAF3F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5B5951-889E-4A1A-B2F7-E82AD0147B97}"/>
              </a:ext>
            </a:extLst>
          </p:cNvPr>
          <p:cNvSpPr>
            <a:spLocks noGrp="1"/>
          </p:cNvSpPr>
          <p:nvPr/>
        </p:nvSpPr>
        <p:spPr>
          <a:xfrm>
            <a:off x="10287000" y="14324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4E79"/>
                </a:solidFill>
              </a:defRPr>
            </a:pPr>
            <a:r>
              <a:rPr sz="1050" b="1" dirty="0">
                <a:solidFill>
                  <a:srgbClr val="1F4E79"/>
                </a:solidFill>
              </a:rPr>
              <a:t>DeepSeek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C6A5D5-EC78-4836-BD8E-B949A999134C}"/>
              </a:ext>
            </a:extLst>
          </p:cNvPr>
          <p:cNvSpPr>
            <a:spLocks noGrp="1"/>
          </p:cNvSpPr>
          <p:nvPr/>
        </p:nvSpPr>
        <p:spPr>
          <a:xfrm>
            <a:off x="6477000" y="178489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C5B3E3-C4D6-4411-8593-72651DA50D1F}"/>
              </a:ext>
            </a:extLst>
          </p:cNvPr>
          <p:cNvSpPr>
            <a:spLocks noGrp="1"/>
          </p:cNvSpPr>
          <p:nvPr/>
        </p:nvSpPr>
        <p:spPr>
          <a:xfrm>
            <a:off x="6572250" y="187061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avg_opinion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68DE25-31E0-4B5D-98AE-5A0B66D78575}"/>
              </a:ext>
            </a:extLst>
          </p:cNvPr>
          <p:cNvSpPr>
            <a:spLocks noGrp="1"/>
          </p:cNvSpPr>
          <p:nvPr/>
        </p:nvSpPr>
        <p:spPr>
          <a:xfrm>
            <a:off x="8572500" y="17848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D222A5-CB53-4D6F-BEF2-68F6D2C2E0E4}"/>
              </a:ext>
            </a:extLst>
          </p:cNvPr>
          <p:cNvSpPr>
            <a:spLocks noGrp="1"/>
          </p:cNvSpPr>
          <p:nvPr/>
        </p:nvSpPr>
        <p:spPr>
          <a:xfrm>
            <a:off x="8667750" y="18706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0.043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830DB4-84F8-4250-9BF4-9C30D5FABEB8}"/>
              </a:ext>
            </a:extLst>
          </p:cNvPr>
          <p:cNvSpPr>
            <a:spLocks noGrp="1"/>
          </p:cNvSpPr>
          <p:nvPr/>
        </p:nvSpPr>
        <p:spPr>
          <a:xfrm>
            <a:off x="10191750" y="17848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A97089-399F-49F4-8460-CC536A2226A2}"/>
              </a:ext>
            </a:extLst>
          </p:cNvPr>
          <p:cNvSpPr>
            <a:spLocks noGrp="1"/>
          </p:cNvSpPr>
          <p:nvPr/>
        </p:nvSpPr>
        <p:spPr>
          <a:xfrm>
            <a:off x="10287000" y="18706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-0.053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27A2DC-7A2C-49DA-A6CA-61022206D614}"/>
              </a:ext>
            </a:extLst>
          </p:cNvPr>
          <p:cNvSpPr>
            <a:spLocks noGrp="1"/>
          </p:cNvSpPr>
          <p:nvPr/>
        </p:nvSpPr>
        <p:spPr>
          <a:xfrm>
            <a:off x="6477000" y="222304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66EEAD-28A8-412B-8AE4-396E7698420E}"/>
              </a:ext>
            </a:extLst>
          </p:cNvPr>
          <p:cNvSpPr>
            <a:spLocks noGrp="1"/>
          </p:cNvSpPr>
          <p:nvPr/>
        </p:nvSpPr>
        <p:spPr>
          <a:xfrm>
            <a:off x="6572250" y="230876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polarization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09C3D3-23D1-414A-AA78-FBC200645C15}"/>
              </a:ext>
            </a:extLst>
          </p:cNvPr>
          <p:cNvSpPr>
            <a:spLocks noGrp="1"/>
          </p:cNvSpPr>
          <p:nvPr/>
        </p:nvSpPr>
        <p:spPr>
          <a:xfrm>
            <a:off x="8572500" y="22230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86D2979-AF4D-4B03-8AE2-77CB836B200A}"/>
              </a:ext>
            </a:extLst>
          </p:cNvPr>
          <p:cNvSpPr>
            <a:spLocks noGrp="1"/>
          </p:cNvSpPr>
          <p:nvPr/>
        </p:nvSpPr>
        <p:spPr>
          <a:xfrm>
            <a:off x="8667750" y="23087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0.601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3CAF05-E161-4FF4-A0EF-709476663264}"/>
              </a:ext>
            </a:extLst>
          </p:cNvPr>
          <p:cNvSpPr>
            <a:spLocks noGrp="1"/>
          </p:cNvSpPr>
          <p:nvPr/>
        </p:nvSpPr>
        <p:spPr>
          <a:xfrm>
            <a:off x="10191750" y="22230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996618-55DE-470C-96E8-CF194F0C40AC}"/>
              </a:ext>
            </a:extLst>
          </p:cNvPr>
          <p:cNvSpPr>
            <a:spLocks noGrp="1"/>
          </p:cNvSpPr>
          <p:nvPr/>
        </p:nvSpPr>
        <p:spPr>
          <a:xfrm>
            <a:off x="10287000" y="23087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0.962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8E39BC-E03D-4645-B2B0-6C9112522E8C}"/>
              </a:ext>
            </a:extLst>
          </p:cNvPr>
          <p:cNvSpPr>
            <a:spLocks noGrp="1"/>
          </p:cNvSpPr>
          <p:nvPr/>
        </p:nvSpPr>
        <p:spPr>
          <a:xfrm>
            <a:off x="6477000" y="266119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C49245-75D1-4980-8B40-6C8F1BBC3B6A}"/>
              </a:ext>
            </a:extLst>
          </p:cNvPr>
          <p:cNvSpPr>
            <a:spLocks noGrp="1"/>
          </p:cNvSpPr>
          <p:nvPr/>
        </p:nvSpPr>
        <p:spPr>
          <a:xfrm>
            <a:off x="6572250" y="274691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2937"/>
                </a:solidFill>
              </a:defRPr>
            </a:pPr>
            <a:r>
              <a:rPr sz="975" b="0" dirty="0" err="1">
                <a:solidFill>
                  <a:srgbClr val="1F2937"/>
                </a:solidFill>
              </a:rPr>
              <a:t>negative_emotion</a:t>
            </a:r>
            <a:endParaRPr sz="975" b="0" dirty="0">
              <a:solidFill>
                <a:srgbClr val="1F2937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97631E-A44A-4C7D-B611-0E259FD325F2}"/>
              </a:ext>
            </a:extLst>
          </p:cNvPr>
          <p:cNvSpPr>
            <a:spLocks noGrp="1"/>
          </p:cNvSpPr>
          <p:nvPr/>
        </p:nvSpPr>
        <p:spPr>
          <a:xfrm>
            <a:off x="8572500" y="26611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34387A-805E-4F9A-B857-009558C07B1B}"/>
              </a:ext>
            </a:extLst>
          </p:cNvPr>
          <p:cNvSpPr>
            <a:spLocks noGrp="1"/>
          </p:cNvSpPr>
          <p:nvPr/>
        </p:nvSpPr>
        <p:spPr>
          <a:xfrm>
            <a:off x="8667750" y="27469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0.58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93CCEBE-C6DF-47D3-A393-AB915282FCE7}"/>
              </a:ext>
            </a:extLst>
          </p:cNvPr>
          <p:cNvSpPr>
            <a:spLocks noGrp="1"/>
          </p:cNvSpPr>
          <p:nvPr/>
        </p:nvSpPr>
        <p:spPr>
          <a:xfrm>
            <a:off x="10191750" y="26611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54DB3F-D6CD-4EB2-9BEB-26E4964D4185}"/>
              </a:ext>
            </a:extLst>
          </p:cNvPr>
          <p:cNvSpPr>
            <a:spLocks noGrp="1"/>
          </p:cNvSpPr>
          <p:nvPr/>
        </p:nvSpPr>
        <p:spPr>
          <a:xfrm>
            <a:off x="10287000" y="27469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0.87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BAD9B65-789E-4672-AC8D-7AD0151B4CD9}"/>
              </a:ext>
            </a:extLst>
          </p:cNvPr>
          <p:cNvSpPr>
            <a:spLocks noGrp="1"/>
          </p:cNvSpPr>
          <p:nvPr/>
        </p:nvSpPr>
        <p:spPr>
          <a:xfrm>
            <a:off x="6477000" y="309934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A9A6489-B156-49A5-B3CA-3A28F9268B3B}"/>
              </a:ext>
            </a:extLst>
          </p:cNvPr>
          <p:cNvSpPr>
            <a:spLocks noGrp="1"/>
          </p:cNvSpPr>
          <p:nvPr/>
        </p:nvSpPr>
        <p:spPr>
          <a:xfrm>
            <a:off x="6572250" y="318506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distortion_level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4155FA8-3A82-4DF3-AAC0-9C5561FB0398}"/>
              </a:ext>
            </a:extLst>
          </p:cNvPr>
          <p:cNvSpPr>
            <a:spLocks noGrp="1"/>
          </p:cNvSpPr>
          <p:nvPr/>
        </p:nvSpPr>
        <p:spPr>
          <a:xfrm>
            <a:off x="8572500" y="30993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10C7B6-081C-43A1-ABD2-22BA731B299E}"/>
              </a:ext>
            </a:extLst>
          </p:cNvPr>
          <p:cNvSpPr>
            <a:spLocks noGrp="1"/>
          </p:cNvSpPr>
          <p:nvPr/>
        </p:nvSpPr>
        <p:spPr>
          <a:xfrm>
            <a:off x="8667750" y="31850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0.0025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113D401-0BB4-4FC1-9297-BCF8B7039AB6}"/>
              </a:ext>
            </a:extLst>
          </p:cNvPr>
          <p:cNvSpPr>
            <a:spLocks noGrp="1"/>
          </p:cNvSpPr>
          <p:nvPr/>
        </p:nvSpPr>
        <p:spPr>
          <a:xfrm>
            <a:off x="10191750" y="30993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8281DDF-D718-4BBE-89FF-DE94929430D3}"/>
              </a:ext>
            </a:extLst>
          </p:cNvPr>
          <p:cNvSpPr>
            <a:spLocks noGrp="1"/>
          </p:cNvSpPr>
          <p:nvPr/>
        </p:nvSpPr>
        <p:spPr>
          <a:xfrm>
            <a:off x="10287000" y="31850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0.0725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ECFD906-90CF-4366-B365-81A9D4F13CCF}"/>
              </a:ext>
            </a:extLst>
          </p:cNvPr>
          <p:cNvSpPr>
            <a:spLocks noGrp="1"/>
          </p:cNvSpPr>
          <p:nvPr/>
        </p:nvSpPr>
        <p:spPr>
          <a:xfrm>
            <a:off x="6477000" y="353749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E8E61EC-FC7C-4FF8-ABD7-CC20FE0430A8}"/>
              </a:ext>
            </a:extLst>
          </p:cNvPr>
          <p:cNvSpPr>
            <a:spLocks noGrp="1"/>
          </p:cNvSpPr>
          <p:nvPr/>
        </p:nvSpPr>
        <p:spPr>
          <a:xfrm>
            <a:off x="6572250" y="362321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cross_group_forward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42B6B20-997A-47F2-A9E5-C68748E1C34B}"/>
              </a:ext>
            </a:extLst>
          </p:cNvPr>
          <p:cNvSpPr>
            <a:spLocks noGrp="1"/>
          </p:cNvSpPr>
          <p:nvPr/>
        </p:nvSpPr>
        <p:spPr>
          <a:xfrm>
            <a:off x="8572500" y="35374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0E534D9-E406-47AE-8F76-B769DD73B5E7}"/>
              </a:ext>
            </a:extLst>
          </p:cNvPr>
          <p:cNvSpPr>
            <a:spLocks noGrp="1"/>
          </p:cNvSpPr>
          <p:nvPr/>
        </p:nvSpPr>
        <p:spPr>
          <a:xfrm>
            <a:off x="8667750" y="36232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29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DD714B7-6E4C-4208-B6CB-B0DB79E49807}"/>
              </a:ext>
            </a:extLst>
          </p:cNvPr>
          <p:cNvSpPr>
            <a:spLocks noGrp="1"/>
          </p:cNvSpPr>
          <p:nvPr/>
        </p:nvSpPr>
        <p:spPr>
          <a:xfrm>
            <a:off x="10191750" y="35374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7272914-0701-455B-B6B2-6F0D928BA875}"/>
              </a:ext>
            </a:extLst>
          </p:cNvPr>
          <p:cNvSpPr>
            <a:spLocks noGrp="1"/>
          </p:cNvSpPr>
          <p:nvPr/>
        </p:nvSpPr>
        <p:spPr>
          <a:xfrm>
            <a:off x="10287000" y="36232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29</a:t>
            </a: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5333" y="1108616"/>
            <a:ext cx="5635498" cy="3135882"/>
          </a:xfrm>
          <a:prstGeom prst="roundRect">
            <a:avLst>
              <a:gd name="adj" fmla="val 5000"/>
            </a:avLst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CA7E3613-12E5-45ED-B456-DF337BA017D9}"/>
              </a:ext>
            </a:extLst>
          </p:cNvPr>
          <p:cNvSpPr>
            <a:spLocks noGrp="1"/>
          </p:cNvSpPr>
          <p:nvPr/>
        </p:nvSpPr>
        <p:spPr>
          <a:xfrm>
            <a:off x="762000" y="4495864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2000" b="1" dirty="0" err="1">
                <a:solidFill>
                  <a:srgbClr val="00B050"/>
                </a:solidFill>
              </a:rPr>
              <a:t>对照结论</a:t>
            </a:r>
            <a:endParaRPr sz="2000" b="1" dirty="0">
              <a:solidFill>
                <a:srgbClr val="00B05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459FAF1-9CF1-41BE-B9A1-1F9203F53702}"/>
              </a:ext>
            </a:extLst>
          </p:cNvPr>
          <p:cNvSpPr>
            <a:spLocks noGrp="1"/>
          </p:cNvSpPr>
          <p:nvPr/>
        </p:nvSpPr>
        <p:spPr>
          <a:xfrm>
            <a:off x="762000" y="4943295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传播骨架保持一致时，真实</a:t>
            </a:r>
            <a:r>
              <a:rPr sz="1600" b="0" dirty="0">
                <a:solidFill>
                  <a:srgbClr val="1F2937"/>
                </a:solidFill>
              </a:rPr>
              <a:t> LLM </a:t>
            </a:r>
            <a:r>
              <a:rPr sz="1600" b="0" dirty="0" err="1">
                <a:solidFill>
                  <a:srgbClr val="1F2937"/>
                </a:solidFill>
              </a:rPr>
              <a:t>主要改变的是观点、极化、负面情绪和失真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这说明本周闭环已经不止是“</a:t>
            </a:r>
            <a:r>
              <a:rPr sz="1600" b="0" dirty="0" err="1">
                <a:solidFill>
                  <a:srgbClr val="1F2937"/>
                </a:solidFill>
              </a:rPr>
              <a:t>能跑</a:t>
            </a:r>
            <a:r>
              <a:rPr sz="1600" b="0" dirty="0">
                <a:solidFill>
                  <a:srgbClr val="1F2937"/>
                </a:solidFill>
              </a:rPr>
              <a:t>”，</a:t>
            </a:r>
            <a:r>
              <a:rPr sz="1600" b="0" dirty="0" err="1">
                <a:solidFill>
                  <a:srgbClr val="1F2937"/>
                </a:solidFill>
              </a:rPr>
              <a:t>而是能产出可解释的群体演化差异</a:t>
            </a:r>
            <a:r>
              <a:rPr sz="1600" b="0" dirty="0">
                <a:solidFill>
                  <a:srgbClr val="1F2937"/>
                </a:solidFill>
              </a:rPr>
              <a:t>。</a:t>
            </a:r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• </a:t>
            </a:r>
            <a:r>
              <a:rPr sz="1600" b="0" dirty="0" err="1">
                <a:solidFill>
                  <a:srgbClr val="1F2937"/>
                </a:solidFill>
              </a:rPr>
              <a:t>跨群累计在前</a:t>
            </a:r>
            <a:r>
              <a:rPr sz="1600" b="0" dirty="0">
                <a:solidFill>
                  <a:srgbClr val="1F2937"/>
                </a:solidFill>
              </a:rPr>
              <a:t> 20 </a:t>
            </a:r>
            <a:r>
              <a:rPr sz="1600" b="0" dirty="0" err="1">
                <a:solidFill>
                  <a:srgbClr val="1F2937"/>
                </a:solidFill>
              </a:rPr>
              <a:t>步一致，后续可进一步拆分“热度溢出”和“显式转发</a:t>
            </a:r>
            <a:r>
              <a:rPr sz="1600" b="0" dirty="0">
                <a:solidFill>
                  <a:srgbClr val="1F2937"/>
                </a:solidFill>
              </a:rPr>
              <a:t>”。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D1FDC20A-F5E7-3A54-A34E-8A0D1C765869}"/>
                  </a:ext>
                </a:extLst>
              </p14:cNvPr>
              <p14:cNvContentPartPr/>
              <p14:nvPr/>
            </p14:nvContentPartPr>
            <p14:xfrm>
              <a:off x="9645221" y="1366541"/>
              <a:ext cx="360" cy="36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D1FDC20A-F5E7-3A54-A34E-8A0D1C7658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6581" y="1312541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组合 58">
            <a:extLst>
              <a:ext uri="{FF2B5EF4-FFF2-40B4-BE49-F238E27FC236}">
                <a16:creationId xmlns:a16="http://schemas.microsoft.com/office/drawing/2014/main" id="{E35F7F3B-2E1C-153D-0284-01056CCE8248}"/>
              </a:ext>
            </a:extLst>
          </p:cNvPr>
          <p:cNvGrpSpPr/>
          <p:nvPr/>
        </p:nvGrpSpPr>
        <p:grpSpPr>
          <a:xfrm>
            <a:off x="8190101" y="1297781"/>
            <a:ext cx="49680" cy="49320"/>
            <a:chOff x="8190101" y="1297781"/>
            <a:chExt cx="49680" cy="493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A46028EF-53DE-21CF-2286-5A041B781B27}"/>
                    </a:ext>
                  </a:extLst>
                </p14:cNvPr>
                <p14:cNvContentPartPr/>
                <p14:nvPr/>
              </p14:nvContentPartPr>
              <p14:xfrm>
                <a:off x="8239421" y="1297781"/>
                <a:ext cx="360" cy="36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A46028EF-53DE-21CF-2286-5A041B781B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30421" y="1243781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5346C770-88F6-3D74-82E8-BAE155F79079}"/>
                    </a:ext>
                  </a:extLst>
                </p14:cNvPr>
                <p14:cNvContentPartPr/>
                <p14:nvPr/>
              </p14:nvContentPartPr>
              <p14:xfrm>
                <a:off x="8190101" y="1346741"/>
                <a:ext cx="360" cy="36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5346C770-88F6-3D74-82E8-BAE155F790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81101" y="1293101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4D931B84-AD04-9B92-A1B0-C18B0FCB0BA3}"/>
                  </a:ext>
                </a:extLst>
              </p14:cNvPr>
              <p14:cNvContentPartPr/>
              <p14:nvPr/>
            </p14:nvContentPartPr>
            <p14:xfrm>
              <a:off x="6902021" y="1936781"/>
              <a:ext cx="360" cy="36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4D931B84-AD04-9B92-A1B0-C18B0FCB0BA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93381" y="1882781"/>
                <a:ext cx="1800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97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1B03F73-9DE5-4181-AF7A-7D73A0BD08A9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sz="2800" b="1" dirty="0" err="1">
                <a:solidFill>
                  <a:srgbClr val="1F2937"/>
                </a:solidFill>
              </a:rPr>
              <a:t>总结计划</a:t>
            </a:r>
            <a:r>
              <a:rPr sz="2800" b="1" dirty="0">
                <a:solidFill>
                  <a:srgbClr val="1F2937"/>
                </a:solidFill>
              </a:rPr>
              <a:t> summary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57F182-DEF9-45B5-8931-69A620BE5B1C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D13540-B8F1-4D9D-91D2-72356FF95710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C9E325-539F-4684-AFE2-F33CA6385712}"/>
              </a:ext>
            </a:extLst>
          </p:cNvPr>
          <p:cNvSpPr>
            <a:spLocks noGrp="1"/>
          </p:cNvSpPr>
          <p:nvPr/>
        </p:nvSpPr>
        <p:spPr>
          <a:xfrm>
            <a:off x="1028700" y="1790699"/>
            <a:ext cx="2095500" cy="47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766E"/>
                </a:solidFill>
              </a:defRPr>
            </a:pPr>
            <a:r>
              <a:rPr sz="2000" b="1" dirty="0" err="1">
                <a:solidFill>
                  <a:srgbClr val="0070C0"/>
                </a:solidFill>
              </a:rPr>
              <a:t>本周</a:t>
            </a:r>
            <a:r>
              <a:rPr lang="zh-CN" altLang="en-US" sz="2000" b="1" dirty="0">
                <a:solidFill>
                  <a:srgbClr val="0070C0"/>
                </a:solidFill>
              </a:rPr>
              <a:t>完成</a:t>
            </a:r>
            <a:endParaRPr sz="2000" b="1" dirty="0">
              <a:solidFill>
                <a:srgbClr val="0070C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6360C2-4A9D-4D2B-84FD-8CACD8627F38}"/>
              </a:ext>
            </a:extLst>
          </p:cNvPr>
          <p:cNvSpPr>
            <a:spLocks noGrp="1"/>
          </p:cNvSpPr>
          <p:nvPr/>
        </p:nvSpPr>
        <p:spPr>
          <a:xfrm>
            <a:off x="1028700" y="2266949"/>
            <a:ext cx="4095750" cy="20655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rPr lang="en-US" altLang="zh-CN" sz="1600" dirty="0">
                <a:solidFill>
                  <a:srgbClr val="333333"/>
                </a:solidFill>
              </a:rPr>
              <a:t>1 </a:t>
            </a:r>
            <a:r>
              <a:rPr lang="zh-CN" altLang="en-US" sz="1600" dirty="0">
                <a:solidFill>
                  <a:srgbClr val="333333"/>
                </a:solidFill>
              </a:rPr>
              <a:t>全量</a:t>
            </a:r>
            <a:r>
              <a:rPr lang="en-US" altLang="zh-CN" sz="1600" dirty="0">
                <a:solidFill>
                  <a:srgbClr val="333333"/>
                </a:solidFill>
              </a:rPr>
              <a:t>agent</a:t>
            </a:r>
            <a:r>
              <a:rPr lang="zh-CN" altLang="en-US" sz="1600" dirty="0">
                <a:solidFill>
                  <a:srgbClr val="333333"/>
                </a:solidFill>
              </a:rPr>
              <a:t>接入，做</a:t>
            </a:r>
            <a:r>
              <a:rPr lang="en-US" altLang="zh-CN" sz="1600" dirty="0">
                <a:solidFill>
                  <a:srgbClr val="333333"/>
                </a:solidFill>
              </a:rPr>
              <a:t>BDI</a:t>
            </a:r>
            <a:r>
              <a:rPr lang="zh-CN" altLang="en-US" sz="1600" dirty="0">
                <a:solidFill>
                  <a:srgbClr val="333333"/>
                </a:solidFill>
              </a:rPr>
              <a:t>稳定性和压力测试（</a:t>
            </a:r>
            <a:r>
              <a:rPr lang="en-US" altLang="zh-CN" sz="1600" dirty="0">
                <a:solidFill>
                  <a:srgbClr val="333333"/>
                </a:solidFill>
              </a:rPr>
              <a:t>50%</a:t>
            </a:r>
            <a:r>
              <a:rPr lang="zh-CN" altLang="en-US" sz="1600" dirty="0">
                <a:solidFill>
                  <a:srgbClr val="333333"/>
                </a:solidFill>
              </a:rPr>
              <a:t>）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rPr lang="en-US" altLang="zh-CN" sz="1600" dirty="0">
                <a:solidFill>
                  <a:srgbClr val="333333"/>
                </a:solidFill>
              </a:rPr>
              <a:t>2 </a:t>
            </a:r>
            <a:r>
              <a:rPr lang="en-US" altLang="zh-CN" sz="1600" dirty="0" err="1">
                <a:solidFill>
                  <a:srgbClr val="333333"/>
                </a:solidFill>
              </a:rPr>
              <a:t>Datacollector</a:t>
            </a:r>
            <a:r>
              <a:rPr lang="zh-CN" altLang="en-US" sz="1600" dirty="0">
                <a:solidFill>
                  <a:srgbClr val="333333"/>
                </a:solidFill>
              </a:rPr>
              <a:t>对全模块调度并发（</a:t>
            </a:r>
            <a:r>
              <a:rPr lang="en-US" altLang="zh-CN" sz="1600" dirty="0">
                <a:solidFill>
                  <a:srgbClr val="333333"/>
                </a:solidFill>
              </a:rPr>
              <a:t>50%</a:t>
            </a:r>
            <a:r>
              <a:rPr lang="zh-CN" altLang="en-US" sz="1600" dirty="0">
                <a:solidFill>
                  <a:srgbClr val="333333"/>
                </a:solidFill>
              </a:rPr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57EBCF-B6DC-401B-BC05-A88B287A9292}"/>
              </a:ext>
            </a:extLst>
          </p:cNvPr>
          <p:cNvSpPr>
            <a:spLocks noGrp="1"/>
          </p:cNvSpPr>
          <p:nvPr/>
        </p:nvSpPr>
        <p:spPr>
          <a:xfrm>
            <a:off x="6858000" y="1790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5309"/>
                </a:solidFill>
              </a:defRPr>
            </a:pPr>
            <a:r>
              <a:rPr sz="2000" b="1" dirty="0" err="1">
                <a:solidFill>
                  <a:srgbClr val="0070C0"/>
                </a:solidFill>
              </a:rPr>
              <a:t>下周计划</a:t>
            </a:r>
            <a:endParaRPr sz="2000" b="1" dirty="0">
              <a:solidFill>
                <a:srgbClr val="0070C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CE0410-2D8A-443B-89CD-0023F37B4787}"/>
              </a:ext>
            </a:extLst>
          </p:cNvPr>
          <p:cNvSpPr>
            <a:spLocks noGrp="1"/>
          </p:cNvSpPr>
          <p:nvPr/>
        </p:nvSpPr>
        <p:spPr>
          <a:xfrm>
            <a:off x="6858000" y="2266949"/>
            <a:ext cx="4095750" cy="2180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F2937"/>
                </a:solidFill>
              </a:defRPr>
            </a:pPr>
            <a:r>
              <a:rPr lang="en-US" altLang="zh-CN" sz="1600" dirty="0">
                <a:solidFill>
                  <a:srgbClr val="1F2937"/>
                </a:solidFill>
              </a:rPr>
              <a:t>1 </a:t>
            </a:r>
            <a:r>
              <a:rPr lang="zh-CN" altLang="en-US" sz="1600" dirty="0">
                <a:solidFill>
                  <a:srgbClr val="1F2937"/>
                </a:solidFill>
              </a:rPr>
              <a:t>将</a:t>
            </a:r>
            <a:r>
              <a:rPr lang="en-US" altLang="zh-CN" sz="1600" dirty="0">
                <a:solidFill>
                  <a:srgbClr val="1F2937"/>
                </a:solidFill>
              </a:rPr>
              <a:t>100agent</a:t>
            </a:r>
            <a:r>
              <a:rPr lang="zh-CN" altLang="en-US" sz="1600" dirty="0">
                <a:solidFill>
                  <a:srgbClr val="1F2937"/>
                </a:solidFill>
              </a:rPr>
              <a:t>闭环扩大到</a:t>
            </a:r>
            <a:r>
              <a:rPr lang="en-US" altLang="zh-CN" sz="1600" dirty="0">
                <a:solidFill>
                  <a:srgbClr val="1F2937"/>
                </a:solidFill>
              </a:rPr>
              <a:t>1000agent</a:t>
            </a:r>
            <a:r>
              <a:rPr lang="zh-CN" altLang="en-US" sz="1600" dirty="0">
                <a:solidFill>
                  <a:srgbClr val="1F2937"/>
                </a:solidFill>
              </a:rPr>
              <a:t>闭环。</a:t>
            </a:r>
          </a:p>
          <a:p>
            <a:pPr>
              <a:defRPr sz="1275" b="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rgbClr val="1F2937"/>
                </a:solidFill>
              </a:rPr>
              <a:t>2</a:t>
            </a:r>
            <a:r>
              <a:rPr sz="1600" b="0" dirty="0">
                <a:solidFill>
                  <a:srgbClr val="1F2937"/>
                </a:solidFill>
              </a:rPr>
              <a:t> </a:t>
            </a:r>
            <a:r>
              <a:rPr sz="1600" b="0" dirty="0" err="1">
                <a:solidFill>
                  <a:srgbClr val="1F2937"/>
                </a:solidFill>
              </a:rPr>
              <a:t>优化真实</a:t>
            </a:r>
            <a:r>
              <a:rPr sz="1600" b="0" dirty="0">
                <a:solidFill>
                  <a:srgbClr val="1F2937"/>
                </a:solidFill>
              </a:rPr>
              <a:t> LLM </a:t>
            </a:r>
            <a:r>
              <a:rPr sz="1600" b="0" dirty="0" err="1">
                <a:solidFill>
                  <a:srgbClr val="1F2937"/>
                </a:solidFill>
              </a:rPr>
              <a:t>调用策略：并发、抽样调用、缓存与降级路径</a:t>
            </a:r>
            <a:r>
              <a:rPr lang="zh-CN" altLang="en-US" sz="1600" dirty="0">
                <a:solidFill>
                  <a:srgbClr val="1F2937"/>
                </a:solidFill>
              </a:rPr>
              <a:t>，下一步重点转向效率优化与策略评估。</a:t>
            </a:r>
            <a:endParaRPr sz="1600" b="0" dirty="0">
              <a:solidFill>
                <a:srgbClr val="1F2937"/>
              </a:solidFill>
            </a:endParaRPr>
          </a:p>
          <a:p>
            <a:pPr algn="l">
              <a:defRPr sz="1275" b="0">
                <a:solidFill>
                  <a:srgbClr val="1F2937"/>
                </a:solidFill>
              </a:defRPr>
            </a:pPr>
            <a:endParaRPr lang="en-US" sz="160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79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F6D25A1-21D7-4ECD-B19E-2DB1D11A64DC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1F2937"/>
                </a:solidFill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paper/chapter reading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B4E0C0-AB55-494F-A3FC-13E9D5CB9051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104211-304C-4F81-8430-FCF53C73A3B3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6B7280"/>
                </a:solidFill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55E662-94B9-4ACC-B4A7-7039B5B7C893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F4E79"/>
                </a:solidFill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Generative Agents: Interactive Simulacra of Human Behavior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AF6939-4E19-4D23-842E-31795A436145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6B7280"/>
                </a:solidFill>
              </a:defRPr>
            </a:pP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Joon Sung Park, Joseph C. O'Brien, Carrie J. Cai, Meredith Ringel Morris, Percy Liang, Michael S. Bernstein · UIST 2023 · DOI: 10.1145/3586183.3606763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19EC74-7FEC-47C3-B80E-221FE7674FC7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Motivation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动机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21D0A3-6198-4566-833C-C08CC0E2F59B}"/>
              </a:ext>
            </a:extLst>
          </p:cNvPr>
          <p:cNvSpPr>
            <a:spLocks noGrp="1"/>
          </p:cNvSpPr>
          <p:nvPr/>
        </p:nvSpPr>
        <p:spPr>
          <a:xfrm>
            <a:off x="2705100" y="20002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1F2937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传统多智能体仿真常依赖手工规则，难以表现复杂、连续且具有人类特征的日常行为。论文希望用大语言模型构建可信的生成式智能体，让个体能够记忆、反思、计划并与他人互动。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8F4ED5-0F1D-45E7-BC4D-A436B75C0A87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Theory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理论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72C441-9719-48C5-9808-DDB893F4964A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1F2937"/>
                </a:solidFill>
              </a:defRPr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核心架构由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memory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stream、retrieval、reflection、planning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组成：Agent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将观察与经历以自然语言写入记忆流，再按相关性、时效性和重要性检索，形成高层反思，并据此生成下一步行动计划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D5823B-626F-4376-A66E-12BF8140B9C5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Application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应用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704BB2-CDCB-4374-B252-8550FBA0E33D}"/>
              </a:ext>
            </a:extLst>
          </p:cNvPr>
          <p:cNvSpPr>
            <a:spLocks noGrp="1"/>
          </p:cNvSpPr>
          <p:nvPr/>
        </p:nvSpPr>
        <p:spPr>
          <a:xfrm>
            <a:off x="2705100" y="36004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1F2937"/>
                </a:solidFill>
              </a:defRPr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作者在类似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The Sims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的小镇沙盒中放置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25 个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Agent，智能体会起床、工作、交谈、建立关系，并能围绕情人节派对自发传播邀请和协调行动。对我们项目而言，它直接支撑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B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模块的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Belief + Memory + Perception →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ActionRecord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设计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891464-B6DD-4102-8706-892E8430B24E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Methodology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方法论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ECFF8B-D49E-4077-AA11-CB4BC2B91DC9}"/>
              </a:ext>
            </a:extLst>
          </p:cNvPr>
          <p:cNvSpPr>
            <a:spLocks noGrp="1"/>
          </p:cNvSpPr>
          <p:nvPr/>
        </p:nvSpPr>
        <p:spPr>
          <a:xfrm>
            <a:off x="2705100" y="44005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1F2937"/>
                </a:solidFill>
              </a:defRPr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论文通过交互式沙盒实验和消融实验评估可信度，比较完整架构与去掉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observation、planning、reflection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等组件后的表现，说明记忆、反思和计划都会显著影响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Agent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行为的可信性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104AC2-5CB7-4900-A9ED-DF16D8FDC7A5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my evaluation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自我评价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79BE5F-33B8-4A3A-B2D5-80E21D3373A9}"/>
              </a:ext>
            </a:extLst>
          </p:cNvPr>
          <p:cNvSpPr>
            <a:spLocks noGrp="1"/>
          </p:cNvSpPr>
          <p:nvPr/>
        </p:nvSpPr>
        <p:spPr>
          <a:xfrm>
            <a:off x="2705100" y="52006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1F2937"/>
                </a:solidFill>
              </a:defRPr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这篇文章为我们使用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LLM Agent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模拟舆情主体提供了强支撑，但它更关注日常社会行为，不直接处理舆情扩散、Hawkes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热度和官方干预。因此我们可以借鉴其智能体认知架构，同时保留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A/C/D/E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中的传播、指标和治理评估模块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5635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1143</Words>
  <Application>Microsoft Office PowerPoint</Application>
  <DocSecurity>0</DocSecurity>
  <PresentationFormat>宽屏</PresentationFormat>
  <Paragraphs>152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旭东 何</cp:lastModifiedBy>
  <cp:revision>5</cp:revision>
  <dcterms:created xsi:type="dcterms:W3CDTF">2026-07-26T12:20:52Z</dcterms:created>
  <dcterms:modified xsi:type="dcterms:W3CDTF">2026-07-27T09:10:54Z</dcterms:modified>
</cp:coreProperties>
</file>