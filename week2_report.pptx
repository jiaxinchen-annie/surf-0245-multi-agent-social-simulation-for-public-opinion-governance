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3" r:id="rId9"/>
    <p:sldId id="262" r:id="rId10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7" d="100"/>
          <a:sy n="77" d="100"/>
        </p:scale>
        <p:origin x="648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9BC6137-3B25-4AFA-BDDE-8835120AF80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buNone/>
              <a:defRPr sz="6000"/>
            </a:lvl1pPr>
          </a:lstStyle>
          <a:p>
            <a:r>
              <a:t>单击此处添加标题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0821C96-0182-4B55-8942-394B6FB6D70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388352D-A0DB-4668-9BB5-BAEA67EFBCA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F3FEFD7-7241-4A55-9F4E-BE5EC4645D2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842BFD4-3A6D-4D41-A1E7-D560DF99E7D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  <a:cs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单击此处添加副标题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EB5B82-EA2B-4A90-AA14-8BDF017836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>
            <a:normAutofit/>
          </a:bodyPr>
          <a:lstStyle>
            <a:lvl1pPr>
              <a:buNone/>
              <a:defRPr sz="4400" b="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3E5F907-2793-49CE-9BE3-45B7F58C55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buNone/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第二级</a:t>
            </a:r>
          </a:p>
          <a:p>
            <a:pPr>
              <a:buNone/>
            </a:pPr>
            <a:r>
              <a:t>第三级</a:t>
            </a:r>
          </a:p>
          <a:p>
            <a:pPr>
              <a:buNone/>
            </a:pPr>
            <a:r>
              <a:t>第四级</a:t>
            </a:r>
          </a:p>
          <a:p>
            <a:pPr>
              <a:buNone/>
            </a:pPr>
            <a:r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B147047-3DF4-40EC-B56D-585F2C814B3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5286DB2-81A2-45AF-9A5B-1CF47836881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A015939-DCCB-4706-8408-F13DE2CDDE7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F5CE61-4A72-428C-88A3-5C80086BE3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49" y="469127"/>
            <a:ext cx="10307927" cy="4093347"/>
          </a:xfrm>
        </p:spPr>
        <p:txBody>
          <a:bodyPr anchor="b">
            <a:normAutofit/>
          </a:bodyPr>
          <a:lstStyle>
            <a:lvl1pPr>
              <a:buNone/>
              <a:defRPr sz="60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C9784DD-D6D4-4F8F-9F3D-15FB084B52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10307926" cy="647555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buNone/>
            </a:pPr>
            <a:r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FE4B54D-E56A-47D8-873E-5F326E4A2E9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9087996-6DC5-4D31-911A-1D2C5138D64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9F6A14A-4603-43B0-9170-4F62A5BE396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39730D0-7982-4C89-9297-6E58EA6A1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buNone/>
              <a:defRPr sz="4400" b="0" i="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A9305A3-49D1-41CD-BA36-72F8AAC346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buNone/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90000"/>
              </a:lnSpc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90000"/>
              </a:lnSpc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90000"/>
              </a:lnSpc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90000"/>
              </a:lnSpc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第二级</a:t>
            </a:r>
          </a:p>
          <a:p>
            <a:pPr>
              <a:buNone/>
            </a:pPr>
            <a:r>
              <a:t>第三级</a:t>
            </a:r>
          </a:p>
          <a:p>
            <a:pPr>
              <a:buNone/>
            </a:pPr>
            <a:r>
              <a:t>第四级</a:t>
            </a:r>
          </a:p>
          <a:p>
            <a:pPr>
              <a:buNone/>
            </a:pPr>
            <a:r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443EAF8-8285-4D26-816A-3E2535082EBA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buNone/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90000"/>
              </a:lnSpc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90000"/>
              </a:lnSpc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90000"/>
              </a:lnSpc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90000"/>
              </a:lnSpc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第二级</a:t>
            </a:r>
          </a:p>
          <a:p>
            <a:pPr>
              <a:buNone/>
            </a:pPr>
            <a:r>
              <a:t>第三级</a:t>
            </a:r>
          </a:p>
          <a:p>
            <a:pPr>
              <a:buNone/>
            </a:pPr>
            <a:r>
              <a:t>第四级</a:t>
            </a:r>
          </a:p>
          <a:p>
            <a:pPr>
              <a:buNone/>
            </a:pPr>
            <a:r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0BE30D1-0A6C-4151-B1EF-4B40FEB339B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C48E88E-2A22-40C8-AE44-C1EE1CE289D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759B63C-708D-460D-BABE-AFECB599CB5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A96B38-2939-4451-92EE-8E0AEEC7A1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4E672E7-26C7-4DD7-A64A-6FB7E4CAC2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3AC2A51-0E64-4FD0-A400-E3B0D7F6F97F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第二级</a:t>
            </a:r>
          </a:p>
          <a:p>
            <a:pPr>
              <a:buNone/>
            </a:pPr>
            <a:r>
              <a:t>第三级</a:t>
            </a:r>
          </a:p>
          <a:p>
            <a:pPr>
              <a:buNone/>
            </a:pPr>
            <a:r>
              <a:t>第四级</a:t>
            </a:r>
          </a:p>
          <a:p>
            <a:pPr>
              <a:buNone/>
            </a:pPr>
            <a:r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8E88177B-288C-4683-BBB6-9C3A1AF198BE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6172200" y="1744961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A6F7EAC-A7C6-4377-9B90-096BFF43B6E1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第二级</a:t>
            </a:r>
          </a:p>
          <a:p>
            <a:pPr>
              <a:buNone/>
            </a:pPr>
            <a:r>
              <a:t>第三级</a:t>
            </a:r>
          </a:p>
          <a:p>
            <a:pPr>
              <a:buNone/>
            </a:pPr>
            <a:r>
              <a:t>第四级</a:t>
            </a:r>
          </a:p>
          <a:p>
            <a:pPr>
              <a:buNone/>
            </a:pPr>
            <a:r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6A5CB442-FAB4-4A6D-B2BF-244171DC886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E34436E4-DE64-49B6-A418-0655374ED48B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9458CFE-9E54-4B11-9FFA-19E932F6F72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E7D92E3-47C6-40F4-9DD5-26F92EC896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buNone/>
              <a:defRPr sz="4400" b="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88403EA-0E4B-4DC9-8492-917B31D828A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D737895-110E-4425-8025-B86CF8A32AB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3DB2EEA-6F86-46A3-ABFE-C59521DFCF3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EEAB94C-0A05-4BA5-AC69-AB226158FBD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A427297-EA73-4032-89C5-A204F14A518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8ED50A5-3438-4BFB-86E4-FD47154D921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ED88023-7D03-4843-8C9A-C88C6DB3B9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6747" y="127000"/>
            <a:ext cx="4165200" cy="1600200"/>
          </a:xfrm>
        </p:spPr>
        <p:txBody>
          <a:bodyPr anchor="ctr">
            <a:normAutofit/>
          </a:bodyPr>
          <a:lstStyle>
            <a:lvl1pPr>
              <a:buNone/>
              <a:defRPr sz="3200" b="0"/>
            </a:lvl1pPr>
          </a:lstStyle>
          <a:p>
            <a:r>
              <a:t>单击此处编辑标题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21899066-06B9-45F2-AFFD-6B8F42659D9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75B21EE-E598-4236-BFA3-A30EEAEEEE55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5ABFC65-7298-48AA-8EDC-525ED23FD18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24C4362-AADA-4867-A34B-1665A7790A6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8F9243-74C1-4D79-AEB8-63C3556E20B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554A4AAF-CC30-4AD5-BC21-7CD0721729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buNone/>
              <a:defRPr sz="44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521378F-E349-4689-BC44-81C745E0FF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第二级</a:t>
            </a:r>
          </a:p>
          <a:p>
            <a:pPr>
              <a:buNone/>
            </a:pPr>
            <a:r>
              <a:t>第三级</a:t>
            </a:r>
          </a:p>
          <a:p>
            <a:pPr>
              <a:buNone/>
            </a:pPr>
            <a:r>
              <a:t>第四级</a:t>
            </a:r>
          </a:p>
          <a:p>
            <a:pPr>
              <a:buNone/>
            </a:pPr>
            <a:r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ADD66DD-4369-493B-B5CD-7945158F0AE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C56B581-14E2-4DD4-BEF2-30F0C30F6ED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8CD2179-7AAF-4491-8951-E6BCD31DD3B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6D9C92B-1975-4677-98C7-DFE33B34381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5197A07-EF69-4E0F-875E-23C1E84DD28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3954838-2345-4A6A-AAA2-5668E074018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内容占位符 6">
            <a:extLst>
              <a:ext uri="{FF2B5EF4-FFF2-40B4-BE49-F238E27FC236}">
                <a16:creationId xmlns:a16="http://schemas.microsoft.com/office/drawing/2014/main" id="{15EA11AF-D82D-46B3-AEA7-B7D26E52C921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第二级</a:t>
            </a:r>
          </a:p>
          <a:p>
            <a:pPr>
              <a:buNone/>
            </a:pPr>
            <a:r>
              <a:t>第三级</a:t>
            </a:r>
          </a:p>
          <a:p>
            <a:pPr>
              <a:buNone/>
            </a:pPr>
            <a:r>
              <a:t>第四级</a:t>
            </a:r>
          </a:p>
          <a:p>
            <a:pPr>
              <a:buNone/>
            </a:pPr>
            <a:r>
              <a:t>第五级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6C63A01F-57F3-47FD-87B8-2F6F6F92B1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088D4E3-C9B7-4397-9F02-AF1A0A26B7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第二级</a:t>
            </a:r>
          </a:p>
          <a:p>
            <a:pPr>
              <a:buNone/>
            </a:pPr>
            <a:r>
              <a:t>第三级</a:t>
            </a:r>
          </a:p>
          <a:p>
            <a:pPr>
              <a:buNone/>
            </a:pPr>
            <a:r>
              <a:t>第四级</a:t>
            </a:r>
          </a:p>
          <a:p>
            <a:pPr>
              <a:buNone/>
            </a:pPr>
            <a:r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BBBA443-A4EF-4DC6-A09E-8E7A43FA3F8E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6F66428-8066-4724-BDE4-5DA2981DD2FF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4063254-CD9E-402F-8C3B-DD55CE9F5A6C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>
        <a:lnSpc>
          <a:spcPct val="90000"/>
        </a:lnSpc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CA518FD-3104-4354-BF27-9981A0DE9F6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>
              <a:defRPr sz="3300" b="0">
                <a:solidFill>
                  <a:srgbClr val="000000"/>
                </a:solidFill>
              </a:defRPr>
            </a:pPr>
            <a:r>
              <a:rPr sz="3300" b="0">
                <a:solidFill>
                  <a:srgbClr val="000000"/>
                </a:solidFill>
              </a:rPr>
              <a:t>week 2</a:t>
            </a:r>
          </a:p>
          <a:p>
            <a:pPr>
              <a:defRPr sz="3300" b="0">
                <a:solidFill>
                  <a:srgbClr val="000000"/>
                </a:solidFill>
              </a:defRPr>
            </a:pPr>
            <a:r>
              <a:rPr sz="3300" b="0">
                <a:solidFill>
                  <a:srgbClr val="000000"/>
                </a:solidFill>
              </a:rPr>
              <a:t>多智能体舆情处理系统</a:t>
            </a:r>
          </a:p>
        </p:txBody>
      </p:sp>
      <p:sp>
        <p:nvSpPr>
          <p:cNvPr id="5" name="副标题 4">
            <a:extLst>
              <a:ext uri="{FF2B5EF4-FFF2-40B4-BE49-F238E27FC236}">
                <a16:creationId xmlns:a16="http://schemas.microsoft.com/office/drawing/2014/main" id="{D7EFBB01-4ADC-4277-9E0A-25A8A5716C7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20000"/>
          </a:bodyPr>
          <a:lstStyle/>
          <a:p>
            <a:pPr>
              <a:defRPr sz="1500" b="0">
                <a:solidFill>
                  <a:srgbClr val="444444"/>
                </a:solidFill>
              </a:defRPr>
            </a:pPr>
            <a:r>
              <a:rPr sz="1500" b="0">
                <a:solidFill>
                  <a:srgbClr val="444444"/>
                </a:solidFill>
                <a:latin typeface="+mn-lt"/>
                <a:ea typeface="+mn-lt"/>
                <a:cs typeface="+mn-lt"/>
              </a:rPr>
              <a:t>独立开发完成周 / ABCDE模块并行收口</a:t>
            </a:r>
          </a:p>
          <a:p>
            <a:pPr>
              <a:defRPr sz="1500" b="0">
                <a:solidFill>
                  <a:srgbClr val="444444"/>
                </a:solidFill>
              </a:defRPr>
            </a:pPr>
            <a:r>
              <a:rPr sz="1500" b="0">
                <a:solidFill>
                  <a:srgbClr val="444444"/>
                </a:solidFill>
                <a:latin typeface="+mn-lt"/>
                <a:ea typeface="+mn-lt"/>
                <a:cs typeface="+mn-lt"/>
              </a:rPr>
              <a:t>A 陈佳欣 2471400</a:t>
            </a:r>
          </a:p>
          <a:p>
            <a:pPr>
              <a:defRPr sz="1500" b="0">
                <a:solidFill>
                  <a:srgbClr val="444444"/>
                </a:solidFill>
              </a:defRPr>
            </a:pPr>
            <a:r>
              <a:rPr sz="1500" b="0">
                <a:solidFill>
                  <a:srgbClr val="444444"/>
                </a:solidFill>
                <a:latin typeface="+mn-lt"/>
                <a:ea typeface="+mn-lt"/>
                <a:cs typeface="+mn-lt"/>
              </a:rPr>
              <a:t>B 张乐年 2471172</a:t>
            </a:r>
          </a:p>
          <a:p>
            <a:pPr>
              <a:defRPr sz="1500" b="0">
                <a:solidFill>
                  <a:srgbClr val="444444"/>
                </a:solidFill>
              </a:defRPr>
            </a:pPr>
            <a:r>
              <a:rPr sz="1500" b="0">
                <a:solidFill>
                  <a:srgbClr val="444444"/>
                </a:solidFill>
                <a:latin typeface="+mn-lt"/>
                <a:ea typeface="+mn-lt"/>
                <a:cs typeface="+mn-lt"/>
              </a:rPr>
              <a:t>C 石雨凡 2363487</a:t>
            </a:r>
          </a:p>
          <a:p>
            <a:pPr>
              <a:defRPr sz="1500" b="0">
                <a:solidFill>
                  <a:srgbClr val="444444"/>
                </a:solidFill>
              </a:defRPr>
            </a:pPr>
            <a:r>
              <a:rPr sz="1500" b="0">
                <a:solidFill>
                  <a:srgbClr val="444444"/>
                </a:solidFill>
                <a:latin typeface="+mn-lt"/>
                <a:ea typeface="+mn-lt"/>
                <a:cs typeface="+mn-lt"/>
              </a:rPr>
              <a:t>D 张峻烨 2471659</a:t>
            </a:r>
          </a:p>
          <a:p>
            <a:pPr>
              <a:defRPr sz="1500" b="0">
                <a:solidFill>
                  <a:srgbClr val="444444"/>
                </a:solidFill>
              </a:defRPr>
            </a:pPr>
            <a:r>
              <a:rPr sz="1500" b="0">
                <a:solidFill>
                  <a:srgbClr val="444444"/>
                </a:solidFill>
                <a:latin typeface="+mn-lt"/>
                <a:ea typeface="+mn-lt"/>
                <a:cs typeface="+mn-lt"/>
              </a:rPr>
              <a:t>E 刘嘉铭 2471680</a:t>
            </a:r>
          </a:p>
        </p:txBody>
      </p:sp>
    </p:spTree>
    <p:extLst>
      <p:ext uri="{BB962C8B-B14F-4D97-AF65-F5344CB8AC3E}">
        <p14:creationId xmlns:p14="http://schemas.microsoft.com/office/powerpoint/2010/main" val="3153293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20DC5C8-4A8A-4C39-9093-66C5853064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0">
                <a:solidFill>
                  <a:srgbClr val="000000"/>
                </a:solidFill>
              </a:defRPr>
            </a:pPr>
            <a:r>
              <a:rPr sz="3000" b="0">
                <a:solidFill>
                  <a:srgbClr val="000000"/>
                </a:solidFill>
              </a:rPr>
              <a:t>进度Schedule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CC7E97D-941F-4FA1-A4E1-E945D75728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7700" y="1825625"/>
            <a:ext cx="4984115" cy="4351655"/>
          </a:xfrm>
        </p:spPr>
        <p:txBody>
          <a:bodyPr/>
          <a:lstStyle/>
          <a:p>
            <a:pPr>
              <a:defRPr sz="1500" b="0">
                <a:solidFill>
                  <a:srgbClr val="444444"/>
                </a:solidFill>
              </a:defRPr>
            </a:pPr>
            <a:r>
              <a:rPr sz="1800" b="0" dirty="0">
                <a:solidFill>
                  <a:srgbClr val="444444"/>
                </a:solidFill>
              </a:rPr>
              <a:t>W2</a:t>
            </a:r>
            <a:r>
              <a:rPr lang="en-US" sz="1800" b="0" dirty="0">
                <a:solidFill>
                  <a:srgbClr val="444444"/>
                </a:solidFill>
              </a:rPr>
              <a:t>&amp;</a:t>
            </a:r>
            <a:r>
              <a:rPr lang="en-US" altLang="zh-CN" sz="1800" b="0" dirty="0">
                <a:solidFill>
                  <a:srgbClr val="444444"/>
                </a:solidFill>
              </a:rPr>
              <a:t>W3</a:t>
            </a:r>
            <a:r>
              <a:rPr sz="1800" b="0" dirty="0">
                <a:solidFill>
                  <a:srgbClr val="444444"/>
                </a:solidFill>
              </a:rPr>
              <a:t>原计划 plan</a:t>
            </a:r>
          </a:p>
          <a:p>
            <a:pPr>
              <a:defRPr sz="1500" b="0">
                <a:solidFill>
                  <a:srgbClr val="444444"/>
                </a:solidFill>
              </a:defRPr>
            </a:pPr>
            <a:r>
              <a:rPr lang="en-US" altLang="zh-CN" sz="1600" dirty="0">
                <a:solidFill>
                  <a:srgbClr val="444444"/>
                </a:solidFill>
              </a:rPr>
              <a:t>1 A-E-B</a:t>
            </a:r>
            <a:r>
              <a:rPr lang="zh-CN" altLang="en-US" sz="1600" dirty="0">
                <a:solidFill>
                  <a:srgbClr val="444444"/>
                </a:solidFill>
              </a:rPr>
              <a:t>之间连接跑通 </a:t>
            </a:r>
            <a:r>
              <a:rPr lang="en-US" altLang="zh-CN" sz="1600" dirty="0">
                <a:solidFill>
                  <a:srgbClr val="444444"/>
                </a:solidFill>
              </a:rPr>
              <a:t>step/</a:t>
            </a:r>
            <a:r>
              <a:rPr lang="zh-CN" altLang="en-US" sz="1600" dirty="0">
                <a:solidFill>
                  <a:srgbClr val="444444"/>
                </a:solidFill>
              </a:rPr>
              <a:t>采样</a:t>
            </a:r>
            <a:r>
              <a:rPr lang="en-US" altLang="zh-CN" sz="1600" dirty="0">
                <a:solidFill>
                  <a:srgbClr val="444444"/>
                </a:solidFill>
              </a:rPr>
              <a:t>/LLM </a:t>
            </a:r>
            <a:r>
              <a:rPr lang="zh-CN" altLang="en-US" sz="1600" dirty="0">
                <a:solidFill>
                  <a:srgbClr val="444444"/>
                </a:solidFill>
              </a:rPr>
              <a:t>接口</a:t>
            </a:r>
          </a:p>
          <a:p>
            <a:pPr>
              <a:defRPr sz="1500" b="0">
                <a:solidFill>
                  <a:srgbClr val="444444"/>
                </a:solidFill>
              </a:defRPr>
            </a:pPr>
            <a:r>
              <a:rPr lang="en-US" altLang="zh-CN" sz="1600" dirty="0">
                <a:solidFill>
                  <a:srgbClr val="444444"/>
                </a:solidFill>
              </a:rPr>
              <a:t>2 </a:t>
            </a:r>
            <a:r>
              <a:rPr lang="zh-CN" altLang="en-US" sz="1600" dirty="0">
                <a:solidFill>
                  <a:srgbClr val="444444"/>
                </a:solidFill>
              </a:rPr>
              <a:t>每人独立开发完整模块，闭环到底，同一数据流前后环节同人负责</a:t>
            </a:r>
          </a:p>
          <a:p>
            <a:pPr>
              <a:defRPr sz="1500" b="0">
                <a:solidFill>
                  <a:srgbClr val="444444"/>
                </a:solidFill>
              </a:defRPr>
            </a:pPr>
            <a:r>
              <a:rPr lang="en-US" altLang="zh-CN" sz="1600" dirty="0">
                <a:solidFill>
                  <a:srgbClr val="444444"/>
                </a:solidFill>
              </a:rPr>
              <a:t>3 </a:t>
            </a:r>
            <a:r>
              <a:rPr lang="zh-CN" altLang="en-US" sz="1600" dirty="0">
                <a:solidFill>
                  <a:srgbClr val="444444"/>
                </a:solidFill>
              </a:rPr>
              <a:t>函数自测达标后即可交付下游，不等全系统完工</a:t>
            </a: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BCB628AC-CC2C-4CC0-B3A3-7C754CE2A2E4}"/>
              </a:ext>
            </a:extLst>
          </p:cNvPr>
          <p:cNvSpPr>
            <a:spLocks noGrp="1"/>
          </p:cNvSpPr>
          <p:nvPr/>
        </p:nvSpPr>
        <p:spPr>
          <a:xfrm>
            <a:off x="5905500" y="1825624"/>
            <a:ext cx="4984115" cy="4351655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>
              <a:defRPr sz="1500" b="0">
                <a:solidFill>
                  <a:srgbClr val="444444"/>
                </a:solidFill>
              </a:defRPr>
            </a:pPr>
            <a:r>
              <a:rPr sz="1800" b="0" dirty="0" err="1">
                <a:solidFill>
                  <a:srgbClr val="444444"/>
                </a:solidFill>
              </a:rPr>
              <a:t>本周完成</a:t>
            </a:r>
            <a:r>
              <a:rPr sz="1800" b="0" dirty="0">
                <a:solidFill>
                  <a:srgbClr val="444444"/>
                </a:solidFill>
              </a:rPr>
              <a:t> this week</a:t>
            </a:r>
          </a:p>
          <a:p>
            <a:pPr marL="0" indent="0">
              <a:buNone/>
              <a:defRPr sz="1500" b="0">
                <a:solidFill>
                  <a:srgbClr val="444444"/>
                </a:solidFill>
              </a:defRPr>
            </a:pPr>
            <a:r>
              <a:rPr lang="en-US" altLang="zh-CN" sz="1600" dirty="0">
                <a:solidFill>
                  <a:srgbClr val="444444"/>
                </a:solidFill>
              </a:rPr>
              <a:t>1 50%</a:t>
            </a:r>
            <a:endParaRPr lang="zh-CN" altLang="en-US" sz="1600" dirty="0">
              <a:solidFill>
                <a:srgbClr val="444444"/>
              </a:solidFill>
            </a:endParaRPr>
          </a:p>
          <a:p>
            <a:pPr marL="0" indent="0">
              <a:buNone/>
              <a:defRPr sz="1500" b="0">
                <a:solidFill>
                  <a:srgbClr val="444444"/>
                </a:solidFill>
              </a:defRPr>
            </a:pPr>
            <a:r>
              <a:rPr lang="en-US" altLang="zh-CN" sz="1600" dirty="0">
                <a:solidFill>
                  <a:srgbClr val="444444"/>
                </a:solidFill>
              </a:rPr>
              <a:t>2 100%</a:t>
            </a:r>
            <a:endParaRPr lang="zh-CN" altLang="en-US" sz="1600" dirty="0">
              <a:solidFill>
                <a:srgbClr val="444444"/>
              </a:solidFill>
            </a:endParaRPr>
          </a:p>
          <a:p>
            <a:pPr marL="0" indent="0">
              <a:buNone/>
              <a:defRPr sz="1500" b="0">
                <a:solidFill>
                  <a:srgbClr val="444444"/>
                </a:solidFill>
              </a:defRPr>
            </a:pPr>
            <a:r>
              <a:rPr lang="en-US" altLang="zh-CN" sz="1600" dirty="0">
                <a:solidFill>
                  <a:srgbClr val="444444"/>
                </a:solidFill>
              </a:rPr>
              <a:t>3 50%</a:t>
            </a:r>
            <a:endParaRPr lang="zh-CN" altLang="en-US" sz="1600" dirty="0">
              <a:solidFill>
                <a:srgbClr val="44444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54373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51ADF23-CE96-4455-85FD-2A45479CF8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0">
                <a:solidFill>
                  <a:srgbClr val="000000"/>
                </a:solidFill>
              </a:defRPr>
            </a:pPr>
            <a:r>
              <a:rPr sz="3000" b="0">
                <a:solidFill>
                  <a:srgbClr val="000000"/>
                </a:solidFill>
              </a:rPr>
              <a:t>1 本周整体结论 detail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900E39B-99DE-42CF-B719-81C6EAB4EF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575" b="0">
                <a:solidFill>
                  <a:srgbClr val="444444"/>
                </a:solidFill>
              </a:defRPr>
            </a:pPr>
            <a:r>
              <a:rPr sz="1575" b="0" dirty="0" err="1">
                <a:solidFill>
                  <a:srgbClr val="444444"/>
                </a:solidFill>
              </a:rPr>
              <a:t>本周主线</a:t>
            </a:r>
            <a:endParaRPr sz="1575" b="0" dirty="0">
              <a:solidFill>
                <a:srgbClr val="444444"/>
              </a:solidFill>
            </a:endParaRPr>
          </a:p>
          <a:p>
            <a:pPr>
              <a:defRPr sz="1575" b="0">
                <a:solidFill>
                  <a:srgbClr val="444444"/>
                </a:solidFill>
              </a:defRPr>
            </a:pPr>
            <a:r>
              <a:rPr sz="1575" b="0" dirty="0">
                <a:solidFill>
                  <a:srgbClr val="444444"/>
                </a:solidFill>
              </a:rPr>
              <a:t>从“接口定义”进入“</a:t>
            </a:r>
            <a:r>
              <a:rPr sz="1575" b="0" dirty="0" err="1">
                <a:solidFill>
                  <a:srgbClr val="444444"/>
                </a:solidFill>
              </a:rPr>
              <a:t>模块独立实现</a:t>
            </a:r>
            <a:r>
              <a:rPr sz="1575" b="0" dirty="0">
                <a:solidFill>
                  <a:srgbClr val="444444"/>
                </a:solidFill>
              </a:rPr>
              <a:t>”，</a:t>
            </a:r>
            <a:r>
              <a:rPr sz="1575" b="0" dirty="0" err="1">
                <a:solidFill>
                  <a:srgbClr val="444444"/>
                </a:solidFill>
              </a:rPr>
              <a:t>五位成员分别完成自己负责的模块，不依赖全系统联通也能单独自测</a:t>
            </a:r>
            <a:r>
              <a:rPr sz="1575" b="0" dirty="0">
                <a:solidFill>
                  <a:srgbClr val="444444"/>
                </a:solidFill>
              </a:rPr>
              <a:t>。</a:t>
            </a:r>
          </a:p>
          <a:p>
            <a:endParaRPr sz="1575" b="0" dirty="0">
              <a:solidFill>
                <a:srgbClr val="444444"/>
              </a:solidFill>
            </a:endParaRPr>
          </a:p>
          <a:p>
            <a:pPr>
              <a:defRPr sz="1575" b="0">
                <a:solidFill>
                  <a:srgbClr val="444444"/>
                </a:solidFill>
              </a:defRPr>
            </a:pPr>
            <a:r>
              <a:rPr sz="1575" b="0" dirty="0" err="1">
                <a:solidFill>
                  <a:srgbClr val="444444"/>
                </a:solidFill>
              </a:rPr>
              <a:t>完成状态</a:t>
            </a:r>
            <a:endParaRPr sz="1575" b="0" dirty="0">
              <a:solidFill>
                <a:srgbClr val="444444"/>
              </a:solidFill>
            </a:endParaRPr>
          </a:p>
          <a:p>
            <a:pPr>
              <a:defRPr sz="1575" b="0">
                <a:solidFill>
                  <a:srgbClr val="444444"/>
                </a:solidFill>
              </a:defRPr>
            </a:pPr>
            <a:r>
              <a:rPr sz="1575" b="0" dirty="0">
                <a:solidFill>
                  <a:srgbClr val="444444"/>
                </a:solidFill>
              </a:rPr>
              <a:t>A/B/C/D/E </a:t>
            </a:r>
            <a:r>
              <a:rPr sz="1575" b="0" dirty="0" err="1">
                <a:solidFill>
                  <a:srgbClr val="444444"/>
                </a:solidFill>
              </a:rPr>
              <a:t>均已完成独立开发；每个模块都有对应输入、输出、异常兜底和基础测试样例</a:t>
            </a:r>
            <a:r>
              <a:rPr sz="1575" b="0" dirty="0">
                <a:solidFill>
                  <a:srgbClr val="444444"/>
                </a:solidFill>
              </a:rPr>
              <a:t>。</a:t>
            </a:r>
          </a:p>
          <a:p>
            <a:endParaRPr sz="1575" b="0" dirty="0">
              <a:solidFill>
                <a:srgbClr val="444444"/>
              </a:solidFill>
            </a:endParaRPr>
          </a:p>
          <a:p>
            <a:pPr>
              <a:defRPr sz="1575" b="0">
                <a:solidFill>
                  <a:srgbClr val="444444"/>
                </a:solidFill>
              </a:defRPr>
            </a:pPr>
            <a:r>
              <a:rPr sz="1575" b="0" dirty="0" err="1">
                <a:solidFill>
                  <a:srgbClr val="444444"/>
                </a:solidFill>
              </a:rPr>
              <a:t>关键变化</a:t>
            </a:r>
            <a:endParaRPr sz="1575" b="0" dirty="0">
              <a:solidFill>
                <a:srgbClr val="444444"/>
              </a:solidFill>
            </a:endParaRPr>
          </a:p>
          <a:p>
            <a:pPr>
              <a:defRPr sz="1575" b="0">
                <a:solidFill>
                  <a:srgbClr val="444444"/>
                </a:solidFill>
              </a:defRPr>
            </a:pPr>
            <a:r>
              <a:rPr sz="1575" b="0" dirty="0" err="1">
                <a:solidFill>
                  <a:srgbClr val="444444"/>
                </a:solidFill>
              </a:rPr>
              <a:t>项目从文档阶段进入可运行阶段：函数</a:t>
            </a:r>
            <a:r>
              <a:rPr lang="zh-CN" altLang="en-US" sz="1575" b="0" dirty="0">
                <a:solidFill>
                  <a:srgbClr val="444444"/>
                </a:solidFill>
              </a:rPr>
              <a:t>定义及实现</a:t>
            </a:r>
            <a:r>
              <a:rPr sz="1575" b="0" dirty="0">
                <a:solidFill>
                  <a:srgbClr val="444444"/>
                </a:solidFill>
              </a:rPr>
              <a:t>，</a:t>
            </a:r>
            <a:r>
              <a:rPr lang="zh-CN" altLang="en-US" sz="1575" dirty="0">
                <a:solidFill>
                  <a:srgbClr val="444444"/>
                </a:solidFill>
              </a:rPr>
              <a:t>随后</a:t>
            </a:r>
            <a:r>
              <a:rPr sz="1575" b="0" dirty="0" err="1">
                <a:solidFill>
                  <a:srgbClr val="444444"/>
                </a:solidFill>
              </a:rPr>
              <a:t>讨论模块之间数据是否能稳定流动</a:t>
            </a:r>
            <a:r>
              <a:rPr sz="1575" b="0" dirty="0">
                <a:solidFill>
                  <a:srgbClr val="444444"/>
                </a:solidFill>
              </a:rPr>
              <a:t>。</a:t>
            </a:r>
          </a:p>
          <a:p>
            <a:endParaRPr sz="1575" b="0" dirty="0">
              <a:solidFill>
                <a:srgbClr val="444444"/>
              </a:solidFill>
            </a:endParaRPr>
          </a:p>
          <a:p>
            <a:pPr>
              <a:defRPr sz="1575" b="0">
                <a:solidFill>
                  <a:srgbClr val="444444"/>
                </a:solidFill>
              </a:defRPr>
            </a:pPr>
            <a:endParaRPr sz="1575" b="0" dirty="0">
              <a:solidFill>
                <a:srgbClr val="44444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59051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E30A6D8-47F8-4A28-92F3-CBDF34426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90" y="0"/>
            <a:ext cx="10515600" cy="1325563"/>
          </a:xfrm>
        </p:spPr>
        <p:txBody>
          <a:bodyPr/>
          <a:lstStyle/>
          <a:p>
            <a:pPr>
              <a:defRPr sz="3000" b="0">
                <a:solidFill>
                  <a:srgbClr val="000000"/>
                </a:solidFill>
              </a:defRPr>
            </a:pPr>
            <a:r>
              <a:rPr sz="3000" b="0" dirty="0">
                <a:solidFill>
                  <a:srgbClr val="000000"/>
                </a:solidFill>
              </a:rPr>
              <a:t>2 A/B/</a:t>
            </a:r>
            <a:r>
              <a:rPr sz="3000" b="0" dirty="0" err="1">
                <a:solidFill>
                  <a:srgbClr val="000000"/>
                </a:solidFill>
              </a:rPr>
              <a:t>E模块</a:t>
            </a:r>
            <a:r>
              <a:rPr lang="zh-CN" altLang="en-US" sz="3000" b="0" dirty="0">
                <a:solidFill>
                  <a:srgbClr val="000000"/>
                </a:solidFill>
              </a:rPr>
              <a:t>独立完成</a:t>
            </a:r>
            <a:r>
              <a:rPr lang="zh-CN" altLang="en-US" sz="3000" dirty="0">
                <a:solidFill>
                  <a:srgbClr val="000000"/>
                </a:solidFill>
              </a:rPr>
              <a:t>且</a:t>
            </a:r>
            <a:r>
              <a:rPr sz="3000" b="0" dirty="0" err="1">
                <a:solidFill>
                  <a:srgbClr val="000000"/>
                </a:solidFill>
              </a:rPr>
              <a:t>具备联通条件</a:t>
            </a:r>
            <a:endParaRPr sz="3000" b="0" dirty="0">
              <a:solidFill>
                <a:srgbClr val="000000"/>
              </a:solidFill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92EEFEA-B353-4A31-AA00-17258B9593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265" y="993057"/>
            <a:ext cx="10756491" cy="5864943"/>
          </a:xfrm>
        </p:spPr>
        <p:txBody>
          <a:bodyPr>
            <a:normAutofit fontScale="85000" lnSpcReduction="20000"/>
          </a:bodyPr>
          <a:lstStyle/>
          <a:p>
            <a:pPr>
              <a:defRPr sz="1575" b="0">
                <a:solidFill>
                  <a:srgbClr val="444444"/>
                </a:solidFill>
              </a:defRPr>
            </a:pPr>
            <a:r>
              <a:rPr lang="en-US" altLang="zh-CN" sz="2200" b="0" dirty="0">
                <a:solidFill>
                  <a:srgbClr val="444444"/>
                </a:solidFill>
              </a:rPr>
              <a:t>A-B-E</a:t>
            </a:r>
            <a:r>
              <a:rPr lang="zh-CN" altLang="en-US" sz="2200" dirty="0">
                <a:solidFill>
                  <a:srgbClr val="444444"/>
                </a:solidFill>
              </a:rPr>
              <a:t>联通上下游交付</a:t>
            </a:r>
            <a:endParaRPr lang="en-US" altLang="zh-CN" sz="2200" dirty="0">
              <a:solidFill>
                <a:srgbClr val="444444"/>
              </a:solidFill>
            </a:endParaRPr>
          </a:p>
          <a:p>
            <a:pPr>
              <a:defRPr sz="1575" b="0">
                <a:solidFill>
                  <a:srgbClr val="444444"/>
                </a:solidFill>
              </a:defRPr>
            </a:pPr>
            <a:r>
              <a:rPr lang="zh-CN" altLang="en-US" sz="1900" dirty="0">
                <a:solidFill>
                  <a:srgbClr val="444444"/>
                </a:solidFill>
              </a:rPr>
              <a:t>目标：</a:t>
            </a:r>
            <a:r>
              <a:rPr lang="en-US" altLang="zh-CN" sz="1900" dirty="0">
                <a:solidFill>
                  <a:srgbClr val="444444"/>
                </a:solidFill>
              </a:rPr>
              <a:t>100%</a:t>
            </a:r>
          </a:p>
          <a:p>
            <a:pPr>
              <a:defRPr sz="1575" b="0">
                <a:solidFill>
                  <a:srgbClr val="444444"/>
                </a:solidFill>
              </a:defRPr>
            </a:pPr>
            <a:r>
              <a:rPr lang="zh-CN" altLang="en-US" sz="1900" b="0" dirty="0">
                <a:solidFill>
                  <a:srgbClr val="444444"/>
                </a:solidFill>
              </a:rPr>
              <a:t>过程：</a:t>
            </a:r>
            <a:endParaRPr lang="en-US" altLang="zh-CN" sz="1900" b="0" dirty="0">
              <a:solidFill>
                <a:srgbClr val="444444"/>
              </a:solidFill>
            </a:endParaRPr>
          </a:p>
          <a:p>
            <a:pPr>
              <a:defRPr sz="1575" b="0">
                <a:solidFill>
                  <a:srgbClr val="444444"/>
                </a:solidFill>
              </a:defRPr>
            </a:pPr>
            <a:r>
              <a:rPr sz="1575" b="0" dirty="0">
                <a:solidFill>
                  <a:srgbClr val="444444"/>
                </a:solidFill>
              </a:rPr>
              <a:t>A </a:t>
            </a:r>
            <a:r>
              <a:rPr sz="1575" b="0" dirty="0" err="1">
                <a:solidFill>
                  <a:srgbClr val="444444"/>
                </a:solidFill>
              </a:rPr>
              <a:t>OpinionModel</a:t>
            </a:r>
            <a:r>
              <a:rPr lang="zh-CN" altLang="en-US" sz="1575" b="0" dirty="0">
                <a:solidFill>
                  <a:srgbClr val="444444"/>
                </a:solidFill>
              </a:rPr>
              <a:t>：</a:t>
            </a:r>
            <a:endParaRPr sz="1575" b="0" dirty="0">
              <a:solidFill>
                <a:srgbClr val="444444"/>
              </a:solidFill>
            </a:endParaRPr>
          </a:p>
          <a:p>
            <a:pPr>
              <a:lnSpc>
                <a:spcPct val="120000"/>
              </a:lnSpc>
              <a:defRPr sz="1575" b="0">
                <a:solidFill>
                  <a:srgbClr val="444444"/>
                </a:solidFill>
              </a:defRPr>
            </a:pPr>
            <a:r>
              <a:rPr sz="1575" b="0" dirty="0">
                <a:solidFill>
                  <a:srgbClr val="444444"/>
                </a:solidFill>
              </a:rPr>
              <a:t>完成网络、调度、环境更新与DataCollector指标口径；可以接收Agent提交的ActionRecord，并输出avg_opinion、polarization、emotional_contagion等时序指标。</a:t>
            </a:r>
            <a:endParaRPr lang="en-US" sz="1575" b="0" dirty="0">
              <a:solidFill>
                <a:srgbClr val="444444"/>
              </a:solidFill>
            </a:endParaRPr>
          </a:p>
          <a:p>
            <a:pPr>
              <a:defRPr sz="1575" b="0">
                <a:solidFill>
                  <a:srgbClr val="444444"/>
                </a:solidFill>
              </a:defRPr>
            </a:pPr>
            <a:endParaRPr sz="1575" b="0" dirty="0">
              <a:solidFill>
                <a:srgbClr val="444444"/>
              </a:solidFill>
            </a:endParaRPr>
          </a:p>
          <a:p>
            <a:pPr>
              <a:defRPr sz="1575" b="0">
                <a:solidFill>
                  <a:srgbClr val="444444"/>
                </a:solidFill>
              </a:defRPr>
            </a:pPr>
            <a:r>
              <a:rPr sz="1575" b="0" dirty="0">
                <a:solidFill>
                  <a:srgbClr val="444444"/>
                </a:solidFill>
              </a:rPr>
              <a:t>B </a:t>
            </a:r>
            <a:r>
              <a:rPr sz="1575" b="0" dirty="0" err="1">
                <a:solidFill>
                  <a:srgbClr val="444444"/>
                </a:solidFill>
              </a:rPr>
              <a:t>SocialAgent</a:t>
            </a:r>
            <a:r>
              <a:rPr lang="zh-CN" altLang="en-US" sz="1575" b="0" dirty="0">
                <a:solidFill>
                  <a:srgbClr val="444444"/>
                </a:solidFill>
              </a:rPr>
              <a:t>：</a:t>
            </a:r>
            <a:endParaRPr sz="1575" b="0" dirty="0">
              <a:solidFill>
                <a:srgbClr val="444444"/>
              </a:solidFill>
            </a:endParaRPr>
          </a:p>
          <a:p>
            <a:pPr>
              <a:defRPr sz="1575" b="0">
                <a:solidFill>
                  <a:srgbClr val="444444"/>
                </a:solidFill>
              </a:defRPr>
            </a:pPr>
            <a:r>
              <a:rPr sz="1575" b="0" dirty="0" err="1">
                <a:solidFill>
                  <a:srgbClr val="444444"/>
                </a:solidFill>
              </a:rPr>
              <a:t>完成感知、记忆、信念更新、意图规划和行动执行链路；可以把发帖</a:t>
            </a:r>
            <a:r>
              <a:rPr sz="1575" b="0" dirty="0">
                <a:solidFill>
                  <a:srgbClr val="444444"/>
                </a:solidFill>
              </a:rPr>
              <a:t>/</a:t>
            </a:r>
            <a:r>
              <a:rPr sz="1575" b="0" dirty="0" err="1">
                <a:solidFill>
                  <a:srgbClr val="444444"/>
                </a:solidFill>
              </a:rPr>
              <a:t>评论</a:t>
            </a:r>
            <a:r>
              <a:rPr sz="1575" b="0" dirty="0">
                <a:solidFill>
                  <a:srgbClr val="444444"/>
                </a:solidFill>
              </a:rPr>
              <a:t>/</a:t>
            </a:r>
            <a:r>
              <a:rPr sz="1575" b="0" dirty="0" err="1">
                <a:solidFill>
                  <a:srgbClr val="444444"/>
                </a:solidFill>
              </a:rPr>
              <a:t>转发</a:t>
            </a:r>
            <a:r>
              <a:rPr sz="1575" b="0" dirty="0">
                <a:solidFill>
                  <a:srgbClr val="444444"/>
                </a:solidFill>
              </a:rPr>
              <a:t>/</a:t>
            </a:r>
            <a:r>
              <a:rPr sz="1575" b="0" dirty="0" err="1">
                <a:solidFill>
                  <a:srgbClr val="444444"/>
                </a:solidFill>
              </a:rPr>
              <a:t>点赞</a:t>
            </a:r>
            <a:r>
              <a:rPr sz="1575" b="0" dirty="0">
                <a:solidFill>
                  <a:srgbClr val="444444"/>
                </a:solidFill>
              </a:rPr>
              <a:t>/</a:t>
            </a:r>
            <a:r>
              <a:rPr sz="1575" b="0" dirty="0" err="1">
                <a:solidFill>
                  <a:srgbClr val="444444"/>
                </a:solidFill>
              </a:rPr>
              <a:t>沉默统一封装为ActionRecord</a:t>
            </a:r>
            <a:r>
              <a:rPr sz="1575" b="0" dirty="0">
                <a:solidFill>
                  <a:srgbClr val="444444"/>
                </a:solidFill>
              </a:rPr>
              <a:t>。</a:t>
            </a:r>
            <a:endParaRPr lang="en-US" sz="1575" b="0" dirty="0">
              <a:solidFill>
                <a:srgbClr val="444444"/>
              </a:solidFill>
            </a:endParaRPr>
          </a:p>
          <a:p>
            <a:pPr>
              <a:defRPr sz="1575" b="0">
                <a:solidFill>
                  <a:srgbClr val="444444"/>
                </a:solidFill>
              </a:defRPr>
            </a:pPr>
            <a:endParaRPr sz="1575" b="0" dirty="0">
              <a:solidFill>
                <a:srgbClr val="444444"/>
              </a:solidFill>
            </a:endParaRPr>
          </a:p>
          <a:p>
            <a:pPr>
              <a:defRPr sz="1575" b="0">
                <a:solidFill>
                  <a:srgbClr val="444444"/>
                </a:solidFill>
              </a:defRPr>
            </a:pPr>
            <a:r>
              <a:rPr sz="1575" b="0" dirty="0">
                <a:solidFill>
                  <a:srgbClr val="444444"/>
                </a:solidFill>
              </a:rPr>
              <a:t>E Utils</a:t>
            </a:r>
            <a:r>
              <a:rPr lang="zh-CN" altLang="en-US" sz="1575" b="0" dirty="0">
                <a:solidFill>
                  <a:srgbClr val="444444"/>
                </a:solidFill>
              </a:rPr>
              <a:t>：</a:t>
            </a:r>
            <a:endParaRPr sz="1575" b="0" dirty="0">
              <a:solidFill>
                <a:srgbClr val="444444"/>
              </a:solidFill>
            </a:endParaRPr>
          </a:p>
          <a:p>
            <a:pPr>
              <a:defRPr sz="1575" b="0">
                <a:solidFill>
                  <a:srgbClr val="444444"/>
                </a:solidFill>
              </a:defRPr>
            </a:pPr>
            <a:r>
              <a:rPr sz="1575" b="0" dirty="0" err="1">
                <a:solidFill>
                  <a:srgbClr val="444444"/>
                </a:solidFill>
              </a:rPr>
              <a:t>完成配置读取、结果保存、趋势图</a:t>
            </a:r>
            <a:r>
              <a:rPr sz="1575" b="0" dirty="0">
                <a:solidFill>
                  <a:srgbClr val="444444"/>
                </a:solidFill>
              </a:rPr>
              <a:t>/</a:t>
            </a:r>
            <a:r>
              <a:rPr sz="1575" b="0" dirty="0" err="1">
                <a:solidFill>
                  <a:srgbClr val="444444"/>
                </a:solidFill>
              </a:rPr>
              <a:t>Dashboard读取逻辑；可以直接消费A输出的metrics，形成CSV</a:t>
            </a:r>
            <a:r>
              <a:rPr sz="1575" b="0" dirty="0">
                <a:solidFill>
                  <a:srgbClr val="444444"/>
                </a:solidFill>
              </a:rPr>
              <a:t>/</a:t>
            </a:r>
            <a:r>
              <a:rPr sz="1575" b="0" dirty="0" err="1">
                <a:solidFill>
                  <a:srgbClr val="444444"/>
                </a:solidFill>
              </a:rPr>
              <a:t>JSON与可视化结果</a:t>
            </a:r>
            <a:r>
              <a:rPr sz="1575" b="0" dirty="0">
                <a:solidFill>
                  <a:srgbClr val="444444"/>
                </a:solidFill>
              </a:rPr>
              <a:t>。</a:t>
            </a:r>
            <a:endParaRPr lang="en-US" sz="1575" b="0" dirty="0">
              <a:solidFill>
                <a:srgbClr val="444444"/>
              </a:solidFill>
            </a:endParaRPr>
          </a:p>
          <a:p>
            <a:pPr>
              <a:defRPr sz="1575" b="0">
                <a:solidFill>
                  <a:srgbClr val="444444"/>
                </a:solidFill>
              </a:defRPr>
            </a:pPr>
            <a:endParaRPr lang="en-US" altLang="zh-CN" sz="1575" dirty="0">
              <a:solidFill>
                <a:srgbClr val="444444"/>
              </a:solidFill>
            </a:endParaRPr>
          </a:p>
          <a:p>
            <a:pPr>
              <a:defRPr sz="1575" b="0">
                <a:solidFill>
                  <a:srgbClr val="444444"/>
                </a:solidFill>
              </a:defRPr>
            </a:pPr>
            <a:r>
              <a:rPr lang="zh-CN" altLang="en-US" sz="1575" dirty="0">
                <a:solidFill>
                  <a:srgbClr val="444444"/>
                </a:solidFill>
              </a:rPr>
              <a:t>下一步焦点</a:t>
            </a:r>
            <a:endParaRPr lang="zh-CN" altLang="en-US" sz="1700" dirty="0">
              <a:solidFill>
                <a:srgbClr val="444444"/>
              </a:solidFill>
            </a:endParaRPr>
          </a:p>
          <a:p>
            <a:pPr>
              <a:defRPr sz="1575" b="0">
                <a:solidFill>
                  <a:srgbClr val="444444"/>
                </a:solidFill>
              </a:defRPr>
            </a:pPr>
            <a:r>
              <a:rPr lang="zh-CN" altLang="en-US" sz="1575" dirty="0">
                <a:solidFill>
                  <a:srgbClr val="444444"/>
                </a:solidFill>
              </a:rPr>
              <a:t>先做 </a:t>
            </a:r>
            <a:r>
              <a:rPr lang="en-US" altLang="zh-CN" sz="1575" dirty="0">
                <a:solidFill>
                  <a:srgbClr val="444444"/>
                </a:solidFill>
              </a:rPr>
              <a:t>A-B-E </a:t>
            </a:r>
            <a:r>
              <a:rPr lang="zh-CN" altLang="en-US" sz="1575" dirty="0">
                <a:solidFill>
                  <a:srgbClr val="444444"/>
                </a:solidFill>
              </a:rPr>
              <a:t>联通协调，让</a:t>
            </a:r>
            <a:r>
              <a:rPr lang="en-US" altLang="zh-CN" sz="1575" dirty="0">
                <a:solidFill>
                  <a:srgbClr val="444444"/>
                </a:solidFill>
              </a:rPr>
              <a:t>Agent</a:t>
            </a:r>
            <a:r>
              <a:rPr lang="zh-CN" altLang="en-US" sz="1575" dirty="0">
                <a:solidFill>
                  <a:srgbClr val="444444"/>
                </a:solidFill>
              </a:rPr>
              <a:t>行动、模型环境、结果导出形成最小闭环。</a:t>
            </a:r>
            <a:endParaRPr lang="en-US" altLang="zh-CN" sz="1575" dirty="0">
              <a:solidFill>
                <a:srgbClr val="444444"/>
              </a:solidFill>
            </a:endParaRPr>
          </a:p>
          <a:p>
            <a:pPr>
              <a:defRPr sz="1575" b="0">
                <a:solidFill>
                  <a:srgbClr val="444444"/>
                </a:solidFill>
              </a:defRPr>
            </a:pPr>
            <a:r>
              <a:rPr lang="zh-CN" altLang="en-US" sz="1900" dirty="0">
                <a:solidFill>
                  <a:srgbClr val="444444"/>
                </a:solidFill>
              </a:rPr>
              <a:t>成果：</a:t>
            </a:r>
            <a:r>
              <a:rPr lang="en-US" altLang="zh-CN" sz="1900" dirty="0">
                <a:solidFill>
                  <a:srgbClr val="444444"/>
                </a:solidFill>
              </a:rPr>
              <a:t>70%</a:t>
            </a:r>
          </a:p>
          <a:p>
            <a:pPr>
              <a:defRPr sz="1575" b="0">
                <a:solidFill>
                  <a:srgbClr val="444444"/>
                </a:solidFill>
              </a:defRPr>
            </a:pPr>
            <a:endParaRPr lang="en-US" sz="1575" dirty="0">
              <a:solidFill>
                <a:srgbClr val="444444"/>
              </a:solidFill>
            </a:endParaRPr>
          </a:p>
          <a:p>
            <a:pPr>
              <a:defRPr sz="1575" b="0">
                <a:solidFill>
                  <a:srgbClr val="444444"/>
                </a:solidFill>
              </a:defRPr>
            </a:pPr>
            <a:r>
              <a:rPr lang="en-US" altLang="zh-CN" sz="1600" b="0" dirty="0">
                <a:solidFill>
                  <a:srgbClr val="444444"/>
                </a:solidFill>
              </a:rPr>
              <a:t>A-B-E</a:t>
            </a:r>
            <a:r>
              <a:rPr lang="zh-CN" altLang="en-US" sz="1600" b="0" dirty="0">
                <a:solidFill>
                  <a:srgbClr val="444444"/>
                </a:solidFill>
              </a:rPr>
              <a:t>联通交付未完成原因（</a:t>
            </a:r>
            <a:r>
              <a:rPr lang="en-US" altLang="zh-CN" sz="1600" b="0" dirty="0">
                <a:solidFill>
                  <a:srgbClr val="444444"/>
                </a:solidFill>
              </a:rPr>
              <a:t>reason</a:t>
            </a:r>
            <a:r>
              <a:rPr lang="zh-CN" altLang="en-US" sz="1600" b="0" dirty="0">
                <a:solidFill>
                  <a:srgbClr val="444444"/>
                </a:solidFill>
              </a:rPr>
              <a:t>）：</a:t>
            </a:r>
            <a:endParaRPr lang="en-US" altLang="zh-CN" sz="1600" dirty="0">
              <a:solidFill>
                <a:srgbClr val="444444"/>
              </a:solidFill>
            </a:endParaRPr>
          </a:p>
          <a:p>
            <a:pPr marL="216000">
              <a:lnSpc>
                <a:spcPct val="120000"/>
              </a:lnSpc>
              <a:defRPr sz="1575" b="0">
                <a:solidFill>
                  <a:srgbClr val="444444"/>
                </a:solidFill>
              </a:defRPr>
            </a:pPr>
            <a:r>
              <a:rPr lang="zh-CN" altLang="zh-CN" sz="1600" dirty="0"/>
              <a:t>接口虽然定义好了，但真实数据格式还需要对齐</a:t>
            </a:r>
            <a:r>
              <a:rPr lang="zh-CN" altLang="en-US" sz="1600" dirty="0"/>
              <a:t>，</a:t>
            </a:r>
            <a:r>
              <a:rPr lang="zh-CN" altLang="zh-CN" sz="1600" dirty="0"/>
              <a:t>B 模块输出的是 ActionRecord，A 模块要接收它并更新环境，E 模块再读取 A 输出的 metrics。实际联通时，字段名、时间戳、tick、agent_id、action_type、opinion_value 这些细节必须完全一致，否则能单独运行的模块接在一起也会报错或结果不稳定。</a:t>
            </a:r>
            <a:endParaRPr sz="1600" dirty="0">
              <a:solidFill>
                <a:srgbClr val="44444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44517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51ADF23-CE96-4455-85FD-2A45479CF8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0">
                <a:solidFill>
                  <a:srgbClr val="000000"/>
                </a:solidFill>
              </a:defRPr>
            </a:pPr>
            <a:r>
              <a:rPr sz="3000" b="0">
                <a:solidFill>
                  <a:srgbClr val="000000"/>
                </a:solidFill>
              </a:rPr>
              <a:t>3 C/D模块完成独立验证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900E39B-99DE-42CF-B719-81C6EAB4EF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575" b="0">
                <a:solidFill>
                  <a:srgbClr val="444444"/>
                </a:solidFill>
              </a:defRPr>
            </a:pPr>
            <a:r>
              <a:rPr sz="1575" b="0" dirty="0">
                <a:solidFill>
                  <a:srgbClr val="444444"/>
                </a:solidFill>
              </a:rPr>
              <a:t>C </a:t>
            </a:r>
            <a:r>
              <a:rPr sz="1575" b="0" dirty="0" err="1">
                <a:solidFill>
                  <a:srgbClr val="444444"/>
                </a:solidFill>
              </a:rPr>
              <a:t>HawkesEngine</a:t>
            </a:r>
            <a:r>
              <a:rPr sz="1575" b="0" dirty="0">
                <a:solidFill>
                  <a:srgbClr val="444444"/>
                </a:solidFill>
              </a:rPr>
              <a:t> + </a:t>
            </a:r>
            <a:r>
              <a:rPr sz="1575" b="0" dirty="0" err="1">
                <a:solidFill>
                  <a:srgbClr val="444444"/>
                </a:solidFill>
              </a:rPr>
              <a:t>LLM工具链</a:t>
            </a:r>
            <a:r>
              <a:rPr lang="zh-CN" altLang="en-US" sz="1575" b="0" dirty="0">
                <a:solidFill>
                  <a:srgbClr val="444444"/>
                </a:solidFill>
              </a:rPr>
              <a:t>：</a:t>
            </a:r>
            <a:endParaRPr sz="1575" b="0" dirty="0">
              <a:solidFill>
                <a:srgbClr val="444444"/>
              </a:solidFill>
            </a:endParaRPr>
          </a:p>
          <a:p>
            <a:pPr>
              <a:defRPr sz="1575" b="0">
                <a:solidFill>
                  <a:srgbClr val="444444"/>
                </a:solidFill>
              </a:defRPr>
            </a:pPr>
            <a:r>
              <a:rPr sz="1575" b="0" dirty="0">
                <a:solidFill>
                  <a:srgbClr val="444444"/>
                </a:solidFill>
              </a:rPr>
              <a:t>完成事件强度intensity、下一事件时间采样sample_next_time、事件写入add_event；LLM侧完成setup_llm_client、build_prompt、parse_llm_response的工具链框架。</a:t>
            </a:r>
          </a:p>
          <a:p>
            <a:endParaRPr sz="1575" b="0" dirty="0">
              <a:solidFill>
                <a:srgbClr val="444444"/>
              </a:solidFill>
            </a:endParaRPr>
          </a:p>
          <a:p>
            <a:pPr>
              <a:defRPr sz="1575" b="0">
                <a:solidFill>
                  <a:srgbClr val="444444"/>
                </a:solidFill>
              </a:defRPr>
            </a:pPr>
            <a:r>
              <a:rPr sz="1575" b="0" dirty="0">
                <a:solidFill>
                  <a:srgbClr val="444444"/>
                </a:solidFill>
              </a:rPr>
              <a:t>D </a:t>
            </a:r>
            <a:r>
              <a:rPr sz="1575" b="0" dirty="0" err="1">
                <a:solidFill>
                  <a:srgbClr val="444444"/>
                </a:solidFill>
              </a:rPr>
              <a:t>StrategyEvaluator</a:t>
            </a:r>
            <a:r>
              <a:rPr lang="zh-CN" altLang="en-US" sz="1575" b="0" dirty="0">
                <a:solidFill>
                  <a:srgbClr val="444444"/>
                </a:solidFill>
              </a:rPr>
              <a:t>：</a:t>
            </a:r>
            <a:endParaRPr sz="1575" b="0" dirty="0">
              <a:solidFill>
                <a:srgbClr val="444444"/>
              </a:solidFill>
            </a:endParaRPr>
          </a:p>
          <a:p>
            <a:pPr>
              <a:defRPr sz="1575" b="0">
                <a:solidFill>
                  <a:srgbClr val="444444"/>
                </a:solidFill>
              </a:defRPr>
            </a:pPr>
            <a:r>
              <a:rPr sz="1575" b="0" dirty="0">
                <a:solidFill>
                  <a:srgbClr val="444444"/>
                </a:solidFill>
              </a:rPr>
              <a:t>完成set_baseline、apply_intervention、evaluate三类公开接口；支持事件注入、节点控制、平台参数调整三类官方干预，并按行为、内容、拓扑三维度输出评估结果。</a:t>
            </a:r>
          </a:p>
          <a:p>
            <a:endParaRPr sz="1575" b="0" dirty="0">
              <a:solidFill>
                <a:srgbClr val="444444"/>
              </a:solidFill>
            </a:endParaRPr>
          </a:p>
          <a:p>
            <a:pPr>
              <a:defRPr sz="1575" b="0">
                <a:solidFill>
                  <a:srgbClr val="444444"/>
                </a:solidFill>
              </a:defRPr>
            </a:pPr>
            <a:r>
              <a:rPr sz="1575" b="0" dirty="0" err="1">
                <a:solidFill>
                  <a:srgbClr val="444444"/>
                </a:solidFill>
              </a:rPr>
              <a:t>本周意义</a:t>
            </a:r>
            <a:r>
              <a:rPr lang="zh-CN" altLang="en-US" sz="1575" b="0" dirty="0">
                <a:solidFill>
                  <a:srgbClr val="444444"/>
                </a:solidFill>
              </a:rPr>
              <a:t>（</a:t>
            </a:r>
            <a:r>
              <a:rPr lang="en-US" altLang="zh-CN" sz="1575" b="0" dirty="0">
                <a:solidFill>
                  <a:srgbClr val="444444"/>
                </a:solidFill>
              </a:rPr>
              <a:t>reason</a:t>
            </a:r>
            <a:r>
              <a:rPr lang="zh-CN" altLang="en-US" sz="1575" b="0" dirty="0">
                <a:solidFill>
                  <a:srgbClr val="444444"/>
                </a:solidFill>
              </a:rPr>
              <a:t>）</a:t>
            </a:r>
            <a:endParaRPr sz="1575" b="0" dirty="0">
              <a:solidFill>
                <a:srgbClr val="444444"/>
              </a:solidFill>
            </a:endParaRPr>
          </a:p>
          <a:p>
            <a:pPr>
              <a:defRPr sz="1575" b="0">
                <a:solidFill>
                  <a:srgbClr val="444444"/>
                </a:solidFill>
              </a:defRPr>
            </a:pPr>
            <a:r>
              <a:rPr sz="1575" b="0" dirty="0">
                <a:solidFill>
                  <a:srgbClr val="444444"/>
                </a:solidFill>
              </a:rPr>
              <a:t>C/</a:t>
            </a:r>
            <a:r>
              <a:rPr sz="1575" b="0" dirty="0" err="1">
                <a:solidFill>
                  <a:srgbClr val="444444"/>
                </a:solidFill>
              </a:rPr>
              <a:t>D暂时不阻塞A-B-E最小闭环，但已经具备后续接入条件</a:t>
            </a:r>
            <a:r>
              <a:rPr sz="1575" b="0" dirty="0">
                <a:solidFill>
                  <a:srgbClr val="444444"/>
                </a:solidFill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9959051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416B11E-29F8-403F-8D69-D4848905C2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0">
                <a:solidFill>
                  <a:srgbClr val="000000"/>
                </a:solidFill>
              </a:defRPr>
            </a:pPr>
            <a:r>
              <a:rPr sz="3000" b="0" dirty="0" err="1">
                <a:solidFill>
                  <a:srgbClr val="000000"/>
                </a:solidFill>
              </a:rPr>
              <a:t>总结计划</a:t>
            </a:r>
            <a:r>
              <a:rPr sz="3000" b="0" dirty="0">
                <a:solidFill>
                  <a:srgbClr val="000000"/>
                </a:solidFill>
              </a:rPr>
              <a:t> summary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D0E64C9-7CA7-4E16-941C-D7F65ED78F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44285" y="1584325"/>
            <a:ext cx="4984115" cy="4351655"/>
          </a:xfrm>
        </p:spPr>
        <p:txBody>
          <a:bodyPr/>
          <a:lstStyle/>
          <a:p>
            <a:pPr>
              <a:defRPr sz="1500" b="0">
                <a:solidFill>
                  <a:srgbClr val="444444"/>
                </a:solidFill>
              </a:defRPr>
            </a:pPr>
            <a:r>
              <a:rPr sz="1500" b="0" dirty="0" err="1">
                <a:solidFill>
                  <a:srgbClr val="444444"/>
                </a:solidFill>
              </a:rPr>
              <a:t>下周计划</a:t>
            </a:r>
            <a:r>
              <a:rPr sz="1500" b="0" dirty="0">
                <a:solidFill>
                  <a:srgbClr val="444444"/>
                </a:solidFill>
              </a:rPr>
              <a:t> next week</a:t>
            </a:r>
          </a:p>
          <a:p>
            <a:pPr>
              <a:buNone/>
              <a:defRPr sz="1500" b="0">
                <a:solidFill>
                  <a:srgbClr val="444444"/>
                </a:solidFill>
              </a:defRPr>
            </a:pPr>
            <a:r>
              <a:rPr sz="1600" b="0" dirty="0">
                <a:solidFill>
                  <a:srgbClr val="444444"/>
                </a:solidFill>
              </a:rPr>
              <a:t>1 A-B-</a:t>
            </a:r>
            <a:r>
              <a:rPr sz="1600" b="0" dirty="0" err="1">
                <a:solidFill>
                  <a:srgbClr val="444444"/>
                </a:solidFill>
              </a:rPr>
              <a:t>E联通协调</a:t>
            </a:r>
            <a:r>
              <a:rPr lang="zh-CN" altLang="en-US" sz="1600" b="0" dirty="0">
                <a:solidFill>
                  <a:srgbClr val="444444"/>
                </a:solidFill>
              </a:rPr>
              <a:t>（续）</a:t>
            </a:r>
            <a:endParaRPr lang="en-US" altLang="zh-CN" sz="1600" b="0" dirty="0">
              <a:solidFill>
                <a:srgbClr val="444444"/>
              </a:solidFill>
            </a:endParaRPr>
          </a:p>
          <a:p>
            <a:pPr>
              <a:defRPr sz="1500" b="0">
                <a:solidFill>
                  <a:srgbClr val="444444"/>
                </a:solidFill>
              </a:defRPr>
            </a:pPr>
            <a:r>
              <a:rPr lang="en-US" sz="1600" dirty="0">
                <a:solidFill>
                  <a:srgbClr val="444444"/>
                </a:solidFill>
              </a:rPr>
              <a:t>2 </a:t>
            </a:r>
            <a:r>
              <a:rPr lang="zh-CN" altLang="zh-CN" sz="1500" dirty="0"/>
              <a:t>统一真实数据契约</a:t>
            </a:r>
            <a:r>
              <a:rPr lang="zh-CN" altLang="en-US" sz="1500" dirty="0"/>
              <a:t>，</a:t>
            </a:r>
            <a:r>
              <a:rPr lang="zh-CN" altLang="zh-CN" sz="1500" dirty="0"/>
              <a:t>完成最小闭环测试</a:t>
            </a:r>
            <a:r>
              <a:rPr lang="zh-CN" altLang="en-US" sz="1500" dirty="0"/>
              <a:t>再增加</a:t>
            </a:r>
            <a:r>
              <a:rPr lang="en-US" altLang="zh-CN" sz="1500" dirty="0"/>
              <a:t>agent</a:t>
            </a:r>
            <a:r>
              <a:rPr lang="zh-CN" altLang="en-US" sz="1500" dirty="0"/>
              <a:t>数量进行测试（</a:t>
            </a:r>
            <a:r>
              <a:rPr lang="zh-CN" altLang="zh-CN" sz="1500" dirty="0"/>
              <a:t>单 Agent / 少量 Agent → B 生成 ActionRecord → A 更新环境 → E 导出 CSV/JSON/图表</a:t>
            </a:r>
            <a:r>
              <a:rPr lang="zh-CN" altLang="en-US" sz="1500" dirty="0"/>
              <a:t>）</a:t>
            </a:r>
            <a:endParaRPr sz="1600" b="0" dirty="0">
              <a:solidFill>
                <a:srgbClr val="444444"/>
              </a:solidFill>
            </a:endParaRP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CF085796-31B2-4DED-A46B-4004087BEE44}"/>
              </a:ext>
            </a:extLst>
          </p:cNvPr>
          <p:cNvSpPr>
            <a:spLocks noGrp="1"/>
          </p:cNvSpPr>
          <p:nvPr/>
        </p:nvSpPr>
        <p:spPr>
          <a:xfrm>
            <a:off x="746760" y="1584325"/>
            <a:ext cx="4984115" cy="4351655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>
              <a:defRPr sz="1500" b="0">
                <a:solidFill>
                  <a:srgbClr val="444444"/>
                </a:solidFill>
              </a:defRPr>
            </a:pPr>
            <a:r>
              <a:rPr sz="2000" b="0" dirty="0" err="1">
                <a:solidFill>
                  <a:srgbClr val="444444"/>
                </a:solidFill>
              </a:rPr>
              <a:t>本周完成</a:t>
            </a:r>
            <a:r>
              <a:rPr sz="2000" b="0" dirty="0">
                <a:solidFill>
                  <a:srgbClr val="444444"/>
                </a:solidFill>
              </a:rPr>
              <a:t> this week</a:t>
            </a:r>
          </a:p>
          <a:p>
            <a:pPr marL="0" indent="0">
              <a:buNone/>
              <a:defRPr sz="1500" b="0">
                <a:solidFill>
                  <a:srgbClr val="444444"/>
                </a:solidFill>
              </a:defRPr>
            </a:pPr>
            <a:r>
              <a:rPr lang="en-US" altLang="zh-CN" sz="1600" dirty="0">
                <a:solidFill>
                  <a:srgbClr val="444444"/>
                </a:solidFill>
              </a:rPr>
              <a:t>1 A-E-B</a:t>
            </a:r>
            <a:r>
              <a:rPr lang="zh-CN" altLang="en-US" sz="1600" dirty="0">
                <a:solidFill>
                  <a:srgbClr val="444444"/>
                </a:solidFill>
              </a:rPr>
              <a:t>之间连接跑通 </a:t>
            </a:r>
            <a:r>
              <a:rPr lang="en-US" altLang="zh-CN" sz="1600" dirty="0">
                <a:solidFill>
                  <a:srgbClr val="444444"/>
                </a:solidFill>
              </a:rPr>
              <a:t>step/</a:t>
            </a:r>
            <a:r>
              <a:rPr lang="zh-CN" altLang="en-US" sz="1600" dirty="0">
                <a:solidFill>
                  <a:srgbClr val="444444"/>
                </a:solidFill>
              </a:rPr>
              <a:t>采样</a:t>
            </a:r>
            <a:r>
              <a:rPr lang="en-US" altLang="zh-CN" sz="1600" dirty="0">
                <a:solidFill>
                  <a:srgbClr val="444444"/>
                </a:solidFill>
              </a:rPr>
              <a:t>/LLM </a:t>
            </a:r>
            <a:r>
              <a:rPr lang="zh-CN" altLang="en-US" sz="1600" dirty="0">
                <a:solidFill>
                  <a:srgbClr val="444444"/>
                </a:solidFill>
              </a:rPr>
              <a:t>接口（</a:t>
            </a:r>
            <a:r>
              <a:rPr lang="en-US" altLang="zh-CN" sz="1600" dirty="0">
                <a:solidFill>
                  <a:srgbClr val="444444"/>
                </a:solidFill>
              </a:rPr>
              <a:t>50%</a:t>
            </a:r>
            <a:r>
              <a:rPr lang="zh-CN" altLang="en-US" sz="1600" dirty="0">
                <a:solidFill>
                  <a:srgbClr val="444444"/>
                </a:solidFill>
              </a:rPr>
              <a:t>）</a:t>
            </a:r>
          </a:p>
          <a:p>
            <a:pPr marL="0" indent="0">
              <a:buNone/>
              <a:defRPr sz="1500" b="0">
                <a:solidFill>
                  <a:srgbClr val="444444"/>
                </a:solidFill>
              </a:defRPr>
            </a:pPr>
            <a:r>
              <a:rPr lang="en-US" altLang="zh-CN" sz="1600" dirty="0">
                <a:solidFill>
                  <a:srgbClr val="444444"/>
                </a:solidFill>
              </a:rPr>
              <a:t>2 </a:t>
            </a:r>
            <a:r>
              <a:rPr lang="zh-CN" altLang="en-US" sz="1600" dirty="0">
                <a:solidFill>
                  <a:srgbClr val="444444"/>
                </a:solidFill>
              </a:rPr>
              <a:t>每人独立开发完整模块，闭环到底，同一数据流前后环节同人负责（</a:t>
            </a:r>
            <a:r>
              <a:rPr lang="en-US" altLang="zh-CN" sz="1600" dirty="0">
                <a:solidFill>
                  <a:srgbClr val="444444"/>
                </a:solidFill>
              </a:rPr>
              <a:t>100%</a:t>
            </a:r>
            <a:r>
              <a:rPr lang="zh-CN" altLang="en-US" sz="1600" dirty="0">
                <a:solidFill>
                  <a:srgbClr val="444444"/>
                </a:solidFill>
              </a:rPr>
              <a:t>）</a:t>
            </a:r>
          </a:p>
          <a:p>
            <a:pPr marL="0" indent="0">
              <a:buNone/>
              <a:defRPr sz="1500" b="0">
                <a:solidFill>
                  <a:srgbClr val="444444"/>
                </a:solidFill>
              </a:defRPr>
            </a:pPr>
            <a:r>
              <a:rPr lang="en-US" altLang="zh-CN" sz="1600" dirty="0">
                <a:solidFill>
                  <a:srgbClr val="444444"/>
                </a:solidFill>
              </a:rPr>
              <a:t>3 </a:t>
            </a:r>
            <a:r>
              <a:rPr lang="zh-CN" altLang="en-US" sz="1600" dirty="0">
                <a:solidFill>
                  <a:srgbClr val="444444"/>
                </a:solidFill>
              </a:rPr>
              <a:t>函数自测达标后即可交付下游，不等全系统完工（</a:t>
            </a:r>
            <a:r>
              <a:rPr lang="en-US" altLang="zh-CN" sz="1600" dirty="0">
                <a:solidFill>
                  <a:srgbClr val="444444"/>
                </a:solidFill>
              </a:rPr>
              <a:t>5</a:t>
            </a:r>
            <a:r>
              <a:rPr lang="en-US" altLang="zh-CN" sz="1600">
                <a:solidFill>
                  <a:srgbClr val="444444"/>
                </a:solidFill>
              </a:rPr>
              <a:t>0</a:t>
            </a:r>
            <a:r>
              <a:rPr lang="en-US" altLang="zh-CN" sz="1600" dirty="0">
                <a:solidFill>
                  <a:srgbClr val="444444"/>
                </a:solidFill>
              </a:rPr>
              <a:t>%</a:t>
            </a:r>
            <a:r>
              <a:rPr lang="zh-CN" altLang="en-US" sz="1600" dirty="0">
                <a:solidFill>
                  <a:srgbClr val="444444"/>
                </a:solidFill>
              </a:rPr>
              <a:t>）</a:t>
            </a:r>
          </a:p>
          <a:p>
            <a:pPr>
              <a:buNone/>
              <a:defRPr sz="1500" b="0">
                <a:solidFill>
                  <a:srgbClr val="444444"/>
                </a:solidFill>
              </a:defRPr>
            </a:pPr>
            <a:endParaRPr sz="1500" b="0" dirty="0">
              <a:solidFill>
                <a:srgbClr val="44444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05140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C358BE8-3886-550D-97D6-20E1A56D00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7555" y="137865"/>
            <a:ext cx="10515600" cy="1325563"/>
          </a:xfrm>
        </p:spPr>
        <p:txBody>
          <a:bodyPr>
            <a:normAutofit/>
          </a:bodyPr>
          <a:lstStyle/>
          <a:p>
            <a:r>
              <a:rPr lang="zh-CN" altLang="en-US" sz="4000" dirty="0"/>
              <a:t>模块独立开发测试图</a:t>
            </a:r>
            <a:r>
              <a:rPr lang="en-US" altLang="zh-CN" sz="4000" dirty="0"/>
              <a:t>1</a:t>
            </a:r>
            <a:endParaRPr lang="zh-CN" altLang="en-US" sz="4000" dirty="0"/>
          </a:p>
        </p:txBody>
      </p:sp>
      <p:pic>
        <p:nvPicPr>
          <p:cNvPr id="7" name="内容占位符 6">
            <a:extLst>
              <a:ext uri="{FF2B5EF4-FFF2-40B4-BE49-F238E27FC236}">
                <a16:creationId xmlns:a16="http://schemas.microsoft.com/office/drawing/2014/main" id="{B041C434-C1DB-4869-6B86-4505CC4E88B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154" y="1383498"/>
            <a:ext cx="7036367" cy="4351338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A6E6E105-BC48-11A4-C5C4-5F067C6A1404}"/>
              </a:ext>
            </a:extLst>
          </p:cNvPr>
          <p:cNvSpPr txBox="1"/>
          <p:nvPr/>
        </p:nvSpPr>
        <p:spPr>
          <a:xfrm>
            <a:off x="7941120" y="1383140"/>
            <a:ext cx="405784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A </a:t>
            </a:r>
            <a:r>
              <a:rPr lang="zh-CN" altLang="en-US" dirty="0"/>
              <a:t>模块 </a:t>
            </a:r>
            <a:r>
              <a:rPr lang="en-US" altLang="zh-CN" dirty="0" err="1"/>
              <a:t>OpinionModel</a:t>
            </a:r>
            <a:r>
              <a:rPr lang="en-US" altLang="zh-CN" dirty="0"/>
              <a:t> </a:t>
            </a:r>
            <a:r>
              <a:rPr lang="zh-CN" altLang="en-US" dirty="0"/>
              <a:t>的独立运行能力已经通过验证，同时它和其他核心模块（</a:t>
            </a:r>
            <a:r>
              <a:rPr lang="en-US" altLang="zh-CN" dirty="0"/>
              <a:t>B</a:t>
            </a:r>
            <a:r>
              <a:rPr lang="zh-CN" altLang="en-US" dirty="0"/>
              <a:t>、</a:t>
            </a:r>
            <a:r>
              <a:rPr lang="en-US" altLang="zh-CN" dirty="0"/>
              <a:t>C</a:t>
            </a:r>
            <a:r>
              <a:rPr lang="zh-CN" altLang="en-US" dirty="0"/>
              <a:t>）的接口兼容性也基本具备。代码没有出现明显的接口缺失、数据结构错误或运行崩溃问题，可以作为后续 </a:t>
            </a:r>
            <a:r>
              <a:rPr lang="en-US" altLang="zh-CN" dirty="0"/>
              <a:t>A-B-E </a:t>
            </a:r>
            <a:r>
              <a:rPr lang="zh-CN" altLang="en-US" dirty="0"/>
              <a:t>联通的基础。</a:t>
            </a:r>
          </a:p>
        </p:txBody>
      </p:sp>
    </p:spTree>
    <p:extLst>
      <p:ext uri="{BB962C8B-B14F-4D97-AF65-F5344CB8AC3E}">
        <p14:creationId xmlns:p14="http://schemas.microsoft.com/office/powerpoint/2010/main" val="1166457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844A5D-A70F-6EFA-CA11-EC98440F31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3600" dirty="0"/>
              <a:t>模块独立开发测试图</a:t>
            </a:r>
            <a:r>
              <a:rPr lang="en-US" altLang="zh-CN" sz="3600" dirty="0"/>
              <a:t>2</a:t>
            </a:r>
            <a:endParaRPr lang="zh-CN" altLang="en-US" sz="3600" dirty="0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FEE81295-ECE2-20DC-C632-DAE4779AB1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88378" y="1253331"/>
            <a:ext cx="7481416" cy="3974503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E066F75E-5B0F-2FBE-08DB-F4C25A74839D}"/>
              </a:ext>
            </a:extLst>
          </p:cNvPr>
          <p:cNvSpPr txBox="1"/>
          <p:nvPr/>
        </p:nvSpPr>
        <p:spPr>
          <a:xfrm>
            <a:off x="8410472" y="1166842"/>
            <a:ext cx="3486776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输出</a:t>
            </a:r>
            <a:r>
              <a:rPr lang="en-US" altLang="zh-CN" dirty="0"/>
              <a:t>tick</a:t>
            </a:r>
            <a:r>
              <a:rPr lang="zh-CN" altLang="en-US" dirty="0"/>
              <a:t>仿真的时间步、</a:t>
            </a:r>
            <a:r>
              <a:rPr lang="en-US" altLang="zh-CN" dirty="0" err="1"/>
              <a:t>avg_opinion</a:t>
            </a:r>
            <a:r>
              <a:rPr lang="zh-CN" altLang="en-US" dirty="0"/>
              <a:t>平均观点值、</a:t>
            </a:r>
            <a:r>
              <a:rPr lang="en-US" altLang="zh-CN" dirty="0"/>
              <a:t>polarization</a:t>
            </a:r>
            <a:r>
              <a:rPr lang="zh-CN" altLang="en-US" dirty="0"/>
              <a:t>观点极化程度、</a:t>
            </a:r>
            <a:r>
              <a:rPr lang="en-US" altLang="zh-CN" dirty="0" err="1"/>
              <a:t>emotional_contagion</a:t>
            </a:r>
            <a:r>
              <a:rPr lang="zh-CN" altLang="en-US" dirty="0"/>
              <a:t>情绪感染强度与</a:t>
            </a:r>
            <a:r>
              <a:rPr lang="en-US" altLang="zh-CN" dirty="0" err="1"/>
              <a:t>participation_rate</a:t>
            </a:r>
            <a:r>
              <a:rPr lang="zh-CN" altLang="en-US" dirty="0"/>
              <a:t>参与率等（均按照边界约束完成）。</a:t>
            </a:r>
            <a:r>
              <a:rPr lang="zh-CN" altLang="zh-CN" dirty="0"/>
              <a:t>可独立输出 CSV 与 JSON </a:t>
            </a:r>
            <a:r>
              <a:rPr lang="zh-CN" altLang="en-US" dirty="0"/>
              <a:t>数据</a:t>
            </a:r>
            <a:r>
              <a:rPr lang="zh-CN" altLang="zh-CN" dirty="0"/>
              <a:t>结果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590090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DFE9FB5-E7A9-4FE4-833C-93767AFE88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0">
                <a:solidFill>
                  <a:srgbClr val="000000"/>
                </a:solidFill>
              </a:defRPr>
            </a:pPr>
            <a:r>
              <a:rPr sz="3000" b="0" dirty="0">
                <a:solidFill>
                  <a:srgbClr val="000000"/>
                </a:solidFill>
              </a:rPr>
              <a:t>paper/chapter reading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28BB211F-2666-42C1-93B6-45DF60D73C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>
              <a:defRPr sz="1425" b="0">
                <a:solidFill>
                  <a:srgbClr val="444444"/>
                </a:solidFill>
              </a:defRPr>
            </a:pPr>
            <a:r>
              <a:rPr lang="en-US" sz="1425" b="0" dirty="0">
                <a:solidFill>
                  <a:srgbClr val="444444"/>
                </a:solidFill>
              </a:rPr>
              <a:t>M</a:t>
            </a:r>
            <a:r>
              <a:rPr sz="1425" b="0" dirty="0">
                <a:solidFill>
                  <a:srgbClr val="444444"/>
                </a:solidFill>
              </a:rPr>
              <a:t>otivation</a:t>
            </a:r>
            <a:r>
              <a:rPr lang="en-US" sz="1425" b="0" dirty="0">
                <a:solidFill>
                  <a:srgbClr val="444444"/>
                </a:solidFill>
              </a:rPr>
              <a:t> </a:t>
            </a:r>
            <a:r>
              <a:rPr lang="zh-CN" altLang="en-US" sz="1425" b="0" dirty="0">
                <a:solidFill>
                  <a:srgbClr val="444444"/>
                </a:solidFill>
              </a:rPr>
              <a:t>动机</a:t>
            </a:r>
            <a:endParaRPr sz="1425" b="0" dirty="0">
              <a:solidFill>
                <a:srgbClr val="444444"/>
              </a:solidFill>
            </a:endParaRPr>
          </a:p>
          <a:p>
            <a:pPr>
              <a:buNone/>
              <a:defRPr sz="1425" b="0">
                <a:solidFill>
                  <a:srgbClr val="444444"/>
                </a:solidFill>
              </a:defRPr>
            </a:pPr>
            <a:r>
              <a:rPr lang="zh-CN" altLang="en-US" sz="1425" b="0" dirty="0">
                <a:solidFill>
                  <a:srgbClr val="444444"/>
                </a:solidFill>
              </a:rPr>
              <a:t>本周</a:t>
            </a:r>
            <a:r>
              <a:rPr sz="1425" b="0" dirty="0" err="1">
                <a:solidFill>
                  <a:srgbClr val="444444"/>
                </a:solidFill>
              </a:rPr>
              <a:t>重点验证“接口先行”是否真的降低并行开发成本：五个模块可以各自完成，而不互相等待</a:t>
            </a:r>
            <a:r>
              <a:rPr sz="1425" b="0" dirty="0">
                <a:solidFill>
                  <a:srgbClr val="444444"/>
                </a:solidFill>
              </a:rPr>
              <a:t>。</a:t>
            </a:r>
          </a:p>
          <a:p>
            <a:pPr>
              <a:buNone/>
            </a:pPr>
            <a:endParaRPr sz="1425" b="0" dirty="0">
              <a:solidFill>
                <a:srgbClr val="444444"/>
              </a:solidFill>
            </a:endParaRPr>
          </a:p>
          <a:p>
            <a:pPr>
              <a:buNone/>
              <a:defRPr sz="1425" b="0">
                <a:solidFill>
                  <a:srgbClr val="444444"/>
                </a:solidFill>
              </a:defRPr>
            </a:pPr>
            <a:r>
              <a:rPr lang="en-US" altLang="zh-CN" sz="1425" b="0" dirty="0">
                <a:solidFill>
                  <a:srgbClr val="444444"/>
                </a:solidFill>
              </a:rPr>
              <a:t>Theory </a:t>
            </a:r>
            <a:r>
              <a:rPr sz="1425" b="0" dirty="0" err="1">
                <a:solidFill>
                  <a:srgbClr val="444444"/>
                </a:solidFill>
              </a:rPr>
              <a:t>理论</a:t>
            </a:r>
            <a:endParaRPr sz="1425" b="0" dirty="0">
              <a:solidFill>
                <a:srgbClr val="444444"/>
              </a:solidFill>
            </a:endParaRPr>
          </a:p>
          <a:p>
            <a:pPr>
              <a:buNone/>
              <a:defRPr sz="1425" b="0">
                <a:solidFill>
                  <a:srgbClr val="444444"/>
                </a:solidFill>
              </a:defRPr>
            </a:pPr>
            <a:r>
              <a:rPr sz="1425" b="0" dirty="0" err="1">
                <a:solidFill>
                  <a:srgbClr val="444444"/>
                </a:solidFill>
              </a:rPr>
              <a:t>敏捷迭代强调先完成可运行单元</a:t>
            </a:r>
            <a:r>
              <a:rPr lang="zh-CN" altLang="en-US" sz="1425" b="0" dirty="0">
                <a:solidFill>
                  <a:srgbClr val="444444"/>
                </a:solidFill>
              </a:rPr>
              <a:t>（即单</a:t>
            </a:r>
            <a:r>
              <a:rPr lang="en-US" altLang="zh-CN" sz="1425" b="0" dirty="0">
                <a:solidFill>
                  <a:srgbClr val="444444"/>
                </a:solidFill>
              </a:rPr>
              <a:t>agent</a:t>
            </a:r>
            <a:r>
              <a:rPr lang="zh-CN" altLang="en-US" sz="1425" b="0" dirty="0">
                <a:solidFill>
                  <a:srgbClr val="444444"/>
                </a:solidFill>
              </a:rPr>
              <a:t>）</a:t>
            </a:r>
            <a:r>
              <a:rPr sz="1425" b="0" dirty="0">
                <a:solidFill>
                  <a:srgbClr val="444444"/>
                </a:solidFill>
              </a:rPr>
              <a:t>，</a:t>
            </a:r>
            <a:r>
              <a:rPr sz="1425" b="0" dirty="0" err="1">
                <a:solidFill>
                  <a:srgbClr val="444444"/>
                </a:solidFill>
              </a:rPr>
              <a:t>再做联通；多Agent仿真中，调度层、Agent层、数据产出层的接口稳定性决定后续联调效率</a:t>
            </a:r>
            <a:r>
              <a:rPr sz="1425" b="0" dirty="0">
                <a:solidFill>
                  <a:srgbClr val="444444"/>
                </a:solidFill>
              </a:rPr>
              <a:t>。</a:t>
            </a:r>
          </a:p>
          <a:p>
            <a:pPr>
              <a:buNone/>
            </a:pPr>
            <a:endParaRPr sz="1425" b="0" dirty="0">
              <a:solidFill>
                <a:srgbClr val="444444"/>
              </a:solidFill>
            </a:endParaRPr>
          </a:p>
          <a:p>
            <a:pPr>
              <a:buNone/>
              <a:defRPr sz="1425" b="0">
                <a:solidFill>
                  <a:srgbClr val="444444"/>
                </a:solidFill>
              </a:defRPr>
            </a:pPr>
            <a:r>
              <a:rPr lang="en-US" altLang="zh-CN" sz="1425" b="0" dirty="0">
                <a:solidFill>
                  <a:srgbClr val="444444"/>
                </a:solidFill>
              </a:rPr>
              <a:t>Application </a:t>
            </a:r>
            <a:r>
              <a:rPr sz="1425" b="0" dirty="0" err="1">
                <a:solidFill>
                  <a:srgbClr val="444444"/>
                </a:solidFill>
              </a:rPr>
              <a:t>应用</a:t>
            </a:r>
            <a:endParaRPr sz="1425" b="0" dirty="0">
              <a:solidFill>
                <a:srgbClr val="444444"/>
              </a:solidFill>
            </a:endParaRPr>
          </a:p>
          <a:p>
            <a:pPr>
              <a:buNone/>
              <a:defRPr sz="1425" b="0">
                <a:solidFill>
                  <a:srgbClr val="444444"/>
                </a:solidFill>
              </a:defRPr>
            </a:pPr>
            <a:r>
              <a:rPr sz="1425" b="0" dirty="0" err="1">
                <a:solidFill>
                  <a:srgbClr val="444444"/>
                </a:solidFill>
              </a:rPr>
              <a:t>A-B-E最小闭环可以先证明：Agent行动能够进入模型环境，模型指标能够进入图表产出</a:t>
            </a:r>
            <a:r>
              <a:rPr sz="1425" b="0" dirty="0">
                <a:solidFill>
                  <a:srgbClr val="444444"/>
                </a:solidFill>
              </a:rPr>
              <a:t>。</a:t>
            </a:r>
          </a:p>
          <a:p>
            <a:pPr>
              <a:buNone/>
            </a:pPr>
            <a:endParaRPr sz="1425" b="0" dirty="0">
              <a:solidFill>
                <a:srgbClr val="444444"/>
              </a:solidFill>
            </a:endParaRPr>
          </a:p>
          <a:p>
            <a:pPr>
              <a:buNone/>
              <a:defRPr sz="1425" b="0">
                <a:solidFill>
                  <a:srgbClr val="444444"/>
                </a:solidFill>
              </a:defRPr>
            </a:pPr>
            <a:r>
              <a:rPr sz="1425" b="0" dirty="0">
                <a:solidFill>
                  <a:srgbClr val="444444"/>
                </a:solidFill>
              </a:rPr>
              <a:t>Methodology</a:t>
            </a:r>
            <a:r>
              <a:rPr lang="en-US" sz="1425" b="0" dirty="0">
                <a:solidFill>
                  <a:srgbClr val="444444"/>
                </a:solidFill>
              </a:rPr>
              <a:t> </a:t>
            </a:r>
            <a:r>
              <a:rPr lang="zh-CN" altLang="en-US" sz="1425" b="0" dirty="0">
                <a:solidFill>
                  <a:srgbClr val="444444"/>
                </a:solidFill>
              </a:rPr>
              <a:t>方法论</a:t>
            </a:r>
            <a:endParaRPr sz="1425" b="0" dirty="0">
              <a:solidFill>
                <a:srgbClr val="444444"/>
              </a:solidFill>
            </a:endParaRPr>
          </a:p>
          <a:p>
            <a:pPr>
              <a:buNone/>
              <a:defRPr sz="1425" b="0">
                <a:solidFill>
                  <a:srgbClr val="444444"/>
                </a:solidFill>
              </a:defRPr>
            </a:pPr>
            <a:r>
              <a:rPr sz="1425" b="0" dirty="0" err="1">
                <a:solidFill>
                  <a:srgbClr val="444444"/>
                </a:solidFill>
              </a:rPr>
              <a:t>先独立自测，再局部联通，再接入C的事件采样和D的干预评估，最后进行全系统压力测试</a:t>
            </a:r>
            <a:r>
              <a:rPr sz="1425" b="0" dirty="0">
                <a:solidFill>
                  <a:srgbClr val="444444"/>
                </a:solidFill>
              </a:rPr>
              <a:t>。</a:t>
            </a:r>
          </a:p>
          <a:p>
            <a:pPr>
              <a:buNone/>
            </a:pPr>
            <a:endParaRPr sz="1425" b="0" dirty="0">
              <a:solidFill>
                <a:srgbClr val="444444"/>
              </a:solidFill>
            </a:endParaRPr>
          </a:p>
          <a:p>
            <a:pPr>
              <a:buNone/>
              <a:defRPr sz="1425" b="0">
                <a:solidFill>
                  <a:srgbClr val="444444"/>
                </a:solidFill>
              </a:defRPr>
            </a:pPr>
            <a:r>
              <a:rPr sz="1425" b="0" dirty="0">
                <a:solidFill>
                  <a:srgbClr val="444444"/>
                </a:solidFill>
              </a:rPr>
              <a:t>my evaluation</a:t>
            </a:r>
            <a:r>
              <a:rPr lang="en-US" sz="1425" b="0" dirty="0">
                <a:solidFill>
                  <a:srgbClr val="444444"/>
                </a:solidFill>
              </a:rPr>
              <a:t> </a:t>
            </a:r>
            <a:r>
              <a:rPr lang="zh-CN" altLang="en-US" sz="1425" b="0" dirty="0">
                <a:solidFill>
                  <a:srgbClr val="444444"/>
                </a:solidFill>
              </a:rPr>
              <a:t>自我评价</a:t>
            </a:r>
            <a:endParaRPr sz="1425" b="0" dirty="0">
              <a:solidFill>
                <a:srgbClr val="444444"/>
              </a:solidFill>
            </a:endParaRPr>
          </a:p>
          <a:p>
            <a:pPr>
              <a:buNone/>
              <a:defRPr sz="1425" b="0">
                <a:solidFill>
                  <a:srgbClr val="444444"/>
                </a:solidFill>
              </a:defRPr>
            </a:pPr>
            <a:r>
              <a:rPr sz="1425" b="0" dirty="0" err="1">
                <a:solidFill>
                  <a:srgbClr val="444444"/>
                </a:solidFill>
              </a:rPr>
              <a:t>本周完成度较高，但真正风险转移到下周联通：数据字段、时间步tick、ActionRecord格式必须保持一致</a:t>
            </a:r>
            <a:r>
              <a:rPr lang="zh-CN" altLang="en-US" sz="1425" b="0" dirty="0">
                <a:solidFill>
                  <a:srgbClr val="444444"/>
                </a:solidFill>
              </a:rPr>
              <a:t>，以及是否符合交付下线标准</a:t>
            </a:r>
            <a:r>
              <a:rPr sz="1425" b="0" dirty="0">
                <a:solidFill>
                  <a:srgbClr val="444444"/>
                </a:solidFill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9136542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">
      <a:maj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">
      <a:maj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732</Words>
  <Application>Microsoft Office PowerPoint</Application>
  <DocSecurity>0</DocSecurity>
  <PresentationFormat>宽屏</PresentationFormat>
  <Paragraphs>81</Paragraphs>
  <Slides>9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1" baseType="lpstr">
      <vt:lpstr>Calibri</vt:lpstr>
      <vt:lpstr>Office 主题​​</vt:lpstr>
      <vt:lpstr>week 2 多智能体舆情处理系统</vt:lpstr>
      <vt:lpstr>进度Schedule</vt:lpstr>
      <vt:lpstr>1 本周整体结论 detail</vt:lpstr>
      <vt:lpstr>2 A/B/E模块独立完成且具备联通条件</vt:lpstr>
      <vt:lpstr>3 C/D模块完成独立验证</vt:lpstr>
      <vt:lpstr>总结计划 summary</vt:lpstr>
      <vt:lpstr>模块独立开发测试图1</vt:lpstr>
      <vt:lpstr>模块独立开发测试图2</vt:lpstr>
      <vt:lpstr>paper/chapter reading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旭东 何</cp:lastModifiedBy>
  <cp:revision>4</cp:revision>
  <dcterms:created xsi:type="dcterms:W3CDTF">2026-07-06T08:00:21Z</dcterms:created>
  <dcterms:modified xsi:type="dcterms:W3CDTF">2026-07-13T10:37:17Z</dcterms:modified>
</cp:coreProperties>
</file>