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9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65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6C4FE1-EDC4-4345-B736-9A1876A34F5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buNone/>
              <a:defRPr sz="6000"/>
            </a:lvl1pPr>
          </a:lstStyle>
          <a:p>
            <a:r>
              <a:t>单击此处添加标题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C8DC7C-0E9D-48C7-A0EB-EFAD0B32901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24E972B-9A2D-402C-8D71-8202D5AB66D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C69CB4-2F56-41A6-9726-FDBD151621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D046E52-2E62-4D84-B3A2-20AA5FD7227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单击此处添加副标题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53A8F5-7F6C-4787-982C-48678D543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>
            <a:normAutofit/>
          </a:bodyPr>
          <a:lstStyle>
            <a:lvl1pPr>
              <a:buNone/>
              <a:defRPr sz="4400" b="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74828B-89A1-4DB8-B1CD-017865693B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buNone/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7D4D1C-F560-4FD3-8577-7A4ED6B8D65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4ED4E08-973E-4296-B938-3D45FDE5046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6BD0643-81FE-4DC2-9723-E9CB77E4E05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DE7028-16F1-4254-8DF0-88AB29FCD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1576F35-0B0C-430F-B8CD-1BB07B5E7C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8E7DD8E-C769-499A-9152-648CF1E96B3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76D0959-711A-4A76-9109-B4782D6BCEE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371D35-9884-41E5-B10B-FECF85567C3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274954-7C1E-4943-9141-9887ADF4B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buNone/>
              <a:defRPr sz="4400" b="0" i="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8E0EDC-7651-4D60-8FF7-846A87738A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buNone/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B3CC9F9-6B8D-41C1-8400-87209CD617E6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buNone/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28DA08E-BCAB-41AC-B3E2-FE66C0D64DE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C2892BD-63D9-47B4-81BF-078CDEF0DF4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B44EF94-5501-4614-93EF-5A4C59BA579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A8B1A6-A780-438E-BD18-60E2ADE33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5B63956-3F7F-450D-8663-DF461FA291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B06DE7E-4E41-4258-842D-1B8D4D37D036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B0E53D1-F8CB-417E-93C6-1158D84FE091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F17C24E-863C-467A-A432-83C261AC4D37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CEF3CFA-5467-42C7-A153-1C25F8AFCA7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402B852-1FAD-48C8-AB82-2819A6F6802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23C1734-0AB1-4355-A280-2B3C53B4B81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549363-5B39-42E6-803F-A443718F4B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buNone/>
              <a:defRPr sz="4400" b="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2B9BF06-2F55-48C3-9917-7EE8C9634D5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AC72AD0-42D3-4E50-997A-81D354A8A04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1A34D4D-7467-449F-B6C3-30F018898B5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BA4A413-3840-4426-B0E4-FA98C70C9E9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E8CEB48-FC8B-41C9-857A-8C2D0F0AE25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89F2471-1DC1-4E12-9781-C2935CF638C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73B1DC-A06D-4FF6-B903-B51ABB3004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>
            <a:normAutofit/>
          </a:bodyPr>
          <a:lstStyle>
            <a:lvl1pPr>
              <a:buNone/>
              <a:defRPr sz="3200" b="0"/>
            </a:lvl1pPr>
          </a:lstStyle>
          <a:p>
            <a:r>
              <a:t>单击此处编辑标题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B92A374-A3BB-4051-A824-7B95899F19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87958B0-B536-43D6-B9FC-9122E526D07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478042A-A2FD-4E24-9640-9E391F88FF8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98E677F-4AA6-4AE6-A77A-0B7DD68A119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FCFB4EF-F6DB-439E-8D12-B9B9ACF8FB8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B356716-8A2E-4CA3-9290-50C012CE9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buNone/>
              <a:defRPr sz="44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713E569-4FF9-4AF2-89A8-405D5A6E2B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71A444-9A7F-43EF-82F6-CCD0D715325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8D397B-6155-4D5A-96AE-F86CCACFA37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09F8532-621C-465F-B8B7-9AFBE9FC714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376AF07-8A83-4EB5-AC84-03F9268353E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01BB61E-7174-497E-B78F-FF02F426E58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E5366F8-4C88-4EAF-8EE9-1F83B73E0FB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99FD5252-1783-445D-849E-4A653283C68A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30E3C01-9523-4B41-93D1-D23E4479D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F03CCA2-5D2F-45B5-8E1C-1813B74BCA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BD8372-26D3-4B7C-8AA9-8B6DEF8E5BB3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C39BA0-2E31-4E1E-B19E-6A76CF79A9E7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CFA8EEF-B2A8-45A3-8A83-FB138BE10D5C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E56372-6FBF-4B52-A2D8-63D569FFDB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>
              <a:defRPr sz="3300" b="0">
                <a:solidFill>
                  <a:srgbClr val="000000"/>
                </a:solidFill>
              </a:defRPr>
            </a:pPr>
            <a:r>
              <a:rPr sz="3300" b="0">
                <a:solidFill>
                  <a:srgbClr val="000000"/>
                </a:solidFill>
              </a:rPr>
              <a:t>week 1</a:t>
            </a:r>
          </a:p>
          <a:p>
            <a:pPr>
              <a:defRPr sz="3300" b="0">
                <a:solidFill>
                  <a:srgbClr val="000000"/>
                </a:solidFill>
              </a:defRPr>
            </a:pPr>
            <a:r>
              <a:rPr sz="3300" b="0">
                <a:solidFill>
                  <a:srgbClr val="000000"/>
                </a:solidFill>
              </a:rPr>
              <a:t>多智能体舆情处理系统</a:t>
            </a:r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FDDBF965-C0FE-4FB0-A697-885B30ECC9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808594"/>
          </a:xfrm>
        </p:spPr>
        <p:txBody>
          <a:bodyPr/>
          <a:lstStyle/>
          <a:p>
            <a:pPr>
              <a:defRPr sz="1650" b="0">
                <a:solidFill>
                  <a:srgbClr val="444444"/>
                </a:solidFill>
              </a:defRPr>
            </a:pPr>
            <a:r>
              <a:rPr sz="1650" b="0" dirty="0" err="1">
                <a:solidFill>
                  <a:srgbClr val="444444"/>
                </a:solidFill>
                <a:latin typeface="+mn-lt"/>
                <a:ea typeface="+mn-lt"/>
                <a:cs typeface="+mn-lt"/>
              </a:rPr>
              <a:t>接口定义周</a:t>
            </a:r>
            <a:r>
              <a:rPr sz="1650" b="0" dirty="0">
                <a:solidFill>
                  <a:srgbClr val="444444"/>
                </a:solidFill>
                <a:latin typeface="+mn-lt"/>
                <a:ea typeface="+mn-lt"/>
                <a:cs typeface="+mn-lt"/>
              </a:rPr>
              <a:t> / 0代码实现</a:t>
            </a:r>
            <a:endParaRPr lang="en-US" sz="1650" b="0" dirty="0">
              <a:solidFill>
                <a:srgbClr val="444444"/>
              </a:solidFill>
              <a:latin typeface="+mn-lt"/>
              <a:ea typeface="+mn-lt"/>
              <a:cs typeface="+mn-lt"/>
            </a:endParaRPr>
          </a:p>
          <a:p>
            <a:pPr>
              <a:defRPr sz="1650" b="0">
                <a:solidFill>
                  <a:srgbClr val="444444"/>
                </a:solidFill>
              </a:defRPr>
            </a:pPr>
            <a:r>
              <a:rPr lang="en-US" altLang="zh-CN" sz="1650" dirty="0">
                <a:solidFill>
                  <a:srgbClr val="444444"/>
                </a:solidFill>
                <a:latin typeface="+mn-lt"/>
                <a:ea typeface="+mn-lt"/>
                <a:cs typeface="+mn-lt"/>
              </a:rPr>
              <a:t>A </a:t>
            </a:r>
            <a:r>
              <a:rPr lang="zh-CN" altLang="en-US" sz="1650" dirty="0">
                <a:solidFill>
                  <a:srgbClr val="444444"/>
                </a:solidFill>
                <a:latin typeface="+mn-lt"/>
                <a:ea typeface="+mn-lt"/>
                <a:cs typeface="+mn-lt"/>
              </a:rPr>
              <a:t>陈佳欣 </a:t>
            </a:r>
            <a:r>
              <a:rPr lang="en-US" altLang="zh-CN" sz="1650" dirty="0">
                <a:solidFill>
                  <a:srgbClr val="444444"/>
                </a:solidFill>
                <a:latin typeface="+mn-lt"/>
                <a:ea typeface="+mn-lt"/>
                <a:cs typeface="+mn-lt"/>
              </a:rPr>
              <a:t>2471400</a:t>
            </a:r>
          </a:p>
          <a:p>
            <a:pPr>
              <a:defRPr sz="1650" b="0">
                <a:solidFill>
                  <a:srgbClr val="444444"/>
                </a:solidFill>
              </a:defRPr>
            </a:pPr>
            <a:r>
              <a:rPr lang="en-US" altLang="zh-CN" sz="1650" dirty="0">
                <a:solidFill>
                  <a:srgbClr val="444444"/>
                </a:solidFill>
                <a:latin typeface="+mn-lt"/>
                <a:ea typeface="+mn-lt"/>
                <a:cs typeface="+mn-lt"/>
              </a:rPr>
              <a:t>B </a:t>
            </a:r>
            <a:r>
              <a:rPr lang="zh-CN" altLang="en-US" sz="1650" dirty="0">
                <a:solidFill>
                  <a:srgbClr val="444444"/>
                </a:solidFill>
                <a:latin typeface="+mn-lt"/>
                <a:ea typeface="+mn-lt"/>
                <a:cs typeface="+mn-lt"/>
              </a:rPr>
              <a:t>张乐年 </a:t>
            </a:r>
            <a:r>
              <a:rPr lang="en-US" altLang="zh-CN" sz="1650" dirty="0">
                <a:solidFill>
                  <a:srgbClr val="444444"/>
                </a:solidFill>
                <a:latin typeface="+mn-lt"/>
                <a:ea typeface="+mn-lt"/>
                <a:cs typeface="+mn-lt"/>
              </a:rPr>
              <a:t>2471172</a:t>
            </a:r>
          </a:p>
          <a:p>
            <a:pPr>
              <a:defRPr sz="1650" b="0">
                <a:solidFill>
                  <a:srgbClr val="444444"/>
                </a:solidFill>
              </a:defRPr>
            </a:pPr>
            <a:r>
              <a:rPr lang="en-US" altLang="zh-CN" sz="1650" dirty="0">
                <a:solidFill>
                  <a:srgbClr val="444444"/>
                </a:solidFill>
                <a:latin typeface="+mn-lt"/>
                <a:ea typeface="+mn-lt"/>
                <a:cs typeface="+mn-lt"/>
              </a:rPr>
              <a:t>C </a:t>
            </a:r>
            <a:r>
              <a:rPr lang="zh-CN" altLang="en-US" sz="1650" dirty="0">
                <a:solidFill>
                  <a:srgbClr val="444444"/>
                </a:solidFill>
                <a:latin typeface="+mn-lt"/>
                <a:ea typeface="+mn-lt"/>
                <a:cs typeface="+mn-lt"/>
              </a:rPr>
              <a:t>石雨凡 </a:t>
            </a:r>
            <a:r>
              <a:rPr lang="en-US" altLang="zh-CN" sz="1650" dirty="0">
                <a:solidFill>
                  <a:srgbClr val="444444"/>
                </a:solidFill>
                <a:latin typeface="+mn-lt"/>
                <a:ea typeface="+mn-lt"/>
                <a:cs typeface="+mn-lt"/>
              </a:rPr>
              <a:t>2363487</a:t>
            </a:r>
          </a:p>
          <a:p>
            <a:pPr>
              <a:defRPr sz="1650" b="0">
                <a:solidFill>
                  <a:srgbClr val="444444"/>
                </a:solidFill>
              </a:defRPr>
            </a:pPr>
            <a:r>
              <a:rPr lang="en-US" altLang="zh-CN" sz="1650" dirty="0">
                <a:solidFill>
                  <a:srgbClr val="444444"/>
                </a:solidFill>
                <a:latin typeface="+mn-lt"/>
                <a:ea typeface="+mn-lt"/>
                <a:cs typeface="+mn-lt"/>
              </a:rPr>
              <a:t>D </a:t>
            </a:r>
            <a:r>
              <a:rPr lang="zh-CN" altLang="en-US" sz="1650" dirty="0">
                <a:solidFill>
                  <a:srgbClr val="444444"/>
                </a:solidFill>
                <a:latin typeface="+mn-lt"/>
                <a:ea typeface="+mn-lt"/>
                <a:cs typeface="+mn-lt"/>
              </a:rPr>
              <a:t>张峻烨 </a:t>
            </a:r>
            <a:r>
              <a:rPr lang="en-US" altLang="zh-CN" sz="1650" dirty="0">
                <a:solidFill>
                  <a:srgbClr val="444444"/>
                </a:solidFill>
                <a:latin typeface="+mn-lt"/>
                <a:ea typeface="+mn-lt"/>
                <a:cs typeface="+mn-lt"/>
              </a:rPr>
              <a:t>2471659</a:t>
            </a:r>
            <a:endParaRPr lang="zh-CN" altLang="en-US" sz="1650" dirty="0">
              <a:solidFill>
                <a:srgbClr val="444444"/>
              </a:solidFill>
              <a:latin typeface="+mn-lt"/>
              <a:ea typeface="+mn-lt"/>
              <a:cs typeface="+mn-lt"/>
            </a:endParaRPr>
          </a:p>
          <a:p>
            <a:pPr>
              <a:defRPr sz="1650" b="0">
                <a:solidFill>
                  <a:srgbClr val="444444"/>
                </a:solidFill>
              </a:defRPr>
            </a:pPr>
            <a:r>
              <a:rPr lang="en-US" altLang="zh-CN" sz="1650" dirty="0">
                <a:solidFill>
                  <a:srgbClr val="444444"/>
                </a:solidFill>
                <a:latin typeface="+mn-lt"/>
                <a:ea typeface="+mn-lt"/>
                <a:cs typeface="+mn-lt"/>
              </a:rPr>
              <a:t>E</a:t>
            </a:r>
            <a:r>
              <a:rPr lang="en-US" altLang="zh-CN" sz="1650" b="0" dirty="0">
                <a:solidFill>
                  <a:srgbClr val="444444"/>
                </a:solidFill>
                <a:latin typeface="+mn-lt"/>
                <a:ea typeface="+mn-lt"/>
                <a:cs typeface="+mn-lt"/>
              </a:rPr>
              <a:t> </a:t>
            </a:r>
            <a:r>
              <a:rPr lang="zh-CN" altLang="en-US" sz="1650" b="0" dirty="0">
                <a:solidFill>
                  <a:srgbClr val="444444"/>
                </a:solidFill>
                <a:latin typeface="+mn-lt"/>
                <a:ea typeface="+mn-lt"/>
                <a:cs typeface="+mn-lt"/>
              </a:rPr>
              <a:t>刘嘉铭 </a:t>
            </a:r>
            <a:r>
              <a:rPr lang="en-US" altLang="zh-CN" sz="1650" b="0" dirty="0">
                <a:solidFill>
                  <a:srgbClr val="444444"/>
                </a:solidFill>
                <a:latin typeface="+mn-lt"/>
                <a:ea typeface="+mn-lt"/>
                <a:cs typeface="+mn-lt"/>
              </a:rPr>
              <a:t>2471680</a:t>
            </a:r>
          </a:p>
        </p:txBody>
      </p:sp>
    </p:spTree>
    <p:extLst>
      <p:ext uri="{BB962C8B-B14F-4D97-AF65-F5344CB8AC3E}">
        <p14:creationId xmlns:p14="http://schemas.microsoft.com/office/powerpoint/2010/main" val="158288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0C4E7D-4C3A-4465-BB59-ED9F6F87F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0">
                <a:solidFill>
                  <a:srgbClr val="000000"/>
                </a:solidFill>
              </a:defRPr>
            </a:pPr>
            <a:r>
              <a:rPr sz="3000" b="0" dirty="0" err="1">
                <a:solidFill>
                  <a:srgbClr val="000000"/>
                </a:solidFill>
              </a:rPr>
              <a:t>进度Schedule</a:t>
            </a:r>
            <a:endParaRPr sz="3000" b="0" dirty="0">
              <a:solidFill>
                <a:srgbClr val="000000"/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2D64B75-F60D-47D1-B622-96B6D84D52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1825625"/>
            <a:ext cx="4984115" cy="4351655"/>
          </a:xfrm>
        </p:spPr>
        <p:txBody>
          <a:bodyPr/>
          <a:lstStyle/>
          <a:p>
            <a:pPr>
              <a:defRPr sz="1575" b="0">
                <a:solidFill>
                  <a:srgbClr val="444444"/>
                </a:solidFill>
              </a:defRPr>
            </a:pPr>
            <a:r>
              <a:rPr sz="1575" b="0" dirty="0">
                <a:solidFill>
                  <a:srgbClr val="444444"/>
                </a:solidFill>
              </a:rPr>
              <a:t>W1原计划 plan</a:t>
            </a:r>
          </a:p>
          <a:p>
            <a:pPr marL="0" indent="0">
              <a:defRPr sz="1575" b="0">
                <a:solidFill>
                  <a:srgbClr val="444444"/>
                </a:solidFill>
              </a:defRPr>
            </a:pPr>
            <a:r>
              <a:rPr lang="en-US" altLang="zh-CN" sz="1575" dirty="0">
                <a:solidFill>
                  <a:srgbClr val="444444"/>
                </a:solidFill>
              </a:rPr>
              <a:t>1 </a:t>
            </a:r>
            <a:r>
              <a:rPr lang="zh-CN" altLang="en-US" sz="1575" dirty="0">
                <a:solidFill>
                  <a:srgbClr val="444444"/>
                </a:solidFill>
              </a:rPr>
              <a:t>完成五人模块责任与接口契约</a:t>
            </a:r>
          </a:p>
          <a:p>
            <a:pPr>
              <a:defRPr sz="1575" b="0">
                <a:solidFill>
                  <a:srgbClr val="444444"/>
                </a:solidFill>
              </a:defRPr>
            </a:pPr>
            <a:r>
              <a:rPr lang="en-US" altLang="zh-CN" sz="1575" dirty="0">
                <a:solidFill>
                  <a:srgbClr val="444444"/>
                </a:solidFill>
              </a:rPr>
              <a:t>2</a:t>
            </a:r>
            <a:r>
              <a:rPr lang="zh-CN" altLang="en-US" sz="1575" dirty="0">
                <a:solidFill>
                  <a:srgbClr val="444444"/>
                </a:solidFill>
              </a:rPr>
              <a:t> 整理</a:t>
            </a:r>
            <a:r>
              <a:rPr lang="en-US" altLang="zh-CN" sz="1575" dirty="0">
                <a:solidFill>
                  <a:srgbClr val="444444"/>
                </a:solidFill>
              </a:rPr>
              <a:t>37</a:t>
            </a:r>
            <a:r>
              <a:rPr lang="zh-CN" altLang="en-US" sz="1575" dirty="0">
                <a:solidFill>
                  <a:srgbClr val="444444"/>
                </a:solidFill>
              </a:rPr>
              <a:t>个编号函数 </a:t>
            </a:r>
            <a:r>
              <a:rPr lang="en-US" altLang="zh-CN" sz="1575" dirty="0">
                <a:solidFill>
                  <a:srgbClr val="444444"/>
                </a:solidFill>
              </a:rPr>
              <a:t>+ 1</a:t>
            </a:r>
            <a:r>
              <a:rPr lang="zh-CN" altLang="en-US" sz="1575" dirty="0">
                <a:solidFill>
                  <a:srgbClr val="444444"/>
                </a:solidFill>
              </a:rPr>
              <a:t>个补充接口（</a:t>
            </a:r>
            <a:r>
              <a:rPr lang="en-US" altLang="zh-CN" sz="1575" dirty="0">
                <a:solidFill>
                  <a:srgbClr val="444444"/>
                </a:solidFill>
              </a:rPr>
              <a:t>sheet1</a:t>
            </a:r>
            <a:r>
              <a:rPr lang="zh-CN" altLang="en-US" sz="1575" dirty="0">
                <a:solidFill>
                  <a:srgbClr val="444444"/>
                </a:solidFill>
              </a:rPr>
              <a:t>）</a:t>
            </a:r>
          </a:p>
          <a:p>
            <a:pPr>
              <a:defRPr sz="1575" b="0">
                <a:solidFill>
                  <a:srgbClr val="444444"/>
                </a:solidFill>
              </a:defRPr>
            </a:pPr>
            <a:r>
              <a:rPr lang="en-US" altLang="zh-CN" sz="1575" dirty="0">
                <a:solidFill>
                  <a:srgbClr val="444444"/>
                </a:solidFill>
              </a:rPr>
              <a:t>3 </a:t>
            </a:r>
            <a:r>
              <a:rPr lang="zh-CN" altLang="en-US" sz="1575" dirty="0">
                <a:solidFill>
                  <a:srgbClr val="444444"/>
                </a:solidFill>
              </a:rPr>
              <a:t>定义</a:t>
            </a:r>
            <a:r>
              <a:rPr lang="en-US" altLang="zh-CN" sz="1575" dirty="0">
                <a:solidFill>
                  <a:srgbClr val="444444"/>
                </a:solidFill>
              </a:rPr>
              <a:t>Agent/Action/Intervention</a:t>
            </a:r>
            <a:r>
              <a:rPr lang="zh-CN" altLang="en-US" sz="1575" dirty="0">
                <a:solidFill>
                  <a:srgbClr val="444444"/>
                </a:solidFill>
              </a:rPr>
              <a:t>等核心类型（</a:t>
            </a:r>
            <a:r>
              <a:rPr lang="en-US" altLang="zh-CN" sz="1575" dirty="0">
                <a:solidFill>
                  <a:srgbClr val="444444"/>
                </a:solidFill>
              </a:rPr>
              <a:t>sheet2</a:t>
            </a:r>
            <a:r>
              <a:rPr lang="zh-CN" altLang="en-US" sz="1575" dirty="0">
                <a:solidFill>
                  <a:srgbClr val="444444"/>
                </a:solidFill>
              </a:rPr>
              <a:t>）</a:t>
            </a:r>
          </a:p>
          <a:p>
            <a:pPr>
              <a:defRPr sz="1575" b="0">
                <a:solidFill>
                  <a:srgbClr val="444444"/>
                </a:solidFill>
              </a:defRPr>
            </a:pPr>
            <a:r>
              <a:rPr lang="en-US" altLang="zh-CN" sz="1575" dirty="0">
                <a:solidFill>
                  <a:srgbClr val="444444"/>
                </a:solidFill>
              </a:rPr>
              <a:t>4 </a:t>
            </a:r>
            <a:r>
              <a:rPr lang="zh-CN" altLang="en-US" sz="1575" dirty="0">
                <a:solidFill>
                  <a:srgbClr val="444444"/>
                </a:solidFill>
              </a:rPr>
              <a:t>完成五模块闭环架构图与</a:t>
            </a:r>
            <a:r>
              <a:rPr lang="en-US" altLang="zh-CN" sz="1575" dirty="0">
                <a:solidFill>
                  <a:srgbClr val="444444"/>
                </a:solidFill>
              </a:rPr>
              <a:t>Sprint</a:t>
            </a:r>
            <a:r>
              <a:rPr lang="zh-CN" altLang="en-US" sz="1575" dirty="0">
                <a:solidFill>
                  <a:srgbClr val="444444"/>
                </a:solidFill>
              </a:rPr>
              <a:t>甘特图</a:t>
            </a:r>
          </a:p>
          <a:p>
            <a:pPr>
              <a:defRPr sz="1575" b="0">
                <a:solidFill>
                  <a:srgbClr val="444444"/>
                </a:solidFill>
              </a:defRPr>
            </a:pPr>
            <a:r>
              <a:rPr lang="en-US" altLang="zh-CN" sz="1575" dirty="0">
                <a:solidFill>
                  <a:srgbClr val="444444"/>
                </a:solidFill>
              </a:rPr>
              <a:t>5 </a:t>
            </a:r>
            <a:r>
              <a:rPr lang="zh-CN" altLang="en-US" sz="1575" dirty="0">
                <a:solidFill>
                  <a:srgbClr val="444444"/>
                </a:solidFill>
              </a:rPr>
              <a:t>完成</a:t>
            </a:r>
            <a:r>
              <a:rPr lang="en-US" altLang="zh-CN" sz="1575" dirty="0">
                <a:solidFill>
                  <a:srgbClr val="444444"/>
                </a:solidFill>
              </a:rPr>
              <a:t>S1-S5</a:t>
            </a:r>
            <a:r>
              <a:rPr lang="zh-CN" altLang="en-US" sz="1575" dirty="0">
                <a:solidFill>
                  <a:srgbClr val="444444"/>
                </a:solidFill>
              </a:rPr>
              <a:t>节奏与工时边界评估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D1F62FC4-1750-4A6D-8BCE-242600896E74}"/>
              </a:ext>
            </a:extLst>
          </p:cNvPr>
          <p:cNvSpPr>
            <a:spLocks noGrp="1"/>
          </p:cNvSpPr>
          <p:nvPr/>
        </p:nvSpPr>
        <p:spPr>
          <a:xfrm>
            <a:off x="6284706" y="1925132"/>
            <a:ext cx="4984115" cy="4351655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defRPr sz="1575" b="0">
                <a:solidFill>
                  <a:srgbClr val="444444"/>
                </a:solidFill>
              </a:defRPr>
            </a:pPr>
            <a:r>
              <a:rPr sz="1575" b="0" dirty="0" err="1">
                <a:solidFill>
                  <a:srgbClr val="444444"/>
                </a:solidFill>
              </a:rPr>
              <a:t>本周完成</a:t>
            </a:r>
            <a:r>
              <a:rPr sz="1575" b="0" dirty="0">
                <a:solidFill>
                  <a:srgbClr val="444444"/>
                </a:solidFill>
              </a:rPr>
              <a:t> this week</a:t>
            </a:r>
            <a:endParaRPr lang="en-US" sz="1575" b="0" dirty="0">
              <a:solidFill>
                <a:srgbClr val="444444"/>
              </a:solidFill>
            </a:endParaRPr>
          </a:p>
          <a:p>
            <a:pPr marL="0" indent="0">
              <a:buNone/>
              <a:defRPr sz="1575" b="0">
                <a:solidFill>
                  <a:srgbClr val="444444"/>
                </a:solidFill>
              </a:defRPr>
            </a:pPr>
            <a:r>
              <a:rPr lang="en-US" sz="1575" dirty="0">
                <a:solidFill>
                  <a:srgbClr val="444444"/>
                </a:solidFill>
              </a:rPr>
              <a:t>1 100%</a:t>
            </a:r>
          </a:p>
          <a:p>
            <a:pPr marL="0" indent="0">
              <a:buNone/>
              <a:defRPr sz="1575" b="0">
                <a:solidFill>
                  <a:srgbClr val="444444"/>
                </a:solidFill>
              </a:defRPr>
            </a:pPr>
            <a:r>
              <a:rPr lang="en-US" sz="1575" b="0" dirty="0">
                <a:solidFill>
                  <a:srgbClr val="444444"/>
                </a:solidFill>
              </a:rPr>
              <a:t>2 100%</a:t>
            </a:r>
          </a:p>
          <a:p>
            <a:pPr marL="0" indent="0">
              <a:buNone/>
              <a:defRPr sz="1575" b="0">
                <a:solidFill>
                  <a:srgbClr val="444444"/>
                </a:solidFill>
              </a:defRPr>
            </a:pPr>
            <a:r>
              <a:rPr lang="en-US" sz="1575" dirty="0">
                <a:solidFill>
                  <a:srgbClr val="444444"/>
                </a:solidFill>
              </a:rPr>
              <a:t>3 100%</a:t>
            </a:r>
          </a:p>
          <a:p>
            <a:pPr marL="0" indent="0">
              <a:buNone/>
              <a:defRPr sz="1575" b="0">
                <a:solidFill>
                  <a:srgbClr val="444444"/>
                </a:solidFill>
              </a:defRPr>
            </a:pPr>
            <a:r>
              <a:rPr lang="en-US" sz="1575" b="0" dirty="0">
                <a:solidFill>
                  <a:srgbClr val="444444"/>
                </a:solidFill>
              </a:rPr>
              <a:t>4 100%</a:t>
            </a:r>
          </a:p>
          <a:p>
            <a:pPr marL="0" indent="0">
              <a:buNone/>
              <a:defRPr sz="1575" b="0">
                <a:solidFill>
                  <a:srgbClr val="444444"/>
                </a:solidFill>
              </a:defRPr>
            </a:pPr>
            <a:r>
              <a:rPr lang="en-US" sz="1575" dirty="0">
                <a:solidFill>
                  <a:srgbClr val="444444"/>
                </a:solidFill>
              </a:rPr>
              <a:t>5 100%</a:t>
            </a:r>
            <a:endParaRPr lang="en-US" sz="1575" b="0" dirty="0">
              <a:solidFill>
                <a:srgbClr val="44444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23847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DA8E45-61E8-43AE-9EDA-9E21294B9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0">
                <a:solidFill>
                  <a:srgbClr val="000000"/>
                </a:solidFill>
              </a:defRPr>
            </a:pPr>
            <a:r>
              <a:rPr sz="3000" b="0" dirty="0">
                <a:solidFill>
                  <a:srgbClr val="000000"/>
                </a:solidFill>
              </a:rPr>
              <a:t>1 </a:t>
            </a:r>
            <a:r>
              <a:rPr sz="3000" b="0" dirty="0" err="1">
                <a:solidFill>
                  <a:srgbClr val="000000"/>
                </a:solidFill>
              </a:rPr>
              <a:t>本周定位与交付</a:t>
            </a:r>
            <a:r>
              <a:rPr sz="3000" b="0" dirty="0">
                <a:solidFill>
                  <a:srgbClr val="000000"/>
                </a:solidFill>
              </a:rPr>
              <a:t> detail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DB6AA5-C0F0-44C6-AD3B-E5FA4D5689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75" b="0">
                <a:solidFill>
                  <a:srgbClr val="444444"/>
                </a:solidFill>
              </a:defRPr>
            </a:pPr>
            <a:r>
              <a:rPr sz="1575" b="0" dirty="0" err="1">
                <a:solidFill>
                  <a:srgbClr val="444444"/>
                </a:solidFill>
              </a:rPr>
              <a:t>本周定位</a:t>
            </a:r>
            <a:endParaRPr sz="1575" b="0" dirty="0">
              <a:solidFill>
                <a:srgbClr val="444444"/>
              </a:solidFill>
            </a:endParaRPr>
          </a:p>
          <a:p>
            <a:pPr>
              <a:defRPr sz="1575" b="0">
                <a:solidFill>
                  <a:srgbClr val="444444"/>
                </a:solidFill>
              </a:defRPr>
            </a:pPr>
            <a:r>
              <a:rPr lang="zh-CN" altLang="en-US" sz="1575" dirty="0">
                <a:solidFill>
                  <a:srgbClr val="444444"/>
                </a:solidFill>
              </a:rPr>
              <a:t>将</a:t>
            </a:r>
            <a:r>
              <a:rPr sz="1575" b="0" dirty="0" err="1">
                <a:solidFill>
                  <a:srgbClr val="444444"/>
                </a:solidFill>
              </a:rPr>
              <a:t>后续并行开发所需的“共同语言</a:t>
            </a:r>
            <a:r>
              <a:rPr sz="1575" b="0" dirty="0">
                <a:solidFill>
                  <a:srgbClr val="444444"/>
                </a:solidFill>
              </a:rPr>
              <a:t>”</a:t>
            </a:r>
            <a:r>
              <a:rPr lang="zh-CN" altLang="en-US" sz="1575" b="0" dirty="0">
                <a:solidFill>
                  <a:srgbClr val="444444"/>
                </a:solidFill>
              </a:rPr>
              <a:t>敲定</a:t>
            </a:r>
            <a:r>
              <a:rPr sz="1575" b="0" dirty="0">
                <a:solidFill>
                  <a:srgbClr val="444444"/>
                </a:solidFill>
              </a:rPr>
              <a:t>：</a:t>
            </a:r>
            <a:r>
              <a:rPr sz="1575" b="0" dirty="0" err="1">
                <a:solidFill>
                  <a:srgbClr val="444444"/>
                </a:solidFill>
              </a:rPr>
              <a:t>架构、数据、接口、测试口径</a:t>
            </a:r>
            <a:r>
              <a:rPr sz="1575" b="0" dirty="0">
                <a:solidFill>
                  <a:srgbClr val="444444"/>
                </a:solidFill>
              </a:rPr>
              <a:t>。</a:t>
            </a:r>
          </a:p>
          <a:p>
            <a:endParaRPr sz="1575" b="0" dirty="0">
              <a:solidFill>
                <a:srgbClr val="444444"/>
              </a:solidFill>
            </a:endParaRPr>
          </a:p>
          <a:p>
            <a:pPr>
              <a:defRPr sz="1575" b="0">
                <a:solidFill>
                  <a:srgbClr val="444444"/>
                </a:solidFill>
              </a:defRPr>
            </a:pPr>
            <a:r>
              <a:rPr sz="1575" b="0" dirty="0" err="1">
                <a:solidFill>
                  <a:srgbClr val="444444"/>
                </a:solidFill>
              </a:rPr>
              <a:t>工作过程</a:t>
            </a:r>
            <a:endParaRPr sz="1575" b="0" dirty="0">
              <a:solidFill>
                <a:srgbClr val="444444"/>
              </a:solidFill>
            </a:endParaRPr>
          </a:p>
          <a:p>
            <a:pPr>
              <a:defRPr sz="1575" b="0">
                <a:solidFill>
                  <a:srgbClr val="444444"/>
                </a:solidFill>
              </a:defRPr>
            </a:pPr>
            <a:r>
              <a:rPr sz="1575" b="0" dirty="0" err="1">
                <a:solidFill>
                  <a:srgbClr val="444444"/>
                </a:solidFill>
              </a:rPr>
              <a:t>全员共同开会，由</a:t>
            </a:r>
            <a:r>
              <a:rPr lang="en-US" altLang="zh-CN" sz="1575" b="0" dirty="0" err="1">
                <a:solidFill>
                  <a:srgbClr val="444444"/>
                </a:solidFill>
              </a:rPr>
              <a:t>B</a:t>
            </a:r>
            <a:r>
              <a:rPr sz="1575" b="0" dirty="0" err="1">
                <a:solidFill>
                  <a:srgbClr val="444444"/>
                </a:solidFill>
              </a:rPr>
              <a:t>牵头系统骨架，</a:t>
            </a:r>
            <a:r>
              <a:rPr lang="en-US" altLang="zh-CN" sz="1575" b="0" dirty="0" err="1">
                <a:solidFill>
                  <a:srgbClr val="444444"/>
                </a:solidFill>
              </a:rPr>
              <a:t>A</a:t>
            </a:r>
            <a:r>
              <a:rPr sz="1575" b="0" dirty="0">
                <a:solidFill>
                  <a:srgbClr val="444444"/>
                </a:solidFill>
              </a:rPr>
              <a:t>/C/D/</a:t>
            </a:r>
            <a:r>
              <a:rPr sz="1575" b="0" dirty="0" err="1">
                <a:solidFill>
                  <a:srgbClr val="444444"/>
                </a:solidFill>
              </a:rPr>
              <a:t>E分别从Agent、Hawkes+LLM、干预评估、结果产出反推接口</a:t>
            </a:r>
            <a:r>
              <a:rPr sz="1575" b="0" dirty="0">
                <a:solidFill>
                  <a:srgbClr val="444444"/>
                </a:solidFill>
              </a:rPr>
              <a:t>。</a:t>
            </a:r>
          </a:p>
          <a:p>
            <a:endParaRPr sz="1575" b="0" dirty="0">
              <a:solidFill>
                <a:srgbClr val="444444"/>
              </a:solidFill>
            </a:endParaRPr>
          </a:p>
          <a:p>
            <a:pPr>
              <a:defRPr sz="1575" b="0">
                <a:solidFill>
                  <a:srgbClr val="444444"/>
                </a:solidFill>
              </a:defRPr>
            </a:pPr>
            <a:r>
              <a:rPr sz="1575" b="0" dirty="0" err="1">
                <a:solidFill>
                  <a:srgbClr val="444444"/>
                </a:solidFill>
              </a:rPr>
              <a:t>交付成果</a:t>
            </a:r>
            <a:endParaRPr sz="1575" b="0" dirty="0">
              <a:solidFill>
                <a:srgbClr val="444444"/>
              </a:solidFill>
            </a:endParaRPr>
          </a:p>
          <a:p>
            <a:pPr>
              <a:defRPr sz="1575" b="0">
                <a:solidFill>
                  <a:srgbClr val="444444"/>
                </a:solidFill>
              </a:defRPr>
            </a:pPr>
            <a:r>
              <a:rPr sz="1575" b="0" dirty="0">
                <a:solidFill>
                  <a:srgbClr val="444444"/>
                </a:solidFill>
              </a:rPr>
              <a:t>架构图、37函数接口表、类型约定、Data </a:t>
            </a:r>
            <a:r>
              <a:rPr sz="1575" b="0" dirty="0" err="1">
                <a:solidFill>
                  <a:srgbClr val="444444"/>
                </a:solidFill>
              </a:rPr>
              <a:t>Transformation路径、五人分工规范</a:t>
            </a:r>
            <a:r>
              <a:rPr sz="1575" b="0" dirty="0">
                <a:solidFill>
                  <a:srgbClr val="444444"/>
                </a:solidFill>
              </a:rPr>
              <a:t>、</a:t>
            </a:r>
            <a:r>
              <a:rPr lang="zh-CN" altLang="en-US" sz="1575" b="0" dirty="0">
                <a:solidFill>
                  <a:srgbClr val="444444"/>
                </a:solidFill>
              </a:rPr>
              <a:t>数据流图、</a:t>
            </a:r>
            <a:r>
              <a:rPr sz="1575" b="0" dirty="0" err="1">
                <a:solidFill>
                  <a:srgbClr val="444444"/>
                </a:solidFill>
              </a:rPr>
              <a:t>Sprint甘特图</a:t>
            </a:r>
            <a:r>
              <a:rPr sz="1575" b="0" dirty="0">
                <a:solidFill>
                  <a:srgbClr val="444444"/>
                </a:solidFill>
              </a:rPr>
              <a:t>。</a:t>
            </a:r>
          </a:p>
          <a:p>
            <a:endParaRPr sz="1575" b="0" dirty="0">
              <a:solidFill>
                <a:srgbClr val="444444"/>
              </a:solidFill>
            </a:endParaRPr>
          </a:p>
          <a:p>
            <a:pPr>
              <a:defRPr sz="1575" b="0">
                <a:solidFill>
                  <a:srgbClr val="444444"/>
                </a:solidFill>
              </a:defRPr>
            </a:pPr>
            <a:r>
              <a:rPr sz="1575" b="0" dirty="0" err="1">
                <a:solidFill>
                  <a:srgbClr val="444444"/>
                </a:solidFill>
              </a:rPr>
              <a:t>推进价值</a:t>
            </a:r>
            <a:r>
              <a:rPr lang="zh-CN" altLang="en-US" sz="1575" b="0" dirty="0">
                <a:solidFill>
                  <a:srgbClr val="444444"/>
                </a:solidFill>
              </a:rPr>
              <a:t>（</a:t>
            </a:r>
            <a:r>
              <a:rPr lang="en-US" altLang="zh-CN" sz="1575" b="0" dirty="0">
                <a:solidFill>
                  <a:srgbClr val="444444"/>
                </a:solidFill>
              </a:rPr>
              <a:t>reason</a:t>
            </a:r>
            <a:r>
              <a:rPr lang="zh-CN" altLang="en-US" sz="1575" b="0" dirty="0">
                <a:solidFill>
                  <a:srgbClr val="444444"/>
                </a:solidFill>
              </a:rPr>
              <a:t>）</a:t>
            </a:r>
            <a:endParaRPr sz="1575" b="0" dirty="0">
              <a:solidFill>
                <a:srgbClr val="444444"/>
              </a:solidFill>
            </a:endParaRPr>
          </a:p>
          <a:p>
            <a:pPr>
              <a:defRPr sz="1575" b="0">
                <a:solidFill>
                  <a:srgbClr val="444444"/>
                </a:solidFill>
              </a:defRPr>
            </a:pPr>
            <a:r>
              <a:rPr sz="1575" b="0" dirty="0">
                <a:solidFill>
                  <a:srgbClr val="444444"/>
                </a:solidFill>
              </a:rPr>
              <a:t>第2周起可以按模块并行开发，减少签名反复变化和跨人对接成本。</a:t>
            </a:r>
          </a:p>
        </p:txBody>
      </p:sp>
    </p:spTree>
    <p:extLst>
      <p:ext uri="{BB962C8B-B14F-4D97-AF65-F5344CB8AC3E}">
        <p14:creationId xmlns:p14="http://schemas.microsoft.com/office/powerpoint/2010/main" val="17127566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F29F4E-2A44-4970-9DD7-850D5DAC2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0">
                <a:solidFill>
                  <a:srgbClr val="000000"/>
                </a:solidFill>
              </a:defRPr>
            </a:pPr>
            <a:r>
              <a:rPr sz="3000" b="0">
                <a:solidFill>
                  <a:srgbClr val="000000"/>
                </a:solidFill>
              </a:rPr>
              <a:t>2 系统分层架构 architecture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3EC7BE4-29ED-4638-A002-D3697B78B0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75" b="0">
                <a:solidFill>
                  <a:srgbClr val="444444"/>
                </a:solidFill>
              </a:defRPr>
            </a:pPr>
            <a:r>
              <a:rPr sz="1575" b="0" dirty="0" err="1">
                <a:solidFill>
                  <a:srgbClr val="444444"/>
                </a:solidFill>
              </a:rPr>
              <a:t>核心闭环</a:t>
            </a:r>
            <a:endParaRPr sz="1575" b="0" dirty="0">
              <a:solidFill>
                <a:srgbClr val="444444"/>
              </a:solidFill>
            </a:endParaRPr>
          </a:p>
          <a:p>
            <a:pPr>
              <a:defRPr sz="1575" b="0">
                <a:solidFill>
                  <a:srgbClr val="444444"/>
                </a:solidFill>
              </a:defRPr>
            </a:pPr>
            <a:r>
              <a:rPr sz="1575" b="0" dirty="0" err="1">
                <a:solidFill>
                  <a:srgbClr val="444444"/>
                </a:solidFill>
              </a:rPr>
              <a:t>OpinionModel负责调度与环境</a:t>
            </a:r>
            <a:r>
              <a:rPr lang="zh-CN" altLang="en-US" sz="1575" b="0" dirty="0">
                <a:solidFill>
                  <a:srgbClr val="444444"/>
                </a:solidFill>
              </a:rPr>
              <a:t>（</a:t>
            </a:r>
            <a:r>
              <a:rPr lang="en-US" altLang="zh-CN" sz="1575" b="0" dirty="0">
                <a:solidFill>
                  <a:srgbClr val="444444"/>
                </a:solidFill>
              </a:rPr>
              <a:t>A</a:t>
            </a:r>
            <a:r>
              <a:rPr lang="zh-CN" altLang="en-US" sz="1575" b="0" dirty="0">
                <a:solidFill>
                  <a:srgbClr val="444444"/>
                </a:solidFill>
              </a:rPr>
              <a:t>）</a:t>
            </a:r>
            <a:r>
              <a:rPr sz="1575" b="0" dirty="0">
                <a:solidFill>
                  <a:srgbClr val="444444"/>
                </a:solidFill>
              </a:rPr>
              <a:t>；</a:t>
            </a:r>
            <a:r>
              <a:rPr sz="1575" b="0" dirty="0" err="1">
                <a:solidFill>
                  <a:srgbClr val="444444"/>
                </a:solidFill>
              </a:rPr>
              <a:t>SocialAgent负责感知-记忆-信念-行动</a:t>
            </a:r>
            <a:r>
              <a:rPr lang="zh-CN" altLang="en-US" sz="1575" b="0" dirty="0">
                <a:solidFill>
                  <a:srgbClr val="444444"/>
                </a:solidFill>
              </a:rPr>
              <a:t>（</a:t>
            </a:r>
            <a:r>
              <a:rPr lang="en-US" altLang="zh-CN" sz="1575" b="0" dirty="0">
                <a:solidFill>
                  <a:srgbClr val="444444"/>
                </a:solidFill>
              </a:rPr>
              <a:t>B</a:t>
            </a:r>
            <a:r>
              <a:rPr lang="zh-CN" altLang="en-US" sz="1575" b="0" dirty="0">
                <a:solidFill>
                  <a:srgbClr val="444444"/>
                </a:solidFill>
              </a:rPr>
              <a:t>）</a:t>
            </a:r>
            <a:r>
              <a:rPr sz="1575" b="0" dirty="0">
                <a:solidFill>
                  <a:srgbClr val="444444"/>
                </a:solidFill>
              </a:rPr>
              <a:t>；</a:t>
            </a:r>
            <a:r>
              <a:rPr sz="1575" b="0" dirty="0" err="1">
                <a:solidFill>
                  <a:srgbClr val="444444"/>
                </a:solidFill>
              </a:rPr>
              <a:t>HawkesEngine负责事件强度采样</a:t>
            </a:r>
            <a:r>
              <a:rPr lang="zh-CN" altLang="en-US" sz="1575" b="0" dirty="0">
                <a:solidFill>
                  <a:srgbClr val="444444"/>
                </a:solidFill>
              </a:rPr>
              <a:t>（</a:t>
            </a:r>
            <a:r>
              <a:rPr lang="en-US" altLang="zh-CN" sz="1575" b="0" dirty="0">
                <a:solidFill>
                  <a:srgbClr val="444444"/>
                </a:solidFill>
              </a:rPr>
              <a:t>C</a:t>
            </a:r>
            <a:r>
              <a:rPr lang="zh-CN" altLang="en-US" sz="1575" b="0" dirty="0">
                <a:solidFill>
                  <a:srgbClr val="444444"/>
                </a:solidFill>
              </a:rPr>
              <a:t>）</a:t>
            </a:r>
            <a:r>
              <a:rPr sz="1575" b="0" dirty="0">
                <a:solidFill>
                  <a:srgbClr val="444444"/>
                </a:solidFill>
              </a:rPr>
              <a:t>；</a:t>
            </a:r>
            <a:r>
              <a:rPr sz="1575" b="0" dirty="0" err="1">
                <a:solidFill>
                  <a:srgbClr val="444444"/>
                </a:solidFill>
              </a:rPr>
              <a:t>LLM工具链负责Prompt与结构化解析</a:t>
            </a:r>
            <a:r>
              <a:rPr lang="zh-CN" altLang="en-US" sz="1575" b="0" dirty="0">
                <a:solidFill>
                  <a:srgbClr val="444444"/>
                </a:solidFill>
              </a:rPr>
              <a:t>（</a:t>
            </a:r>
            <a:r>
              <a:rPr lang="en-US" altLang="zh-CN" sz="1575" b="0" dirty="0">
                <a:solidFill>
                  <a:srgbClr val="444444"/>
                </a:solidFill>
              </a:rPr>
              <a:t>D</a:t>
            </a:r>
            <a:r>
              <a:rPr lang="zh-CN" altLang="en-US" sz="1575" b="0" dirty="0">
                <a:solidFill>
                  <a:srgbClr val="444444"/>
                </a:solidFill>
              </a:rPr>
              <a:t>）</a:t>
            </a:r>
            <a:r>
              <a:rPr sz="1575" b="0" dirty="0">
                <a:solidFill>
                  <a:srgbClr val="444444"/>
                </a:solidFill>
              </a:rPr>
              <a:t>；</a:t>
            </a:r>
            <a:r>
              <a:rPr sz="1575" b="0" dirty="0" err="1">
                <a:solidFill>
                  <a:srgbClr val="444444"/>
                </a:solidFill>
              </a:rPr>
              <a:t>StrategyEval负责干预对照；Utils负责配置、导出与可视化</a:t>
            </a:r>
            <a:r>
              <a:rPr lang="zh-CN" altLang="en-US" sz="1575" b="0" dirty="0">
                <a:solidFill>
                  <a:srgbClr val="444444"/>
                </a:solidFill>
              </a:rPr>
              <a:t>（</a:t>
            </a:r>
            <a:r>
              <a:rPr lang="en-US" altLang="zh-CN" sz="1575" b="0" dirty="0">
                <a:solidFill>
                  <a:srgbClr val="444444"/>
                </a:solidFill>
              </a:rPr>
              <a:t>E</a:t>
            </a:r>
            <a:r>
              <a:rPr lang="zh-CN" altLang="en-US" sz="1575" b="0" dirty="0">
                <a:solidFill>
                  <a:srgbClr val="444444"/>
                </a:solidFill>
              </a:rPr>
              <a:t>）</a:t>
            </a:r>
            <a:r>
              <a:rPr sz="1575" b="0" dirty="0">
                <a:solidFill>
                  <a:srgbClr val="444444"/>
                </a:solidFill>
              </a:rPr>
              <a:t>。</a:t>
            </a:r>
          </a:p>
          <a:p>
            <a:endParaRPr sz="1575" b="0" dirty="0">
              <a:solidFill>
                <a:srgbClr val="444444"/>
              </a:solidFill>
            </a:endParaRPr>
          </a:p>
          <a:p>
            <a:pPr>
              <a:defRPr sz="1575" b="0">
                <a:solidFill>
                  <a:srgbClr val="444444"/>
                </a:solidFill>
              </a:defRPr>
            </a:pPr>
            <a:r>
              <a:rPr sz="1575" b="0" dirty="0" err="1">
                <a:solidFill>
                  <a:srgbClr val="444444"/>
                </a:solidFill>
              </a:rPr>
              <a:t>数据流</a:t>
            </a:r>
            <a:endParaRPr sz="1575" b="0" dirty="0">
              <a:solidFill>
                <a:srgbClr val="444444"/>
              </a:solidFill>
            </a:endParaRPr>
          </a:p>
          <a:p>
            <a:pPr>
              <a:defRPr sz="1575" b="0">
                <a:solidFill>
                  <a:srgbClr val="444444"/>
                </a:solidFill>
              </a:defRPr>
            </a:pPr>
            <a:r>
              <a:rPr sz="1575" b="0" dirty="0">
                <a:solidFill>
                  <a:srgbClr val="444444"/>
                </a:solidFill>
              </a:rPr>
              <a:t>config → model/network → perception → memory/belief → intention/action → </a:t>
            </a:r>
            <a:r>
              <a:rPr sz="1575" b="0" dirty="0" err="1">
                <a:solidFill>
                  <a:srgbClr val="444444"/>
                </a:solidFill>
              </a:rPr>
              <a:t>hawkes</a:t>
            </a:r>
            <a:r>
              <a:rPr sz="1575" b="0" dirty="0">
                <a:solidFill>
                  <a:srgbClr val="444444"/>
                </a:solidFill>
              </a:rPr>
              <a:t> event → metrics → intervention evaluation → charts/report。</a:t>
            </a:r>
          </a:p>
          <a:p>
            <a:endParaRPr sz="1575" b="0" dirty="0">
              <a:solidFill>
                <a:srgbClr val="444444"/>
              </a:solidFill>
            </a:endParaRPr>
          </a:p>
          <a:p>
            <a:pPr>
              <a:defRPr sz="1575" b="0">
                <a:solidFill>
                  <a:srgbClr val="444444"/>
                </a:solidFill>
              </a:defRPr>
            </a:pPr>
            <a:r>
              <a:rPr sz="1575" b="0" dirty="0" err="1">
                <a:solidFill>
                  <a:srgbClr val="444444"/>
                </a:solidFill>
              </a:rPr>
              <a:t>模块边界</a:t>
            </a:r>
            <a:endParaRPr sz="1575" b="0" dirty="0">
              <a:solidFill>
                <a:srgbClr val="444444"/>
              </a:solidFill>
            </a:endParaRPr>
          </a:p>
          <a:p>
            <a:pPr>
              <a:defRPr sz="1575" b="0">
                <a:solidFill>
                  <a:srgbClr val="444444"/>
                </a:solidFill>
              </a:defRPr>
            </a:pPr>
            <a:r>
              <a:rPr sz="1575" b="0" dirty="0">
                <a:solidFill>
                  <a:srgbClr val="444444"/>
                </a:solidFill>
              </a:rPr>
              <a:t>A</a:t>
            </a:r>
            <a:r>
              <a:rPr lang="zh-CN" altLang="en-US" sz="1575" b="0" dirty="0">
                <a:solidFill>
                  <a:srgbClr val="444444"/>
                </a:solidFill>
              </a:rPr>
              <a:t>：数据收集</a:t>
            </a:r>
            <a:r>
              <a:rPr sz="1575" b="0" dirty="0">
                <a:solidFill>
                  <a:srgbClr val="444444"/>
                </a:solidFill>
              </a:rPr>
              <a:t>；B</a:t>
            </a:r>
            <a:r>
              <a:rPr lang="zh-CN" altLang="en-US" sz="1575" b="0" dirty="0">
                <a:solidFill>
                  <a:srgbClr val="444444"/>
                </a:solidFill>
              </a:rPr>
              <a:t>：</a:t>
            </a:r>
            <a:r>
              <a:rPr sz="1575" b="0" dirty="0">
                <a:solidFill>
                  <a:srgbClr val="444444"/>
                </a:solidFill>
              </a:rPr>
              <a:t>BDI</a:t>
            </a:r>
            <a:r>
              <a:rPr lang="zh-CN" altLang="en-US" sz="1575" dirty="0">
                <a:solidFill>
                  <a:srgbClr val="444444"/>
                </a:solidFill>
              </a:rPr>
              <a:t>推理</a:t>
            </a:r>
            <a:r>
              <a:rPr sz="1575" b="0" dirty="0">
                <a:solidFill>
                  <a:srgbClr val="444444"/>
                </a:solidFill>
              </a:rPr>
              <a:t>；C</a:t>
            </a:r>
            <a:r>
              <a:rPr lang="zh-CN" altLang="en-US" sz="1575" b="0" dirty="0">
                <a:solidFill>
                  <a:srgbClr val="444444"/>
                </a:solidFill>
              </a:rPr>
              <a:t>：霍克斯引擎</a:t>
            </a:r>
            <a:r>
              <a:rPr sz="1575" b="0" dirty="0" err="1">
                <a:solidFill>
                  <a:srgbClr val="444444"/>
                </a:solidFill>
              </a:rPr>
              <a:t>与LLM胶水；D</a:t>
            </a:r>
            <a:r>
              <a:rPr lang="zh-CN" altLang="en-US" sz="1575" b="0" dirty="0">
                <a:solidFill>
                  <a:srgbClr val="444444"/>
                </a:solidFill>
              </a:rPr>
              <a:t>：官方</a:t>
            </a:r>
            <a:r>
              <a:rPr sz="1575" b="0" dirty="0" err="1">
                <a:solidFill>
                  <a:srgbClr val="444444"/>
                </a:solidFill>
              </a:rPr>
              <a:t>干预</a:t>
            </a:r>
            <a:r>
              <a:rPr lang="zh-CN" altLang="en-US" sz="1575" b="0" dirty="0">
                <a:solidFill>
                  <a:srgbClr val="444444"/>
                </a:solidFill>
              </a:rPr>
              <a:t>对照</a:t>
            </a:r>
            <a:r>
              <a:rPr sz="1575" b="0" dirty="0">
                <a:solidFill>
                  <a:srgbClr val="444444"/>
                </a:solidFill>
              </a:rPr>
              <a:t>；E</a:t>
            </a:r>
            <a:r>
              <a:rPr lang="zh-CN" altLang="en-US" sz="1575" b="0" dirty="0">
                <a:solidFill>
                  <a:srgbClr val="444444"/>
                </a:solidFill>
              </a:rPr>
              <a:t>：数据采集与可视化</a:t>
            </a:r>
            <a:r>
              <a:rPr sz="1575" b="0" dirty="0">
                <a:solidFill>
                  <a:srgbClr val="444444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8791151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DA8E45-61E8-43AE-9EDA-9E21294B9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0">
                <a:solidFill>
                  <a:srgbClr val="000000"/>
                </a:solidFill>
              </a:defRPr>
            </a:pPr>
            <a:r>
              <a:rPr sz="3000" b="0">
                <a:solidFill>
                  <a:srgbClr val="000000"/>
                </a:solidFill>
              </a:rPr>
              <a:t>3 16bit层级与数据结构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DB6AA5-C0F0-44C6-AD3B-E5FA4D5689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00" b="0">
                <a:solidFill>
                  <a:srgbClr val="444444"/>
                </a:solidFill>
              </a:defRPr>
            </a:pPr>
            <a:r>
              <a:rPr sz="1500" b="0" dirty="0">
                <a:solidFill>
                  <a:srgbClr val="444444"/>
                </a:solidFill>
              </a:rPr>
              <a:t>16bit层级格式</a:t>
            </a:r>
          </a:p>
          <a:p>
            <a:pPr>
              <a:defRPr sz="1500" b="0">
                <a:solidFill>
                  <a:srgbClr val="444444"/>
                </a:solidFill>
              </a:defRPr>
            </a:pPr>
            <a:r>
              <a:rPr sz="1500" b="0" dirty="0">
                <a:solidFill>
                  <a:srgbClr val="444444"/>
                </a:solidFill>
              </a:rPr>
              <a:t>高4bit=模块编号；中4bit=</a:t>
            </a:r>
            <a:r>
              <a:rPr sz="1500" b="0" dirty="0" err="1">
                <a:solidFill>
                  <a:srgbClr val="444444"/>
                </a:solidFill>
              </a:rPr>
              <a:t>对象</a:t>
            </a:r>
            <a:r>
              <a:rPr sz="1500" b="0" dirty="0">
                <a:solidFill>
                  <a:srgbClr val="444444"/>
                </a:solidFill>
              </a:rPr>
              <a:t>/子域；低8bit=</a:t>
            </a:r>
            <a:r>
              <a:rPr sz="1500" b="0" dirty="0" err="1">
                <a:solidFill>
                  <a:srgbClr val="444444"/>
                </a:solidFill>
              </a:rPr>
              <a:t>函数或字段序号</a:t>
            </a:r>
            <a:r>
              <a:rPr sz="1500" b="0" dirty="0">
                <a:solidFill>
                  <a:srgbClr val="444444"/>
                </a:solidFill>
              </a:rPr>
              <a:t>。</a:t>
            </a:r>
          </a:p>
          <a:p>
            <a:pPr>
              <a:defRPr sz="1500" b="0">
                <a:solidFill>
                  <a:srgbClr val="444444"/>
                </a:solidFill>
              </a:defRPr>
            </a:pPr>
            <a:r>
              <a:rPr sz="1500" b="0" dirty="0">
                <a:solidFill>
                  <a:srgbClr val="444444"/>
                </a:solidFill>
              </a:rPr>
              <a:t>示例：0x1206 = </a:t>
            </a:r>
            <a:r>
              <a:rPr sz="1500" b="0" dirty="0" err="1">
                <a:solidFill>
                  <a:srgbClr val="444444"/>
                </a:solidFill>
              </a:rPr>
              <a:t>SocialAgent</a:t>
            </a:r>
            <a:r>
              <a:rPr sz="1500" b="0" dirty="0">
                <a:solidFill>
                  <a:srgbClr val="444444"/>
                </a:solidFill>
              </a:rPr>
              <a:t> / Belief / _</a:t>
            </a:r>
            <a:r>
              <a:rPr sz="1500" b="0" dirty="0" err="1">
                <a:solidFill>
                  <a:srgbClr val="444444"/>
                </a:solidFill>
              </a:rPr>
              <a:t>update_beliefs</a:t>
            </a:r>
            <a:r>
              <a:rPr sz="1500" b="0" dirty="0">
                <a:solidFill>
                  <a:srgbClr val="444444"/>
                </a:solidFill>
              </a:rPr>
              <a:t>。</a:t>
            </a:r>
          </a:p>
          <a:p>
            <a:endParaRPr sz="1500" b="0" dirty="0">
              <a:solidFill>
                <a:srgbClr val="444444"/>
              </a:solidFill>
            </a:endParaRPr>
          </a:p>
          <a:p>
            <a:pPr>
              <a:defRPr sz="1500" b="0">
                <a:solidFill>
                  <a:srgbClr val="444444"/>
                </a:solidFill>
              </a:defRPr>
            </a:pPr>
            <a:r>
              <a:rPr sz="1500" b="0" dirty="0" err="1">
                <a:solidFill>
                  <a:srgbClr val="444444"/>
                </a:solidFill>
              </a:rPr>
              <a:t>关键枚举</a:t>
            </a:r>
            <a:endParaRPr sz="1500" b="0" dirty="0">
              <a:solidFill>
                <a:srgbClr val="444444"/>
              </a:solidFill>
            </a:endParaRPr>
          </a:p>
          <a:p>
            <a:pPr>
              <a:defRPr sz="1500" b="0">
                <a:solidFill>
                  <a:srgbClr val="444444"/>
                </a:solidFill>
              </a:defRPr>
            </a:pPr>
            <a:r>
              <a:rPr sz="1500" b="0" dirty="0" err="1">
                <a:solidFill>
                  <a:srgbClr val="444444"/>
                </a:solidFill>
              </a:rPr>
              <a:t>AgentType</a:t>
            </a:r>
            <a:r>
              <a:rPr sz="1500" b="0" dirty="0">
                <a:solidFill>
                  <a:srgbClr val="444444"/>
                </a:solidFill>
              </a:rPr>
              <a:t>: PUBLIC / OPINION_LEADER / MEDIA / OFFICIAL。</a:t>
            </a:r>
          </a:p>
          <a:p>
            <a:pPr>
              <a:defRPr sz="1500" b="0">
                <a:solidFill>
                  <a:srgbClr val="444444"/>
                </a:solidFill>
              </a:defRPr>
            </a:pPr>
            <a:r>
              <a:rPr sz="1500" b="0" dirty="0" err="1">
                <a:solidFill>
                  <a:srgbClr val="444444"/>
                </a:solidFill>
              </a:rPr>
              <a:t>ActionType</a:t>
            </a:r>
            <a:r>
              <a:rPr sz="1500" b="0" dirty="0">
                <a:solidFill>
                  <a:srgbClr val="444444"/>
                </a:solidFill>
              </a:rPr>
              <a:t>: POST / COMMENT / REPOST / LIKE / SILENT。</a:t>
            </a:r>
          </a:p>
          <a:p>
            <a:pPr>
              <a:defRPr sz="1500" b="0">
                <a:solidFill>
                  <a:srgbClr val="444444"/>
                </a:solidFill>
              </a:defRPr>
            </a:pPr>
            <a:r>
              <a:rPr sz="1500" b="0" dirty="0" err="1">
                <a:solidFill>
                  <a:srgbClr val="444444"/>
                </a:solidFill>
              </a:rPr>
              <a:t>InterventionType</a:t>
            </a:r>
            <a:r>
              <a:rPr sz="1500" b="0" dirty="0">
                <a:solidFill>
                  <a:srgbClr val="444444"/>
                </a:solidFill>
              </a:rPr>
              <a:t>: EVENT_INJECTION / NODE_CONTROL / PLATFORM_PARAM。</a:t>
            </a:r>
          </a:p>
          <a:p>
            <a:endParaRPr sz="1500" b="0" dirty="0">
              <a:solidFill>
                <a:srgbClr val="444444"/>
              </a:solidFill>
            </a:endParaRPr>
          </a:p>
          <a:p>
            <a:pPr>
              <a:defRPr sz="1500" b="0">
                <a:solidFill>
                  <a:srgbClr val="444444"/>
                </a:solidFill>
              </a:defRPr>
            </a:pPr>
            <a:r>
              <a:rPr sz="1500" b="0" dirty="0" err="1">
                <a:solidFill>
                  <a:srgbClr val="444444"/>
                </a:solidFill>
              </a:rPr>
              <a:t>核心结构</a:t>
            </a:r>
            <a:endParaRPr sz="1500" b="0" dirty="0">
              <a:solidFill>
                <a:srgbClr val="444444"/>
              </a:solidFill>
            </a:endParaRPr>
          </a:p>
          <a:p>
            <a:pPr>
              <a:defRPr sz="1500" b="0">
                <a:solidFill>
                  <a:srgbClr val="444444"/>
                </a:solidFill>
              </a:defRPr>
            </a:pPr>
            <a:r>
              <a:rPr sz="1500" b="0" dirty="0" err="1">
                <a:solidFill>
                  <a:srgbClr val="444444"/>
                </a:solidFill>
              </a:rPr>
              <a:t>BeliefSystem</a:t>
            </a:r>
            <a:r>
              <a:rPr sz="1500" b="0" dirty="0">
                <a:solidFill>
                  <a:srgbClr val="444444"/>
                </a:solidFill>
              </a:rPr>
              <a:t> = </a:t>
            </a:r>
            <a:r>
              <a:rPr sz="1500" b="0" dirty="0" err="1">
                <a:solidFill>
                  <a:srgbClr val="444444"/>
                </a:solidFill>
              </a:rPr>
              <a:t>IdentityBelief</a:t>
            </a:r>
            <a:r>
              <a:rPr sz="1500" b="0" dirty="0">
                <a:solidFill>
                  <a:srgbClr val="444444"/>
                </a:solidFill>
              </a:rPr>
              <a:t> + </a:t>
            </a:r>
            <a:r>
              <a:rPr sz="1500" b="0" dirty="0" err="1">
                <a:solidFill>
                  <a:srgbClr val="444444"/>
                </a:solidFill>
              </a:rPr>
              <a:t>PsychologyBelief</a:t>
            </a:r>
            <a:r>
              <a:rPr sz="1500" b="0" dirty="0">
                <a:solidFill>
                  <a:srgbClr val="444444"/>
                </a:solidFill>
              </a:rPr>
              <a:t> + </a:t>
            </a:r>
            <a:r>
              <a:rPr sz="1500" b="0" dirty="0" err="1">
                <a:solidFill>
                  <a:srgbClr val="444444"/>
                </a:solidFill>
              </a:rPr>
              <a:t>OpinionBelief</a:t>
            </a:r>
            <a:r>
              <a:rPr sz="1500" b="0" dirty="0">
                <a:solidFill>
                  <a:srgbClr val="444444"/>
                </a:solidFill>
              </a:rPr>
              <a:t> + </a:t>
            </a:r>
            <a:r>
              <a:rPr sz="1500" b="0" dirty="0" err="1">
                <a:solidFill>
                  <a:srgbClr val="444444"/>
                </a:solidFill>
              </a:rPr>
              <a:t>EmotionState</a:t>
            </a:r>
            <a:r>
              <a:rPr sz="1500" b="0" dirty="0">
                <a:solidFill>
                  <a:srgbClr val="444444"/>
                </a:solidFill>
              </a:rPr>
              <a:t>。</a:t>
            </a:r>
          </a:p>
          <a:p>
            <a:pPr>
              <a:defRPr sz="1500" b="0">
                <a:solidFill>
                  <a:srgbClr val="444444"/>
                </a:solidFill>
              </a:defRPr>
            </a:pPr>
            <a:r>
              <a:rPr sz="1500" b="0" dirty="0">
                <a:solidFill>
                  <a:srgbClr val="444444"/>
                </a:solidFill>
              </a:rPr>
              <a:t>Perception = </a:t>
            </a:r>
            <a:r>
              <a:rPr sz="1500" b="0" dirty="0" err="1">
                <a:solidFill>
                  <a:srgbClr val="444444"/>
                </a:solidFill>
              </a:rPr>
              <a:t>neighbor_actions</a:t>
            </a:r>
            <a:r>
              <a:rPr sz="1500" b="0" dirty="0">
                <a:solidFill>
                  <a:srgbClr val="444444"/>
                </a:solidFill>
              </a:rPr>
              <a:t> + </a:t>
            </a:r>
            <a:r>
              <a:rPr sz="1500" b="0" dirty="0" err="1">
                <a:solidFill>
                  <a:srgbClr val="444444"/>
                </a:solidFill>
              </a:rPr>
              <a:t>trending_topics</a:t>
            </a:r>
            <a:r>
              <a:rPr sz="1500" b="0" dirty="0">
                <a:solidFill>
                  <a:srgbClr val="444444"/>
                </a:solidFill>
              </a:rPr>
              <a:t> + mentions + tick。</a:t>
            </a:r>
          </a:p>
          <a:p>
            <a:pPr>
              <a:defRPr sz="1500" b="0">
                <a:solidFill>
                  <a:srgbClr val="444444"/>
                </a:solidFill>
              </a:defRPr>
            </a:pPr>
            <a:r>
              <a:rPr sz="1500" b="0" dirty="0" err="1">
                <a:solidFill>
                  <a:srgbClr val="444444"/>
                </a:solidFill>
              </a:rPr>
              <a:t>ActionRecord</a:t>
            </a:r>
            <a:r>
              <a:rPr sz="1500" b="0" dirty="0">
                <a:solidFill>
                  <a:srgbClr val="444444"/>
                </a:solidFill>
              </a:rPr>
              <a:t> = </a:t>
            </a:r>
            <a:r>
              <a:rPr sz="1500" b="0" dirty="0" err="1">
                <a:solidFill>
                  <a:srgbClr val="444444"/>
                </a:solidFill>
              </a:rPr>
              <a:t>agent_id</a:t>
            </a:r>
            <a:r>
              <a:rPr sz="1500" b="0" dirty="0">
                <a:solidFill>
                  <a:srgbClr val="444444"/>
                </a:solidFill>
              </a:rPr>
              <a:t> + </a:t>
            </a:r>
            <a:r>
              <a:rPr sz="1500" b="0" dirty="0" err="1">
                <a:solidFill>
                  <a:srgbClr val="444444"/>
                </a:solidFill>
              </a:rPr>
              <a:t>action_type</a:t>
            </a:r>
            <a:r>
              <a:rPr sz="1500" b="0" dirty="0">
                <a:solidFill>
                  <a:srgbClr val="444444"/>
                </a:solidFill>
              </a:rPr>
              <a:t> + content + </a:t>
            </a:r>
            <a:r>
              <a:rPr sz="1500" b="0" dirty="0" err="1">
                <a:solidFill>
                  <a:srgbClr val="444444"/>
                </a:solidFill>
              </a:rPr>
              <a:t>event_id</a:t>
            </a:r>
            <a:r>
              <a:rPr sz="1500" b="0" dirty="0">
                <a:solidFill>
                  <a:srgbClr val="444444"/>
                </a:solidFill>
              </a:rPr>
              <a:t> + </a:t>
            </a:r>
            <a:r>
              <a:rPr sz="1500" b="0" dirty="0" err="1">
                <a:solidFill>
                  <a:srgbClr val="444444"/>
                </a:solidFill>
              </a:rPr>
              <a:t>opinion_value</a:t>
            </a:r>
            <a:r>
              <a:rPr sz="1500" b="0" dirty="0">
                <a:solidFill>
                  <a:srgbClr val="444444"/>
                </a:solidFill>
              </a:rPr>
              <a:t> + timestamp。</a:t>
            </a:r>
          </a:p>
        </p:txBody>
      </p:sp>
    </p:spTree>
    <p:extLst>
      <p:ext uri="{BB962C8B-B14F-4D97-AF65-F5344CB8AC3E}">
        <p14:creationId xmlns:p14="http://schemas.microsoft.com/office/powerpoint/2010/main" val="17127566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DA8E45-61E8-43AE-9EDA-9E21294B9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0">
                <a:solidFill>
                  <a:srgbClr val="000000"/>
                </a:solidFill>
              </a:defRPr>
            </a:pPr>
            <a:r>
              <a:rPr sz="3000" b="0">
                <a:solidFill>
                  <a:srgbClr val="000000"/>
                </a:solidFill>
              </a:rPr>
              <a:t>4 Data Transformation设计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DB6AA5-C0F0-44C6-AD3B-E5FA4D5689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defRPr sz="1500" b="0">
                <a:solidFill>
                  <a:srgbClr val="444444"/>
                </a:solidFill>
              </a:defRPr>
            </a:pPr>
            <a:r>
              <a:rPr sz="1800" b="0" dirty="0" err="1">
                <a:solidFill>
                  <a:srgbClr val="444444"/>
                </a:solidFill>
              </a:rPr>
              <a:t>转换链路</a:t>
            </a:r>
            <a:r>
              <a:rPr lang="zh-CN" altLang="en-US" sz="1800" b="0" dirty="0">
                <a:solidFill>
                  <a:srgbClr val="444444"/>
                </a:solidFill>
              </a:rPr>
              <a:t>：</a:t>
            </a:r>
            <a:endParaRPr sz="1800" b="0" dirty="0">
              <a:solidFill>
                <a:srgbClr val="444444"/>
              </a:solidFill>
            </a:endParaRPr>
          </a:p>
          <a:p>
            <a:pPr>
              <a:defRPr sz="1500" b="0">
                <a:solidFill>
                  <a:srgbClr val="444444"/>
                </a:solidFill>
              </a:defRPr>
            </a:pPr>
            <a:r>
              <a:rPr sz="1500" b="0" dirty="0" err="1">
                <a:solidFill>
                  <a:srgbClr val="444444"/>
                </a:solidFill>
              </a:rPr>
              <a:t>原始配置</a:t>
            </a:r>
            <a:r>
              <a:rPr sz="1500" b="0" dirty="0">
                <a:solidFill>
                  <a:srgbClr val="444444"/>
                </a:solidFill>
              </a:rPr>
              <a:t>/</a:t>
            </a:r>
            <a:r>
              <a:rPr sz="1500" b="0" dirty="0" err="1">
                <a:solidFill>
                  <a:srgbClr val="444444"/>
                </a:solidFill>
              </a:rPr>
              <a:t>网络</a:t>
            </a:r>
            <a:r>
              <a:rPr sz="1500" b="0" dirty="0">
                <a:solidFill>
                  <a:srgbClr val="444444"/>
                </a:solidFill>
              </a:rPr>
              <a:t>/</a:t>
            </a:r>
            <a:r>
              <a:rPr sz="1500" b="0" dirty="0" err="1">
                <a:solidFill>
                  <a:srgbClr val="444444"/>
                </a:solidFill>
              </a:rPr>
              <a:t>事件流</a:t>
            </a:r>
            <a:r>
              <a:rPr sz="1500" b="0" dirty="0">
                <a:solidFill>
                  <a:srgbClr val="444444"/>
                </a:solidFill>
              </a:rPr>
              <a:t> → Perception → </a:t>
            </a:r>
            <a:r>
              <a:rPr sz="1500" b="0" dirty="0" err="1">
                <a:solidFill>
                  <a:srgbClr val="444444"/>
                </a:solidFill>
              </a:rPr>
              <a:t>MemoryRecord</a:t>
            </a:r>
            <a:r>
              <a:rPr sz="1500" b="0" dirty="0">
                <a:solidFill>
                  <a:srgbClr val="444444"/>
                </a:solidFill>
              </a:rPr>
              <a:t> → </a:t>
            </a:r>
            <a:r>
              <a:rPr sz="1500" b="0" dirty="0" err="1">
                <a:solidFill>
                  <a:srgbClr val="444444"/>
                </a:solidFill>
              </a:rPr>
              <a:t>BeliefSystem</a:t>
            </a:r>
            <a:r>
              <a:rPr sz="1500" b="0" dirty="0">
                <a:solidFill>
                  <a:srgbClr val="444444"/>
                </a:solidFill>
              </a:rPr>
              <a:t> → Desire → Intention → </a:t>
            </a:r>
            <a:r>
              <a:rPr sz="1500" b="0" dirty="0" err="1">
                <a:solidFill>
                  <a:srgbClr val="444444"/>
                </a:solidFill>
              </a:rPr>
              <a:t>ActionRecord</a:t>
            </a:r>
            <a:r>
              <a:rPr sz="1500" b="0" dirty="0">
                <a:solidFill>
                  <a:srgbClr val="444444"/>
                </a:solidFill>
              </a:rPr>
              <a:t>。</a:t>
            </a:r>
          </a:p>
          <a:p>
            <a:endParaRPr sz="1500" b="0" dirty="0">
              <a:solidFill>
                <a:srgbClr val="444444"/>
              </a:solidFill>
            </a:endParaRPr>
          </a:p>
          <a:p>
            <a:pPr>
              <a:defRPr sz="1500" b="0">
                <a:solidFill>
                  <a:srgbClr val="444444"/>
                </a:solidFill>
              </a:defRPr>
            </a:pPr>
            <a:r>
              <a:rPr sz="1800" b="0" dirty="0" err="1">
                <a:solidFill>
                  <a:srgbClr val="444444"/>
                </a:solidFill>
              </a:rPr>
              <a:t>LLM链路</a:t>
            </a:r>
            <a:r>
              <a:rPr lang="zh-CN" altLang="en-US" sz="1800" b="0" dirty="0">
                <a:solidFill>
                  <a:srgbClr val="444444"/>
                </a:solidFill>
              </a:rPr>
              <a:t>：</a:t>
            </a:r>
            <a:endParaRPr sz="1800" b="0" dirty="0">
              <a:solidFill>
                <a:srgbClr val="444444"/>
              </a:solidFill>
            </a:endParaRPr>
          </a:p>
          <a:p>
            <a:pPr>
              <a:defRPr sz="1500" b="0">
                <a:solidFill>
                  <a:srgbClr val="444444"/>
                </a:solidFill>
              </a:defRPr>
            </a:pPr>
            <a:r>
              <a:rPr sz="1500" b="0" dirty="0">
                <a:solidFill>
                  <a:srgbClr val="444444"/>
                </a:solidFill>
              </a:rPr>
              <a:t>Belief + Memory + Perception</a:t>
            </a:r>
            <a:r>
              <a:rPr lang="zh-CN" altLang="en-US" sz="1500" b="0" dirty="0">
                <a:solidFill>
                  <a:srgbClr val="444444"/>
                </a:solidFill>
              </a:rPr>
              <a:t>（如热榜）</a:t>
            </a:r>
            <a:r>
              <a:rPr sz="1500" b="0" dirty="0">
                <a:solidFill>
                  <a:srgbClr val="444444"/>
                </a:solidFill>
              </a:rPr>
              <a:t> → </a:t>
            </a:r>
            <a:r>
              <a:rPr sz="1500" b="0" dirty="0" err="1">
                <a:solidFill>
                  <a:srgbClr val="444444"/>
                </a:solidFill>
              </a:rPr>
              <a:t>build_prompt</a:t>
            </a:r>
            <a:r>
              <a:rPr sz="1500" b="0" dirty="0">
                <a:solidFill>
                  <a:srgbClr val="444444"/>
                </a:solidFill>
              </a:rPr>
              <a:t> → LLM raw response → </a:t>
            </a:r>
            <a:r>
              <a:rPr sz="1500" b="0" dirty="0" err="1">
                <a:solidFill>
                  <a:srgbClr val="444444"/>
                </a:solidFill>
              </a:rPr>
              <a:t>parse_llm_response</a:t>
            </a:r>
            <a:r>
              <a:rPr lang="zh-CN" altLang="en-US" sz="1500" b="0" dirty="0">
                <a:solidFill>
                  <a:srgbClr val="444444"/>
                </a:solidFill>
              </a:rPr>
              <a:t>（原始回复解析为可应用数据）</a:t>
            </a:r>
            <a:r>
              <a:rPr sz="1500" b="0" dirty="0">
                <a:solidFill>
                  <a:srgbClr val="444444"/>
                </a:solidFill>
              </a:rPr>
              <a:t> → </a:t>
            </a:r>
            <a:r>
              <a:rPr sz="1500" b="0" dirty="0" err="1">
                <a:solidFill>
                  <a:srgbClr val="444444"/>
                </a:solidFill>
              </a:rPr>
              <a:t>结构化行动</a:t>
            </a:r>
            <a:r>
              <a:rPr sz="1500" b="0" dirty="0">
                <a:solidFill>
                  <a:srgbClr val="444444"/>
                </a:solidFill>
              </a:rPr>
              <a:t>/</a:t>
            </a:r>
            <a:r>
              <a:rPr sz="1500" b="0" dirty="0" err="1">
                <a:solidFill>
                  <a:srgbClr val="444444"/>
                </a:solidFill>
              </a:rPr>
              <a:t>信念增量</a:t>
            </a:r>
            <a:r>
              <a:rPr lang="zh-CN" altLang="en-US" sz="1500" b="0" dirty="0">
                <a:solidFill>
                  <a:srgbClr val="444444"/>
                </a:solidFill>
              </a:rPr>
              <a:t>（得出变化）</a:t>
            </a:r>
            <a:r>
              <a:rPr sz="1500" b="0" dirty="0">
                <a:solidFill>
                  <a:srgbClr val="444444"/>
                </a:solidFill>
              </a:rPr>
              <a:t>。</a:t>
            </a:r>
          </a:p>
          <a:p>
            <a:endParaRPr sz="1500" b="0" dirty="0">
              <a:solidFill>
                <a:srgbClr val="444444"/>
              </a:solidFill>
            </a:endParaRPr>
          </a:p>
          <a:p>
            <a:pPr>
              <a:defRPr sz="1500" b="0">
                <a:solidFill>
                  <a:srgbClr val="444444"/>
                </a:solidFill>
              </a:defRPr>
            </a:pPr>
            <a:r>
              <a:rPr sz="1800" b="0" dirty="0" err="1">
                <a:solidFill>
                  <a:srgbClr val="444444"/>
                </a:solidFill>
              </a:rPr>
              <a:t>指标链路</a:t>
            </a:r>
            <a:r>
              <a:rPr lang="zh-CN" altLang="en-US" sz="1800" b="0" dirty="0">
                <a:solidFill>
                  <a:srgbClr val="444444"/>
                </a:solidFill>
              </a:rPr>
              <a:t>：</a:t>
            </a:r>
            <a:endParaRPr sz="1800" b="0" dirty="0">
              <a:solidFill>
                <a:srgbClr val="444444"/>
              </a:solidFill>
            </a:endParaRPr>
          </a:p>
          <a:p>
            <a:pPr>
              <a:defRPr sz="1500" b="0">
                <a:solidFill>
                  <a:srgbClr val="444444"/>
                </a:solidFill>
              </a:defRPr>
            </a:pPr>
            <a:r>
              <a:rPr sz="1500" b="0" dirty="0" err="1">
                <a:solidFill>
                  <a:srgbClr val="444444"/>
                </a:solidFill>
              </a:rPr>
              <a:t>ActionRecord</a:t>
            </a:r>
            <a:r>
              <a:rPr sz="1500" b="0" dirty="0">
                <a:solidFill>
                  <a:srgbClr val="444444"/>
                </a:solidFill>
              </a:rPr>
              <a:t> + </a:t>
            </a:r>
            <a:r>
              <a:rPr sz="1500" b="0" dirty="0" err="1">
                <a:solidFill>
                  <a:srgbClr val="444444"/>
                </a:solidFill>
              </a:rPr>
              <a:t>Hawkes事件</a:t>
            </a:r>
            <a:r>
              <a:rPr sz="1500" b="0" dirty="0">
                <a:solidFill>
                  <a:srgbClr val="444444"/>
                </a:solidFill>
              </a:rPr>
              <a:t> → </a:t>
            </a:r>
            <a:r>
              <a:rPr sz="1500" b="0" dirty="0" err="1">
                <a:solidFill>
                  <a:srgbClr val="444444"/>
                </a:solidFill>
              </a:rPr>
              <a:t>OpinionModel环境更新</a:t>
            </a:r>
            <a:r>
              <a:rPr sz="1500" b="0" dirty="0">
                <a:solidFill>
                  <a:srgbClr val="444444"/>
                </a:solidFill>
              </a:rPr>
              <a:t> → </a:t>
            </a:r>
            <a:r>
              <a:rPr sz="1500" b="0" dirty="0" err="1">
                <a:solidFill>
                  <a:srgbClr val="444444"/>
                </a:solidFill>
              </a:rPr>
              <a:t>DataCollector</a:t>
            </a:r>
            <a:r>
              <a:rPr sz="1500" b="0" dirty="0">
                <a:solidFill>
                  <a:srgbClr val="444444"/>
                </a:solidFill>
              </a:rPr>
              <a:t> metrics → CSV/JSON → </a:t>
            </a:r>
            <a:r>
              <a:rPr sz="1500" b="0" dirty="0" err="1">
                <a:solidFill>
                  <a:srgbClr val="444444"/>
                </a:solidFill>
              </a:rPr>
              <a:t>趋势图</a:t>
            </a:r>
            <a:r>
              <a:rPr sz="1500" b="0" dirty="0">
                <a:solidFill>
                  <a:srgbClr val="444444"/>
                </a:solidFill>
              </a:rPr>
              <a:t>/Dashboard → </a:t>
            </a:r>
            <a:r>
              <a:rPr lang="zh-CN" altLang="en-US" sz="1500" b="0" dirty="0">
                <a:solidFill>
                  <a:srgbClr val="444444"/>
                </a:solidFill>
              </a:rPr>
              <a:t>形成</a:t>
            </a:r>
            <a:r>
              <a:rPr sz="1500" b="0" dirty="0" err="1">
                <a:solidFill>
                  <a:srgbClr val="444444"/>
                </a:solidFill>
              </a:rPr>
              <a:t>StrategyEval报告</a:t>
            </a:r>
            <a:r>
              <a:rPr sz="1500" b="0" dirty="0">
                <a:solidFill>
                  <a:srgbClr val="444444"/>
                </a:solidFill>
              </a:rPr>
              <a:t>。</a:t>
            </a:r>
          </a:p>
          <a:p>
            <a:endParaRPr sz="1500" b="0" dirty="0">
              <a:solidFill>
                <a:srgbClr val="444444"/>
              </a:solidFill>
            </a:endParaRPr>
          </a:p>
          <a:p>
            <a:pPr>
              <a:defRPr sz="1500" b="0">
                <a:solidFill>
                  <a:srgbClr val="444444"/>
                </a:solidFill>
              </a:defRPr>
            </a:pPr>
            <a:r>
              <a:rPr sz="1800" b="0" dirty="0" err="1">
                <a:solidFill>
                  <a:srgbClr val="444444"/>
                </a:solidFill>
              </a:rPr>
              <a:t>兜底规则</a:t>
            </a:r>
            <a:r>
              <a:rPr lang="zh-CN" altLang="en-US" sz="1800" b="0" dirty="0">
                <a:solidFill>
                  <a:srgbClr val="444444"/>
                </a:solidFill>
              </a:rPr>
              <a:t>：</a:t>
            </a:r>
            <a:endParaRPr lang="en-US" altLang="zh-CN" sz="1800" b="0" dirty="0">
              <a:solidFill>
                <a:srgbClr val="444444"/>
              </a:solidFill>
            </a:endParaRPr>
          </a:p>
          <a:p>
            <a:pPr>
              <a:defRPr sz="1500" b="0">
                <a:solidFill>
                  <a:srgbClr val="444444"/>
                </a:solidFill>
              </a:defRPr>
            </a:pPr>
            <a:r>
              <a:rPr sz="1500" b="0" dirty="0" err="1">
                <a:solidFill>
                  <a:srgbClr val="444444"/>
                </a:solidFill>
              </a:rPr>
              <a:t>LLM失败时保持原信念</a:t>
            </a:r>
            <a:r>
              <a:rPr lang="zh-CN" altLang="en-US" sz="1500" b="0" dirty="0">
                <a:solidFill>
                  <a:srgbClr val="444444"/>
                </a:solidFill>
              </a:rPr>
              <a:t>（即失败不更新</a:t>
            </a:r>
            <a:r>
              <a:rPr lang="en-US" altLang="zh-CN" sz="1500" b="0" dirty="0">
                <a:solidFill>
                  <a:srgbClr val="444444"/>
                </a:solidFill>
              </a:rPr>
              <a:t>agent</a:t>
            </a:r>
            <a:r>
              <a:rPr lang="zh-CN" altLang="en-US" sz="1500" b="0" dirty="0">
                <a:solidFill>
                  <a:srgbClr val="444444"/>
                </a:solidFill>
              </a:rPr>
              <a:t>内容）</a:t>
            </a:r>
            <a:r>
              <a:rPr sz="1500" b="0" dirty="0">
                <a:solidFill>
                  <a:srgbClr val="444444"/>
                </a:solidFill>
              </a:rPr>
              <a:t>；</a:t>
            </a:r>
            <a:r>
              <a:rPr sz="1500" b="0" dirty="0" err="1">
                <a:solidFill>
                  <a:srgbClr val="444444"/>
                </a:solidFill>
              </a:rPr>
              <a:t>畸形JSON走默认SILENT</a:t>
            </a:r>
            <a:r>
              <a:rPr lang="zh-CN" altLang="en-US" sz="1500" b="0" dirty="0">
                <a:solidFill>
                  <a:srgbClr val="444444"/>
                </a:solidFill>
              </a:rPr>
              <a:t>（即</a:t>
            </a:r>
            <a:r>
              <a:rPr lang="en-US" altLang="zh-CN" sz="1500" b="0" dirty="0">
                <a:solidFill>
                  <a:srgbClr val="444444"/>
                </a:solidFill>
              </a:rPr>
              <a:t>agent</a:t>
            </a:r>
            <a:r>
              <a:rPr lang="zh-CN" altLang="en-US" sz="1500" b="0" dirty="0">
                <a:solidFill>
                  <a:srgbClr val="444444"/>
                </a:solidFill>
              </a:rPr>
              <a:t>返回不合法值时保持沉默）</a:t>
            </a:r>
            <a:r>
              <a:rPr sz="1500" b="0" dirty="0">
                <a:solidFill>
                  <a:srgbClr val="444444"/>
                </a:solidFill>
              </a:rPr>
              <a:t>；</a:t>
            </a:r>
            <a:r>
              <a:rPr sz="1500" b="0" dirty="0" err="1">
                <a:solidFill>
                  <a:srgbClr val="444444"/>
                </a:solidFill>
              </a:rPr>
              <a:t>观点值clip到</a:t>
            </a:r>
            <a:r>
              <a:rPr sz="1500" b="0" dirty="0">
                <a:solidFill>
                  <a:srgbClr val="444444"/>
                </a:solidFill>
              </a:rPr>
              <a:t>[-1,1]；</a:t>
            </a:r>
            <a:r>
              <a:rPr sz="1500" b="0" dirty="0" err="1">
                <a:solidFill>
                  <a:srgbClr val="444444"/>
                </a:solidFill>
              </a:rPr>
              <a:t>置信度</a:t>
            </a:r>
            <a:r>
              <a:rPr sz="1500" b="0" dirty="0">
                <a:solidFill>
                  <a:srgbClr val="444444"/>
                </a:solidFill>
              </a:rPr>
              <a:t>/</a:t>
            </a:r>
            <a:r>
              <a:rPr sz="1500" b="0" dirty="0" err="1">
                <a:solidFill>
                  <a:srgbClr val="444444"/>
                </a:solidFill>
              </a:rPr>
              <a:t>风险规避</a:t>
            </a:r>
            <a:r>
              <a:rPr sz="1500" b="0" dirty="0">
                <a:solidFill>
                  <a:srgbClr val="444444"/>
                </a:solidFill>
              </a:rPr>
              <a:t>/</a:t>
            </a:r>
            <a:r>
              <a:rPr sz="1500" b="0" dirty="0" err="1">
                <a:solidFill>
                  <a:srgbClr val="444444"/>
                </a:solidFill>
              </a:rPr>
              <a:t>人格维度clip到</a:t>
            </a:r>
            <a:r>
              <a:rPr sz="1500" b="0" dirty="0">
                <a:solidFill>
                  <a:srgbClr val="444444"/>
                </a:solidFill>
              </a:rPr>
              <a:t>[0,1]</a:t>
            </a:r>
            <a:r>
              <a:rPr lang="zh-CN" altLang="en-US" sz="1500" dirty="0">
                <a:solidFill>
                  <a:srgbClr val="444444"/>
                </a:solidFill>
              </a:rPr>
              <a:t> （降级不崩溃）</a:t>
            </a:r>
            <a:r>
              <a:rPr sz="1500" b="0" dirty="0">
                <a:solidFill>
                  <a:srgbClr val="444444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7127566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DA8E45-61E8-43AE-9EDA-9E21294B9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0">
                <a:solidFill>
                  <a:srgbClr val="000000"/>
                </a:solidFill>
              </a:defRPr>
            </a:pPr>
            <a:r>
              <a:rPr sz="3000" b="0">
                <a:solidFill>
                  <a:srgbClr val="000000"/>
                </a:solidFill>
              </a:rPr>
              <a:t>6 核心模块接口 detail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DB6AA5-C0F0-44C6-AD3B-E5FA4D5689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350" b="0">
                <a:solidFill>
                  <a:srgbClr val="444444"/>
                </a:solidFill>
              </a:defRPr>
            </a:pPr>
            <a:r>
              <a:rPr lang="en-US" altLang="zh-CN" sz="1350" b="0" dirty="0">
                <a:solidFill>
                  <a:srgbClr val="444444"/>
                </a:solidFill>
              </a:rPr>
              <a:t>B</a:t>
            </a:r>
            <a:r>
              <a:rPr lang="zh-CN" altLang="en-US" sz="1350" b="0" dirty="0">
                <a:solidFill>
                  <a:srgbClr val="444444"/>
                </a:solidFill>
              </a:rPr>
              <a:t>：</a:t>
            </a:r>
            <a:r>
              <a:rPr sz="1350" b="0" dirty="0" err="1">
                <a:solidFill>
                  <a:srgbClr val="444444"/>
                </a:solidFill>
              </a:rPr>
              <a:t>SocialAgent：智能体大脑</a:t>
            </a:r>
            <a:endParaRPr sz="1350" b="0" dirty="0">
              <a:solidFill>
                <a:srgbClr val="444444"/>
              </a:solidFill>
            </a:endParaRPr>
          </a:p>
          <a:p>
            <a:pPr>
              <a:defRPr sz="1350" b="0">
                <a:solidFill>
                  <a:srgbClr val="444444"/>
                </a:solidFill>
              </a:defRPr>
            </a:pPr>
            <a:r>
              <a:rPr sz="1350" b="0" dirty="0">
                <a:solidFill>
                  <a:srgbClr val="444444"/>
                </a:solidFill>
              </a:rPr>
              <a:t>__</a:t>
            </a:r>
            <a:r>
              <a:rPr sz="1350" b="0" dirty="0" err="1">
                <a:solidFill>
                  <a:srgbClr val="444444"/>
                </a:solidFill>
              </a:rPr>
              <a:t>init</a:t>
            </a:r>
            <a:r>
              <a:rPr sz="1350" b="0" dirty="0">
                <a:solidFill>
                  <a:srgbClr val="444444"/>
                </a:solidFill>
              </a:rPr>
              <a:t>__, _</a:t>
            </a:r>
            <a:r>
              <a:rPr sz="1350" b="0" dirty="0" err="1">
                <a:solidFill>
                  <a:srgbClr val="444444"/>
                </a:solidFill>
              </a:rPr>
              <a:t>init_psychology</a:t>
            </a:r>
            <a:r>
              <a:rPr sz="1350" b="0" dirty="0">
                <a:solidFill>
                  <a:srgbClr val="444444"/>
                </a:solidFill>
              </a:rPr>
              <a:t>, step, _perceive, _</a:t>
            </a:r>
            <a:r>
              <a:rPr sz="1350" b="0" dirty="0" err="1">
                <a:solidFill>
                  <a:srgbClr val="444444"/>
                </a:solidFill>
              </a:rPr>
              <a:t>retrieve_memory</a:t>
            </a:r>
            <a:r>
              <a:rPr sz="1350" b="0" dirty="0">
                <a:solidFill>
                  <a:srgbClr val="444444"/>
                </a:solidFill>
              </a:rPr>
              <a:t>, _</a:t>
            </a:r>
            <a:r>
              <a:rPr sz="1350" b="0" dirty="0" err="1">
                <a:solidFill>
                  <a:srgbClr val="444444"/>
                </a:solidFill>
              </a:rPr>
              <a:t>update_beliefs</a:t>
            </a:r>
            <a:r>
              <a:rPr sz="1350" b="0" dirty="0">
                <a:solidFill>
                  <a:srgbClr val="444444"/>
                </a:solidFill>
              </a:rPr>
              <a:t>, _</a:t>
            </a:r>
            <a:r>
              <a:rPr sz="1350" b="0" dirty="0" err="1">
                <a:solidFill>
                  <a:srgbClr val="444444"/>
                </a:solidFill>
              </a:rPr>
              <a:t>infer_desires</a:t>
            </a:r>
            <a:r>
              <a:rPr sz="1350" b="0" dirty="0">
                <a:solidFill>
                  <a:srgbClr val="444444"/>
                </a:solidFill>
              </a:rPr>
              <a:t>, _</a:t>
            </a:r>
            <a:r>
              <a:rPr sz="1350" b="0" dirty="0" err="1">
                <a:solidFill>
                  <a:srgbClr val="444444"/>
                </a:solidFill>
              </a:rPr>
              <a:t>plan_intentions</a:t>
            </a:r>
            <a:r>
              <a:rPr sz="1350" b="0" dirty="0">
                <a:solidFill>
                  <a:srgbClr val="444444"/>
                </a:solidFill>
              </a:rPr>
              <a:t>, _</a:t>
            </a:r>
            <a:r>
              <a:rPr sz="1350" b="0" dirty="0" err="1">
                <a:solidFill>
                  <a:srgbClr val="444444"/>
                </a:solidFill>
              </a:rPr>
              <a:t>execute_action</a:t>
            </a:r>
            <a:r>
              <a:rPr sz="1350" b="0" dirty="0">
                <a:solidFill>
                  <a:srgbClr val="444444"/>
                </a:solidFill>
              </a:rPr>
              <a:t>, _</a:t>
            </a:r>
            <a:r>
              <a:rPr sz="1350" b="0" dirty="0" err="1">
                <a:solidFill>
                  <a:srgbClr val="444444"/>
                </a:solidFill>
              </a:rPr>
              <a:t>update_emotion</a:t>
            </a:r>
            <a:r>
              <a:rPr sz="1350" b="0" dirty="0">
                <a:solidFill>
                  <a:srgbClr val="444444"/>
                </a:solidFill>
              </a:rPr>
              <a:t>。</a:t>
            </a:r>
          </a:p>
          <a:p>
            <a:pPr>
              <a:defRPr sz="1350" b="0">
                <a:solidFill>
                  <a:srgbClr val="444444"/>
                </a:solidFill>
              </a:defRPr>
            </a:pPr>
            <a:r>
              <a:rPr sz="1350" b="0" dirty="0">
                <a:solidFill>
                  <a:srgbClr val="444444"/>
                </a:solidFill>
              </a:rPr>
              <a:t>验收：单Agent感知→推理→行动链路可测；1000 </a:t>
            </a:r>
            <a:r>
              <a:rPr sz="1350" b="0" dirty="0" err="1">
                <a:solidFill>
                  <a:srgbClr val="444444"/>
                </a:solidFill>
              </a:rPr>
              <a:t>Agent并行无状态冲突</a:t>
            </a:r>
            <a:r>
              <a:rPr sz="1350" b="0" dirty="0">
                <a:solidFill>
                  <a:srgbClr val="444444"/>
                </a:solidFill>
              </a:rPr>
              <a:t>。</a:t>
            </a:r>
          </a:p>
          <a:p>
            <a:endParaRPr sz="1350" b="0" dirty="0">
              <a:solidFill>
                <a:srgbClr val="444444"/>
              </a:solidFill>
            </a:endParaRPr>
          </a:p>
          <a:p>
            <a:pPr>
              <a:defRPr sz="1350" b="0">
                <a:solidFill>
                  <a:srgbClr val="444444"/>
                </a:solidFill>
              </a:defRPr>
            </a:pPr>
            <a:r>
              <a:rPr lang="en-US" altLang="zh-CN" sz="1350" b="0" dirty="0">
                <a:solidFill>
                  <a:srgbClr val="444444"/>
                </a:solidFill>
              </a:rPr>
              <a:t>A</a:t>
            </a:r>
            <a:r>
              <a:rPr lang="zh-CN" altLang="en-US" sz="1350" b="0" dirty="0">
                <a:solidFill>
                  <a:srgbClr val="444444"/>
                </a:solidFill>
              </a:rPr>
              <a:t>：</a:t>
            </a:r>
            <a:r>
              <a:rPr sz="1350" b="0" dirty="0" err="1">
                <a:solidFill>
                  <a:srgbClr val="444444"/>
                </a:solidFill>
              </a:rPr>
              <a:t>OpinionModel：系统骨架</a:t>
            </a:r>
            <a:endParaRPr sz="1350" b="0" dirty="0">
              <a:solidFill>
                <a:srgbClr val="444444"/>
              </a:solidFill>
            </a:endParaRPr>
          </a:p>
          <a:p>
            <a:pPr>
              <a:defRPr sz="1350" b="0">
                <a:solidFill>
                  <a:srgbClr val="444444"/>
                </a:solidFill>
              </a:defRPr>
            </a:pPr>
            <a:r>
              <a:rPr sz="1350" b="0" dirty="0">
                <a:solidFill>
                  <a:srgbClr val="444444"/>
                </a:solidFill>
              </a:rPr>
              <a:t>__</a:t>
            </a:r>
            <a:r>
              <a:rPr sz="1350" b="0" dirty="0" err="1">
                <a:solidFill>
                  <a:srgbClr val="444444"/>
                </a:solidFill>
              </a:rPr>
              <a:t>init</a:t>
            </a:r>
            <a:r>
              <a:rPr sz="1350" b="0" dirty="0">
                <a:solidFill>
                  <a:srgbClr val="444444"/>
                </a:solidFill>
              </a:rPr>
              <a:t>__, _</a:t>
            </a:r>
            <a:r>
              <a:rPr sz="1350" b="0" dirty="0" err="1">
                <a:solidFill>
                  <a:srgbClr val="444444"/>
                </a:solidFill>
              </a:rPr>
              <a:t>build_social_network</a:t>
            </a:r>
            <a:r>
              <a:rPr sz="1350" b="0" dirty="0">
                <a:solidFill>
                  <a:srgbClr val="444444"/>
                </a:solidFill>
              </a:rPr>
              <a:t>, _</a:t>
            </a:r>
            <a:r>
              <a:rPr sz="1350" b="0" dirty="0" err="1">
                <a:solidFill>
                  <a:srgbClr val="444444"/>
                </a:solidFill>
              </a:rPr>
              <a:t>place_agents</a:t>
            </a:r>
            <a:r>
              <a:rPr sz="1350" b="0" dirty="0">
                <a:solidFill>
                  <a:srgbClr val="444444"/>
                </a:solidFill>
              </a:rPr>
              <a:t>, step, _</a:t>
            </a:r>
            <a:r>
              <a:rPr sz="1350" b="0" dirty="0" err="1">
                <a:solidFill>
                  <a:srgbClr val="444444"/>
                </a:solidFill>
              </a:rPr>
              <a:t>update_environment</a:t>
            </a:r>
            <a:r>
              <a:rPr sz="1350" b="0" dirty="0">
                <a:solidFill>
                  <a:srgbClr val="444444"/>
                </a:solidFill>
              </a:rPr>
              <a:t>, _</a:t>
            </a:r>
            <a:r>
              <a:rPr sz="1350" b="0" dirty="0" err="1">
                <a:solidFill>
                  <a:srgbClr val="444444"/>
                </a:solidFill>
              </a:rPr>
              <a:t>calc_avg_opinion</a:t>
            </a:r>
            <a:r>
              <a:rPr sz="1350" b="0" dirty="0">
                <a:solidFill>
                  <a:srgbClr val="444444"/>
                </a:solidFill>
              </a:rPr>
              <a:t>, _</a:t>
            </a:r>
            <a:r>
              <a:rPr sz="1350" b="0" dirty="0" err="1">
                <a:solidFill>
                  <a:srgbClr val="444444"/>
                </a:solidFill>
              </a:rPr>
              <a:t>calc_polarization</a:t>
            </a:r>
            <a:r>
              <a:rPr sz="1350" b="0" dirty="0">
                <a:solidFill>
                  <a:srgbClr val="444444"/>
                </a:solidFill>
              </a:rPr>
              <a:t>, _</a:t>
            </a:r>
            <a:r>
              <a:rPr sz="1350" b="0" dirty="0" err="1">
                <a:solidFill>
                  <a:srgbClr val="444444"/>
                </a:solidFill>
              </a:rPr>
              <a:t>calc_emotional_contagion</a:t>
            </a:r>
            <a:r>
              <a:rPr sz="1350" b="0" dirty="0">
                <a:solidFill>
                  <a:srgbClr val="444444"/>
                </a:solidFill>
              </a:rPr>
              <a:t>。</a:t>
            </a:r>
          </a:p>
          <a:p>
            <a:pPr>
              <a:defRPr sz="1350" b="0">
                <a:solidFill>
                  <a:srgbClr val="444444"/>
                </a:solidFill>
              </a:defRPr>
            </a:pPr>
            <a:r>
              <a:rPr sz="1350" b="0" dirty="0" err="1">
                <a:solidFill>
                  <a:srgbClr val="444444"/>
                </a:solidFill>
              </a:rPr>
              <a:t>补充：submit_action</a:t>
            </a:r>
            <a:r>
              <a:rPr sz="1350" b="0" dirty="0">
                <a:solidFill>
                  <a:srgbClr val="444444"/>
                </a:solidFill>
              </a:rPr>
              <a:t>(record: </a:t>
            </a:r>
            <a:r>
              <a:rPr sz="1350" b="0" dirty="0" err="1">
                <a:solidFill>
                  <a:srgbClr val="444444"/>
                </a:solidFill>
              </a:rPr>
              <a:t>ActionRecord</a:t>
            </a:r>
            <a:r>
              <a:rPr sz="1350" b="0" dirty="0">
                <a:solidFill>
                  <a:srgbClr val="444444"/>
                </a:solidFill>
              </a:rPr>
              <a:t>)</a:t>
            </a:r>
            <a:r>
              <a:rPr sz="1350" b="0" dirty="0" err="1">
                <a:solidFill>
                  <a:srgbClr val="444444"/>
                </a:solidFill>
              </a:rPr>
              <a:t>用于Agent行动写回环境</a:t>
            </a:r>
            <a:r>
              <a:rPr sz="1350" b="0" dirty="0">
                <a:solidFill>
                  <a:srgbClr val="444444"/>
                </a:solidFill>
              </a:rPr>
              <a:t>。</a:t>
            </a:r>
          </a:p>
          <a:p>
            <a:pPr>
              <a:defRPr sz="1350" b="0">
                <a:solidFill>
                  <a:srgbClr val="444444"/>
                </a:solidFill>
              </a:defRPr>
            </a:pPr>
            <a:r>
              <a:rPr sz="1350" b="0" dirty="0">
                <a:solidFill>
                  <a:srgbClr val="444444"/>
                </a:solidFill>
              </a:rPr>
              <a:t>验收：50轮仿真 &lt; 30秒；DataCollector每步指标格式与E对齐。</a:t>
            </a:r>
          </a:p>
        </p:txBody>
      </p:sp>
    </p:spTree>
    <p:extLst>
      <p:ext uri="{BB962C8B-B14F-4D97-AF65-F5344CB8AC3E}">
        <p14:creationId xmlns:p14="http://schemas.microsoft.com/office/powerpoint/2010/main" val="17127566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DA8E45-61E8-43AE-9EDA-9E21294B9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0">
                <a:solidFill>
                  <a:srgbClr val="000000"/>
                </a:solidFill>
              </a:defRPr>
            </a:pPr>
            <a:r>
              <a:rPr sz="3000" b="0">
                <a:solidFill>
                  <a:srgbClr val="000000"/>
                </a:solidFill>
              </a:rPr>
              <a:t>7 算法/评估/工具接口 detail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DB6AA5-C0F0-44C6-AD3B-E5FA4D5689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350" b="0">
                <a:solidFill>
                  <a:srgbClr val="444444"/>
                </a:solidFill>
              </a:defRPr>
            </a:pPr>
            <a:r>
              <a:rPr lang="en-US" altLang="zh-CN" sz="1350" b="0" dirty="0">
                <a:solidFill>
                  <a:srgbClr val="444444"/>
                </a:solidFill>
              </a:rPr>
              <a:t>C</a:t>
            </a:r>
            <a:r>
              <a:rPr lang="zh-CN" altLang="en-US" sz="1350" b="0" dirty="0">
                <a:solidFill>
                  <a:srgbClr val="444444"/>
                </a:solidFill>
              </a:rPr>
              <a:t>：</a:t>
            </a:r>
            <a:r>
              <a:rPr sz="1350" b="0" dirty="0" err="1">
                <a:solidFill>
                  <a:srgbClr val="444444"/>
                </a:solidFill>
              </a:rPr>
              <a:t>HawkesEngine：事件采样</a:t>
            </a:r>
            <a:endParaRPr sz="1350" b="0" dirty="0">
              <a:solidFill>
                <a:srgbClr val="444444"/>
              </a:solidFill>
            </a:endParaRPr>
          </a:p>
          <a:p>
            <a:pPr>
              <a:defRPr sz="1350" b="0">
                <a:solidFill>
                  <a:srgbClr val="444444"/>
                </a:solidFill>
              </a:defRPr>
            </a:pPr>
            <a:r>
              <a:rPr sz="1350" b="0" dirty="0">
                <a:solidFill>
                  <a:srgbClr val="444444"/>
                </a:solidFill>
              </a:rPr>
              <a:t>__</a:t>
            </a:r>
            <a:r>
              <a:rPr sz="1350" b="0" dirty="0" err="1">
                <a:solidFill>
                  <a:srgbClr val="444444"/>
                </a:solidFill>
              </a:rPr>
              <a:t>init</a:t>
            </a:r>
            <a:r>
              <a:rPr sz="1350" b="0" dirty="0">
                <a:solidFill>
                  <a:srgbClr val="444444"/>
                </a:solidFill>
              </a:rPr>
              <a:t>__(mu, alpha, beta), intensity(t), </a:t>
            </a:r>
            <a:r>
              <a:rPr sz="1350" b="0" dirty="0" err="1">
                <a:solidFill>
                  <a:srgbClr val="444444"/>
                </a:solidFill>
              </a:rPr>
              <a:t>sample_next_time</a:t>
            </a:r>
            <a:r>
              <a:rPr sz="1350" b="0" dirty="0">
                <a:solidFill>
                  <a:srgbClr val="444444"/>
                </a:solidFill>
              </a:rPr>
              <a:t>(</a:t>
            </a:r>
            <a:r>
              <a:rPr sz="1350" b="0" dirty="0" err="1">
                <a:solidFill>
                  <a:srgbClr val="444444"/>
                </a:solidFill>
              </a:rPr>
              <a:t>current_t</a:t>
            </a:r>
            <a:r>
              <a:rPr sz="1350" b="0" dirty="0">
                <a:solidFill>
                  <a:srgbClr val="444444"/>
                </a:solidFill>
              </a:rPr>
              <a:t>), </a:t>
            </a:r>
            <a:r>
              <a:rPr sz="1350" b="0" dirty="0" err="1">
                <a:solidFill>
                  <a:srgbClr val="444444"/>
                </a:solidFill>
              </a:rPr>
              <a:t>add_event</a:t>
            </a:r>
            <a:r>
              <a:rPr sz="1350" b="0" dirty="0">
                <a:solidFill>
                  <a:srgbClr val="444444"/>
                </a:solidFill>
              </a:rPr>
              <a:t>(t)。</a:t>
            </a:r>
          </a:p>
          <a:p>
            <a:pPr>
              <a:defRPr sz="1350" b="0">
                <a:solidFill>
                  <a:srgbClr val="444444"/>
                </a:solidFill>
              </a:defRPr>
            </a:pPr>
            <a:r>
              <a:rPr sz="1350" b="0" dirty="0" err="1">
                <a:solidFill>
                  <a:srgbClr val="444444"/>
                </a:solidFill>
              </a:rPr>
              <a:t>验收：intensity</a:t>
            </a:r>
            <a:r>
              <a:rPr sz="1350" b="0" dirty="0">
                <a:solidFill>
                  <a:srgbClr val="444444"/>
                </a:solidFill>
              </a:rPr>
              <a:t>/</a:t>
            </a:r>
            <a:r>
              <a:rPr sz="1350" b="0" dirty="0" err="1">
                <a:solidFill>
                  <a:srgbClr val="444444"/>
                </a:solidFill>
              </a:rPr>
              <a:t>sample与公式对拍通过</a:t>
            </a:r>
            <a:r>
              <a:rPr sz="1350" b="0" dirty="0">
                <a:solidFill>
                  <a:srgbClr val="444444"/>
                </a:solidFill>
              </a:rPr>
              <a:t>。</a:t>
            </a:r>
            <a:r>
              <a:rPr lang="zh-CN" altLang="en-US" sz="1350" b="0" dirty="0">
                <a:solidFill>
                  <a:srgbClr val="444444"/>
                </a:solidFill>
              </a:rPr>
              <a:t>（</a:t>
            </a:r>
            <a:r>
              <a:rPr lang="zh-CN" altLang="zh-CN" sz="1350" dirty="0"/>
              <a:t> </a:t>
            </a:r>
            <a:r>
              <a:rPr lang="zh-CN" altLang="en-US" sz="1350" b="0" dirty="0">
                <a:solidFill>
                  <a:srgbClr val="444444"/>
                </a:solidFill>
              </a:rPr>
              <a:t>即代码结果与理论公式计算出的事件强度要高度一致：</a:t>
            </a:r>
            <a:r>
              <a:rPr lang="zh-CN" altLang="zh-CN" sz="1350" dirty="0"/>
              <a:t> λ(t) = μ + Σ α * exp(-β * (t - ti)) </a:t>
            </a:r>
            <a:r>
              <a:rPr lang="zh-CN" altLang="en-US" sz="1350" b="0" dirty="0">
                <a:solidFill>
                  <a:srgbClr val="444444"/>
                </a:solidFill>
              </a:rPr>
              <a:t>）</a:t>
            </a:r>
            <a:endParaRPr sz="1350" b="0" dirty="0">
              <a:solidFill>
                <a:srgbClr val="444444"/>
              </a:solidFill>
            </a:endParaRPr>
          </a:p>
          <a:p>
            <a:endParaRPr sz="1350" b="0" dirty="0">
              <a:solidFill>
                <a:srgbClr val="444444"/>
              </a:solidFill>
            </a:endParaRPr>
          </a:p>
          <a:p>
            <a:pPr>
              <a:defRPr sz="1350" b="0">
                <a:solidFill>
                  <a:srgbClr val="444444"/>
                </a:solidFill>
              </a:defRPr>
            </a:pPr>
            <a:r>
              <a:rPr lang="en-US" altLang="zh-CN" sz="1350" b="0" dirty="0">
                <a:solidFill>
                  <a:srgbClr val="444444"/>
                </a:solidFill>
              </a:rPr>
              <a:t>D</a:t>
            </a:r>
            <a:r>
              <a:rPr lang="zh-CN" altLang="en-US" sz="1350" b="0" dirty="0">
                <a:solidFill>
                  <a:srgbClr val="444444"/>
                </a:solidFill>
              </a:rPr>
              <a:t>：</a:t>
            </a:r>
            <a:r>
              <a:rPr sz="1350" b="0" dirty="0" err="1">
                <a:solidFill>
                  <a:srgbClr val="444444"/>
                </a:solidFill>
              </a:rPr>
              <a:t>StrategyEvaluator：干预对照</a:t>
            </a:r>
            <a:endParaRPr sz="1350" b="0" dirty="0">
              <a:solidFill>
                <a:srgbClr val="444444"/>
              </a:solidFill>
            </a:endParaRPr>
          </a:p>
          <a:p>
            <a:pPr>
              <a:defRPr sz="1350" b="0">
                <a:solidFill>
                  <a:srgbClr val="444444"/>
                </a:solidFill>
              </a:defRPr>
            </a:pPr>
            <a:r>
              <a:rPr sz="1350" b="0" dirty="0" err="1">
                <a:solidFill>
                  <a:srgbClr val="444444"/>
                </a:solidFill>
              </a:rPr>
              <a:t>set_baseline</a:t>
            </a:r>
            <a:r>
              <a:rPr sz="1350" b="0" dirty="0">
                <a:solidFill>
                  <a:srgbClr val="444444"/>
                </a:solidFill>
              </a:rPr>
              <a:t>(), </a:t>
            </a:r>
            <a:r>
              <a:rPr sz="1350" b="0" dirty="0" err="1">
                <a:solidFill>
                  <a:srgbClr val="444444"/>
                </a:solidFill>
              </a:rPr>
              <a:t>apply_intervention</a:t>
            </a:r>
            <a:r>
              <a:rPr sz="1350" b="0" dirty="0">
                <a:solidFill>
                  <a:srgbClr val="444444"/>
                </a:solidFill>
              </a:rPr>
              <a:t>(type, params), evaluate(), behavior/content/</a:t>
            </a:r>
            <a:r>
              <a:rPr sz="1350" b="0" dirty="0" err="1">
                <a:solidFill>
                  <a:srgbClr val="444444"/>
                </a:solidFill>
              </a:rPr>
              <a:t>topology三维分析</a:t>
            </a:r>
            <a:r>
              <a:rPr sz="1350" b="0" dirty="0">
                <a:solidFill>
                  <a:srgbClr val="444444"/>
                </a:solidFill>
              </a:rPr>
              <a:t>。</a:t>
            </a:r>
          </a:p>
          <a:p>
            <a:pPr>
              <a:defRPr sz="1350" b="0">
                <a:solidFill>
                  <a:srgbClr val="444444"/>
                </a:solidFill>
              </a:defRPr>
            </a:pPr>
            <a:r>
              <a:rPr sz="1350" b="0" dirty="0">
                <a:solidFill>
                  <a:srgbClr val="444444"/>
                </a:solidFill>
              </a:rPr>
              <a:t>验收：同seed可复现；至少3类干预策略可量化比较。</a:t>
            </a:r>
            <a:r>
              <a:rPr lang="zh-CN" altLang="en-US" sz="1350" b="0" dirty="0">
                <a:solidFill>
                  <a:srgbClr val="444444"/>
                </a:solidFill>
              </a:rPr>
              <a:t>（即同样条件下可复现实验，使实验结果一致或近似）</a:t>
            </a:r>
            <a:endParaRPr sz="1350" b="0" dirty="0">
              <a:solidFill>
                <a:srgbClr val="444444"/>
              </a:solidFill>
            </a:endParaRPr>
          </a:p>
          <a:p>
            <a:endParaRPr sz="1350" b="0" dirty="0">
              <a:solidFill>
                <a:srgbClr val="444444"/>
              </a:solidFill>
            </a:endParaRPr>
          </a:p>
          <a:p>
            <a:pPr>
              <a:defRPr sz="1350" b="0">
                <a:solidFill>
                  <a:srgbClr val="444444"/>
                </a:solidFill>
              </a:defRPr>
            </a:pPr>
            <a:r>
              <a:rPr lang="en-US" altLang="zh-CN" sz="1350" b="0" dirty="0">
                <a:solidFill>
                  <a:srgbClr val="444444"/>
                </a:solidFill>
              </a:rPr>
              <a:t>E</a:t>
            </a:r>
            <a:r>
              <a:rPr lang="zh-CN" altLang="en-US" sz="1350" b="0" dirty="0">
                <a:solidFill>
                  <a:srgbClr val="444444"/>
                </a:solidFill>
              </a:rPr>
              <a:t>：</a:t>
            </a:r>
            <a:r>
              <a:rPr sz="1350" b="0" dirty="0" err="1">
                <a:solidFill>
                  <a:srgbClr val="444444"/>
                </a:solidFill>
              </a:rPr>
              <a:t>Utils：配置与产出</a:t>
            </a:r>
            <a:endParaRPr sz="1350" b="0" dirty="0">
              <a:solidFill>
                <a:srgbClr val="444444"/>
              </a:solidFill>
            </a:endParaRPr>
          </a:p>
          <a:p>
            <a:pPr>
              <a:defRPr sz="1350" b="0">
                <a:solidFill>
                  <a:srgbClr val="444444"/>
                </a:solidFill>
              </a:defRPr>
            </a:pPr>
            <a:r>
              <a:rPr sz="1350" b="0" dirty="0" err="1">
                <a:solidFill>
                  <a:srgbClr val="444444"/>
                </a:solidFill>
              </a:rPr>
              <a:t>load_config</a:t>
            </a:r>
            <a:r>
              <a:rPr sz="1350" b="0" dirty="0">
                <a:solidFill>
                  <a:srgbClr val="444444"/>
                </a:solidFill>
              </a:rPr>
              <a:t>, </a:t>
            </a:r>
            <a:r>
              <a:rPr sz="1350" b="0" dirty="0" err="1">
                <a:solidFill>
                  <a:srgbClr val="444444"/>
                </a:solidFill>
              </a:rPr>
              <a:t>setup_llm_client</a:t>
            </a:r>
            <a:r>
              <a:rPr sz="1350" b="0" dirty="0">
                <a:solidFill>
                  <a:srgbClr val="444444"/>
                </a:solidFill>
              </a:rPr>
              <a:t>, </a:t>
            </a:r>
            <a:r>
              <a:rPr sz="1350" b="0" dirty="0" err="1">
                <a:solidFill>
                  <a:srgbClr val="444444"/>
                </a:solidFill>
              </a:rPr>
              <a:t>build_prompt</a:t>
            </a:r>
            <a:r>
              <a:rPr sz="1350" b="0" dirty="0">
                <a:solidFill>
                  <a:srgbClr val="444444"/>
                </a:solidFill>
              </a:rPr>
              <a:t>, </a:t>
            </a:r>
            <a:r>
              <a:rPr sz="1350" b="0" dirty="0" err="1">
                <a:solidFill>
                  <a:srgbClr val="444444"/>
                </a:solidFill>
              </a:rPr>
              <a:t>parse_llm_response</a:t>
            </a:r>
            <a:r>
              <a:rPr sz="1350" b="0" dirty="0">
                <a:solidFill>
                  <a:srgbClr val="444444"/>
                </a:solidFill>
              </a:rPr>
              <a:t>, </a:t>
            </a:r>
            <a:r>
              <a:rPr sz="1350" b="0" dirty="0" err="1">
                <a:solidFill>
                  <a:srgbClr val="444444"/>
                </a:solidFill>
              </a:rPr>
              <a:t>save_simulation_results</a:t>
            </a:r>
            <a:r>
              <a:rPr sz="1350" b="0" dirty="0">
                <a:solidFill>
                  <a:srgbClr val="444444"/>
                </a:solidFill>
              </a:rPr>
              <a:t>, </a:t>
            </a:r>
            <a:r>
              <a:rPr sz="1350" b="0" dirty="0" err="1">
                <a:solidFill>
                  <a:srgbClr val="444444"/>
                </a:solidFill>
              </a:rPr>
              <a:t>visualize_trend</a:t>
            </a:r>
            <a:r>
              <a:rPr sz="1350" b="0" dirty="0">
                <a:solidFill>
                  <a:srgbClr val="444444"/>
                </a:solidFill>
              </a:rPr>
              <a:t>, </a:t>
            </a:r>
            <a:r>
              <a:rPr sz="1350" b="0" dirty="0" err="1">
                <a:solidFill>
                  <a:srgbClr val="444444"/>
                </a:solidFill>
              </a:rPr>
              <a:t>compute_similarity</a:t>
            </a:r>
            <a:r>
              <a:rPr sz="1350" b="0" dirty="0">
                <a:solidFill>
                  <a:srgbClr val="444444"/>
                </a:solidFill>
              </a:rPr>
              <a:t>, </a:t>
            </a:r>
            <a:r>
              <a:rPr sz="1350" b="0" dirty="0" err="1">
                <a:solidFill>
                  <a:srgbClr val="444444"/>
                </a:solidFill>
              </a:rPr>
              <a:t>get_logger</a:t>
            </a:r>
            <a:r>
              <a:rPr sz="1350" b="0" dirty="0">
                <a:solidFill>
                  <a:srgbClr val="444444"/>
                </a:solidFill>
              </a:rPr>
              <a:t>。</a:t>
            </a:r>
          </a:p>
          <a:p>
            <a:pPr>
              <a:defRPr sz="1350" b="0">
                <a:solidFill>
                  <a:srgbClr val="444444"/>
                </a:solidFill>
              </a:defRPr>
            </a:pPr>
            <a:r>
              <a:rPr sz="1350" b="0" dirty="0" err="1">
                <a:solidFill>
                  <a:srgbClr val="444444"/>
                </a:solidFill>
              </a:rPr>
              <a:t>验收：结果无需改格式即可渲染；Dashboard加载</a:t>
            </a:r>
            <a:r>
              <a:rPr sz="1350" b="0" dirty="0">
                <a:solidFill>
                  <a:srgbClr val="444444"/>
                </a:solidFill>
              </a:rPr>
              <a:t> &lt; 2秒。</a:t>
            </a:r>
            <a:r>
              <a:rPr lang="zh-CN" altLang="en-US" sz="1350" b="0" dirty="0">
                <a:solidFill>
                  <a:srgbClr val="444444"/>
                </a:solidFill>
              </a:rPr>
              <a:t>（即约定输出对齐，图表可快速加载）</a:t>
            </a:r>
            <a:endParaRPr sz="1350" b="0" dirty="0">
              <a:solidFill>
                <a:srgbClr val="44444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27566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983680-22C2-4E7C-A593-1BB597821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0">
                <a:solidFill>
                  <a:srgbClr val="000000"/>
                </a:solidFill>
              </a:defRPr>
            </a:pPr>
            <a:r>
              <a:rPr sz="3000" b="0" dirty="0">
                <a:solidFill>
                  <a:srgbClr val="000000"/>
                </a:solidFill>
              </a:rPr>
              <a:t> </a:t>
            </a:r>
            <a:r>
              <a:rPr sz="3000" b="0" dirty="0" err="1">
                <a:solidFill>
                  <a:srgbClr val="000000"/>
                </a:solidFill>
              </a:rPr>
              <a:t>五人分工</a:t>
            </a:r>
            <a:r>
              <a:rPr sz="3000" b="0" dirty="0">
                <a:solidFill>
                  <a:srgbClr val="000000"/>
                </a:solidFill>
              </a:rPr>
              <a:t> summary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48349C6-4D12-4CAC-9863-E1D7D53816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4285" y="1584325"/>
            <a:ext cx="4984115" cy="4351655"/>
          </a:xfrm>
        </p:spPr>
        <p:txBody>
          <a:bodyPr>
            <a:normAutofit/>
          </a:bodyPr>
          <a:lstStyle/>
          <a:p>
            <a:pPr>
              <a:defRPr sz="1500" b="0">
                <a:solidFill>
                  <a:srgbClr val="444444"/>
                </a:solidFill>
              </a:defRPr>
            </a:pPr>
            <a:r>
              <a:rPr lang="zh-CN" altLang="en-US" sz="1800" b="0" dirty="0">
                <a:solidFill>
                  <a:srgbClr val="444444"/>
                </a:solidFill>
              </a:rPr>
              <a:t>下周计划</a:t>
            </a:r>
            <a:r>
              <a:rPr sz="1800" b="0" dirty="0">
                <a:solidFill>
                  <a:srgbClr val="444444"/>
                </a:solidFill>
              </a:rPr>
              <a:t> next week</a:t>
            </a:r>
          </a:p>
          <a:p>
            <a:pPr>
              <a:defRPr sz="1500" b="0">
                <a:solidFill>
                  <a:srgbClr val="444444"/>
                </a:solidFill>
              </a:defRPr>
            </a:pPr>
            <a:r>
              <a:rPr lang="en-US" sz="1800" b="0" dirty="0">
                <a:solidFill>
                  <a:srgbClr val="444444"/>
                </a:solidFill>
              </a:rPr>
              <a:t>1 </a:t>
            </a:r>
            <a:r>
              <a:rPr lang="en-US" altLang="zh-CN" sz="1800" dirty="0">
                <a:solidFill>
                  <a:srgbClr val="444444"/>
                </a:solidFill>
              </a:rPr>
              <a:t>A-C-B</a:t>
            </a:r>
            <a:r>
              <a:rPr lang="zh-CN" altLang="en-US" sz="1800" dirty="0">
                <a:solidFill>
                  <a:srgbClr val="444444"/>
                </a:solidFill>
              </a:rPr>
              <a:t>之间连接跑通 </a:t>
            </a:r>
            <a:r>
              <a:rPr lang="en-US" altLang="zh-CN" sz="1800" dirty="0">
                <a:solidFill>
                  <a:srgbClr val="444444"/>
                </a:solidFill>
              </a:rPr>
              <a:t>step/</a:t>
            </a:r>
            <a:r>
              <a:rPr lang="zh-CN" altLang="en-US" sz="1800" dirty="0">
                <a:solidFill>
                  <a:srgbClr val="444444"/>
                </a:solidFill>
              </a:rPr>
              <a:t>采样</a:t>
            </a:r>
            <a:r>
              <a:rPr lang="en-US" altLang="zh-CN" sz="1800" dirty="0">
                <a:solidFill>
                  <a:srgbClr val="444444"/>
                </a:solidFill>
              </a:rPr>
              <a:t>/LLM </a:t>
            </a:r>
            <a:r>
              <a:rPr lang="zh-CN" altLang="en-US" sz="1800" dirty="0">
                <a:solidFill>
                  <a:srgbClr val="444444"/>
                </a:solidFill>
              </a:rPr>
              <a:t>接口</a:t>
            </a:r>
          </a:p>
          <a:p>
            <a:pPr>
              <a:buNone/>
              <a:defRPr sz="1500" b="0">
                <a:solidFill>
                  <a:srgbClr val="444444"/>
                </a:solidFill>
              </a:defRPr>
            </a:pPr>
            <a:r>
              <a:rPr lang="en-US" sz="1800" b="0" dirty="0">
                <a:solidFill>
                  <a:srgbClr val="444444"/>
                </a:solidFill>
              </a:rPr>
              <a:t>2 </a:t>
            </a:r>
            <a:r>
              <a:rPr sz="1800" b="0" dirty="0" err="1">
                <a:solidFill>
                  <a:srgbClr val="444444"/>
                </a:solidFill>
              </a:rPr>
              <a:t>每人独占完整模块，闭环到底</a:t>
            </a:r>
            <a:r>
              <a:rPr lang="zh-CN" altLang="en-US" sz="1800" dirty="0">
                <a:solidFill>
                  <a:srgbClr val="444444"/>
                </a:solidFill>
              </a:rPr>
              <a:t>，</a:t>
            </a:r>
            <a:r>
              <a:rPr sz="1800" b="0" dirty="0" err="1">
                <a:solidFill>
                  <a:srgbClr val="444444"/>
                </a:solidFill>
              </a:rPr>
              <a:t>同一数据流前后环节同人负责</a:t>
            </a:r>
            <a:endParaRPr sz="1800" b="0" dirty="0">
              <a:solidFill>
                <a:srgbClr val="444444"/>
              </a:solidFill>
            </a:endParaRPr>
          </a:p>
          <a:p>
            <a:pPr>
              <a:buNone/>
              <a:defRPr sz="1500" b="0">
                <a:solidFill>
                  <a:srgbClr val="444444"/>
                </a:solidFill>
              </a:defRPr>
            </a:pPr>
            <a:r>
              <a:rPr lang="en-US" sz="1800" b="0" dirty="0">
                <a:solidFill>
                  <a:srgbClr val="444444"/>
                </a:solidFill>
              </a:rPr>
              <a:t> 3 </a:t>
            </a:r>
            <a:r>
              <a:rPr sz="1800" b="0" dirty="0" err="1">
                <a:solidFill>
                  <a:srgbClr val="444444"/>
                </a:solidFill>
              </a:rPr>
              <a:t>函数自测达标后即可交付下游，不等全系统完工</a:t>
            </a:r>
            <a:endParaRPr sz="1800" b="0" dirty="0">
              <a:solidFill>
                <a:srgbClr val="444444"/>
              </a:solidFill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D431CEF1-EB66-40AB-9BA8-855A9172B978}"/>
              </a:ext>
            </a:extLst>
          </p:cNvPr>
          <p:cNvSpPr>
            <a:spLocks noGrp="1"/>
          </p:cNvSpPr>
          <p:nvPr/>
        </p:nvSpPr>
        <p:spPr>
          <a:xfrm>
            <a:off x="746760" y="1584325"/>
            <a:ext cx="4984115" cy="4351655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defRPr sz="1500" b="0">
                <a:solidFill>
                  <a:srgbClr val="444444"/>
                </a:solidFill>
              </a:defRPr>
            </a:pPr>
            <a:r>
              <a:rPr lang="zh-CN" altLang="en-US" sz="1800" b="0" dirty="0">
                <a:solidFill>
                  <a:srgbClr val="444444"/>
                </a:solidFill>
              </a:rPr>
              <a:t>本周完成 </a:t>
            </a:r>
            <a:r>
              <a:rPr sz="1800" b="0" dirty="0">
                <a:solidFill>
                  <a:srgbClr val="444444"/>
                </a:solidFill>
              </a:rPr>
              <a:t>this week</a:t>
            </a:r>
          </a:p>
          <a:p>
            <a:pPr marL="0" indent="0">
              <a:buNone/>
              <a:defRPr sz="1575" b="0">
                <a:solidFill>
                  <a:srgbClr val="444444"/>
                </a:solidFill>
              </a:defRPr>
            </a:pPr>
            <a:r>
              <a:rPr lang="en-US" altLang="zh-CN" sz="1800" dirty="0">
                <a:solidFill>
                  <a:srgbClr val="444444"/>
                </a:solidFill>
              </a:rPr>
              <a:t>1 </a:t>
            </a:r>
            <a:r>
              <a:rPr lang="zh-CN" altLang="en-US" sz="1800" dirty="0">
                <a:solidFill>
                  <a:srgbClr val="444444"/>
                </a:solidFill>
              </a:rPr>
              <a:t>完成五人模块责任与接口契约（</a:t>
            </a:r>
            <a:r>
              <a:rPr lang="en-US" altLang="zh-CN" sz="1800" dirty="0">
                <a:solidFill>
                  <a:srgbClr val="444444"/>
                </a:solidFill>
              </a:rPr>
              <a:t>100%</a:t>
            </a:r>
            <a:r>
              <a:rPr lang="zh-CN" altLang="en-US" sz="1800" dirty="0">
                <a:solidFill>
                  <a:srgbClr val="444444"/>
                </a:solidFill>
              </a:rPr>
              <a:t>）</a:t>
            </a:r>
          </a:p>
          <a:p>
            <a:pPr>
              <a:buNone/>
              <a:defRPr sz="1575" b="0">
                <a:solidFill>
                  <a:srgbClr val="444444"/>
                </a:solidFill>
              </a:defRPr>
            </a:pPr>
            <a:r>
              <a:rPr lang="en-US" altLang="zh-CN" sz="1800" dirty="0">
                <a:solidFill>
                  <a:srgbClr val="444444"/>
                </a:solidFill>
              </a:rPr>
              <a:t>2</a:t>
            </a:r>
            <a:r>
              <a:rPr lang="zh-CN" altLang="en-US" sz="1800" dirty="0">
                <a:solidFill>
                  <a:srgbClr val="444444"/>
                </a:solidFill>
              </a:rPr>
              <a:t> 整理</a:t>
            </a:r>
            <a:r>
              <a:rPr lang="en-US" altLang="zh-CN" sz="1800" dirty="0">
                <a:solidFill>
                  <a:srgbClr val="444444"/>
                </a:solidFill>
              </a:rPr>
              <a:t>37</a:t>
            </a:r>
            <a:r>
              <a:rPr lang="zh-CN" altLang="en-US" sz="1800" dirty="0">
                <a:solidFill>
                  <a:srgbClr val="444444"/>
                </a:solidFill>
              </a:rPr>
              <a:t>个编号函数 </a:t>
            </a:r>
            <a:r>
              <a:rPr lang="en-US" altLang="zh-CN" sz="1800" dirty="0">
                <a:solidFill>
                  <a:srgbClr val="444444"/>
                </a:solidFill>
              </a:rPr>
              <a:t>+ 1</a:t>
            </a:r>
            <a:r>
              <a:rPr lang="zh-CN" altLang="en-US" sz="1800" dirty="0">
                <a:solidFill>
                  <a:srgbClr val="444444"/>
                </a:solidFill>
              </a:rPr>
              <a:t>个补充接口（</a:t>
            </a:r>
            <a:r>
              <a:rPr lang="en-US" altLang="zh-CN" sz="1800" dirty="0">
                <a:solidFill>
                  <a:srgbClr val="444444"/>
                </a:solidFill>
              </a:rPr>
              <a:t>100%</a:t>
            </a:r>
            <a:r>
              <a:rPr lang="zh-CN" altLang="en-US" sz="1800" dirty="0">
                <a:solidFill>
                  <a:srgbClr val="444444"/>
                </a:solidFill>
              </a:rPr>
              <a:t>）</a:t>
            </a:r>
          </a:p>
          <a:p>
            <a:pPr>
              <a:buNone/>
              <a:defRPr sz="1575" b="0">
                <a:solidFill>
                  <a:srgbClr val="444444"/>
                </a:solidFill>
              </a:defRPr>
            </a:pPr>
            <a:r>
              <a:rPr lang="en-US" altLang="zh-CN" sz="1800" dirty="0">
                <a:solidFill>
                  <a:srgbClr val="444444"/>
                </a:solidFill>
              </a:rPr>
              <a:t>3 </a:t>
            </a:r>
            <a:r>
              <a:rPr lang="zh-CN" altLang="en-US" sz="1800" dirty="0">
                <a:solidFill>
                  <a:srgbClr val="444444"/>
                </a:solidFill>
              </a:rPr>
              <a:t>定义</a:t>
            </a:r>
            <a:r>
              <a:rPr lang="en-US" altLang="zh-CN" sz="1800" dirty="0">
                <a:solidFill>
                  <a:srgbClr val="444444"/>
                </a:solidFill>
              </a:rPr>
              <a:t>Agent/Action/Intervention</a:t>
            </a:r>
            <a:r>
              <a:rPr lang="zh-CN" altLang="en-US" sz="1800" dirty="0">
                <a:solidFill>
                  <a:srgbClr val="444444"/>
                </a:solidFill>
              </a:rPr>
              <a:t>等核心类（</a:t>
            </a:r>
            <a:r>
              <a:rPr lang="en-US" altLang="zh-CN" sz="1800" dirty="0">
                <a:solidFill>
                  <a:srgbClr val="444444"/>
                </a:solidFill>
              </a:rPr>
              <a:t>100%</a:t>
            </a:r>
            <a:r>
              <a:rPr lang="zh-CN" altLang="en-US" sz="1800" dirty="0">
                <a:solidFill>
                  <a:srgbClr val="444444"/>
                </a:solidFill>
              </a:rPr>
              <a:t>）</a:t>
            </a:r>
          </a:p>
          <a:p>
            <a:pPr>
              <a:buNone/>
              <a:defRPr sz="1575" b="0">
                <a:solidFill>
                  <a:srgbClr val="444444"/>
                </a:solidFill>
              </a:defRPr>
            </a:pPr>
            <a:r>
              <a:rPr lang="en-US" altLang="zh-CN" sz="1800" dirty="0">
                <a:solidFill>
                  <a:srgbClr val="444444"/>
                </a:solidFill>
              </a:rPr>
              <a:t>4 </a:t>
            </a:r>
            <a:r>
              <a:rPr lang="zh-CN" altLang="en-US" sz="1800" dirty="0">
                <a:solidFill>
                  <a:srgbClr val="444444"/>
                </a:solidFill>
              </a:rPr>
              <a:t>完成五模块闭环架构图与</a:t>
            </a:r>
            <a:r>
              <a:rPr lang="en-US" altLang="zh-CN" sz="1800" dirty="0">
                <a:solidFill>
                  <a:srgbClr val="444444"/>
                </a:solidFill>
              </a:rPr>
              <a:t>Sprint</a:t>
            </a:r>
            <a:r>
              <a:rPr lang="zh-CN" altLang="en-US" sz="1800" dirty="0">
                <a:solidFill>
                  <a:srgbClr val="444444"/>
                </a:solidFill>
              </a:rPr>
              <a:t>甘特图（</a:t>
            </a:r>
            <a:r>
              <a:rPr lang="en-US" altLang="zh-CN" sz="1800" dirty="0">
                <a:solidFill>
                  <a:srgbClr val="444444"/>
                </a:solidFill>
              </a:rPr>
              <a:t>100%</a:t>
            </a:r>
            <a:r>
              <a:rPr lang="zh-CN" altLang="en-US" sz="1800" dirty="0">
                <a:solidFill>
                  <a:srgbClr val="444444"/>
                </a:solidFill>
              </a:rPr>
              <a:t>）</a:t>
            </a:r>
          </a:p>
          <a:p>
            <a:pPr>
              <a:buNone/>
              <a:defRPr sz="1575" b="0">
                <a:solidFill>
                  <a:srgbClr val="444444"/>
                </a:solidFill>
              </a:defRPr>
            </a:pPr>
            <a:r>
              <a:rPr lang="en-US" altLang="zh-CN" sz="1800" dirty="0">
                <a:solidFill>
                  <a:srgbClr val="444444"/>
                </a:solidFill>
              </a:rPr>
              <a:t>5 </a:t>
            </a:r>
            <a:r>
              <a:rPr lang="zh-CN" altLang="en-US" sz="1800" dirty="0">
                <a:solidFill>
                  <a:srgbClr val="444444"/>
                </a:solidFill>
              </a:rPr>
              <a:t>完成</a:t>
            </a:r>
            <a:r>
              <a:rPr lang="en-US" altLang="zh-CN" sz="1800" dirty="0">
                <a:solidFill>
                  <a:srgbClr val="444444"/>
                </a:solidFill>
              </a:rPr>
              <a:t>Sprint1-Sprint5</a:t>
            </a:r>
            <a:r>
              <a:rPr lang="zh-CN" altLang="en-US" sz="1800" dirty="0">
                <a:solidFill>
                  <a:srgbClr val="444444"/>
                </a:solidFill>
              </a:rPr>
              <a:t>节奏与工时边界评估（</a:t>
            </a:r>
            <a:r>
              <a:rPr lang="en-US" altLang="zh-CN" sz="1800" dirty="0">
                <a:solidFill>
                  <a:srgbClr val="444444"/>
                </a:solidFill>
              </a:rPr>
              <a:t>100%</a:t>
            </a:r>
            <a:r>
              <a:rPr lang="zh-CN" altLang="en-US" sz="1800" dirty="0">
                <a:solidFill>
                  <a:srgbClr val="444444"/>
                </a:solidFill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4859965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8D5500BA-CE97-8E03-6479-D847382F47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73200" y="847027"/>
            <a:ext cx="9245600" cy="5827529"/>
          </a:xfrm>
          <a:prstGeom prst="rect">
            <a:avLst/>
          </a:prstGeom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AEE12B92-5B84-491E-B7E2-3F2538AE212D}"/>
              </a:ext>
            </a:extLst>
          </p:cNvPr>
          <p:cNvSpPr txBox="1">
            <a:spLocks/>
          </p:cNvSpPr>
          <p:nvPr/>
        </p:nvSpPr>
        <p:spPr>
          <a:xfrm>
            <a:off x="160020" y="89572"/>
            <a:ext cx="10515600" cy="1325563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>
              <a:defRPr sz="3000" b="0">
                <a:solidFill>
                  <a:srgbClr val="000000"/>
                </a:solidFill>
              </a:defRPr>
            </a:pPr>
            <a:r>
              <a:rPr lang="zh-CN" altLang="en-US" sz="3000" kern="0" dirty="0">
                <a:solidFill>
                  <a:srgbClr val="000000"/>
                </a:solidFill>
              </a:rPr>
              <a:t>模块数据流图</a:t>
            </a:r>
            <a:endParaRPr lang="en-US" sz="3000" kern="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10336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DA8E45-61E8-43AE-9EDA-9E21294B9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0">
                <a:solidFill>
                  <a:srgbClr val="000000"/>
                </a:solidFill>
              </a:defRPr>
            </a:pPr>
            <a:r>
              <a:rPr sz="3000" b="0" dirty="0" err="1">
                <a:solidFill>
                  <a:srgbClr val="000000"/>
                </a:solidFill>
              </a:rPr>
              <a:t>Sprint甘特图</a:t>
            </a:r>
            <a:r>
              <a:rPr sz="3000" b="0" dirty="0">
                <a:solidFill>
                  <a:srgbClr val="000000"/>
                </a:solidFill>
              </a:rPr>
              <a:t> roadmap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4377" y="1265555"/>
            <a:ext cx="8733006" cy="5334000"/>
          </a:xfrm>
          <a:prstGeom prst="rect">
            <a:avLst/>
          </a:prstGeom>
        </p:spPr>
      </p:pic>
      <p:sp>
        <p:nvSpPr>
          <p:cNvPr id="4" name="内容占位符 2">
            <a:extLst>
              <a:ext uri="{FF2B5EF4-FFF2-40B4-BE49-F238E27FC236}">
                <a16:creationId xmlns:a16="http://schemas.microsoft.com/office/drawing/2014/main" id="{89C54661-9FA3-D4B4-1922-53F7B285DD72}"/>
              </a:ext>
            </a:extLst>
          </p:cNvPr>
          <p:cNvSpPr txBox="1">
            <a:spLocks/>
          </p:cNvSpPr>
          <p:nvPr/>
        </p:nvSpPr>
        <p:spPr>
          <a:xfrm>
            <a:off x="8867383" y="1371600"/>
            <a:ext cx="3260650" cy="5077264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defRPr sz="1500" b="0">
                <a:solidFill>
                  <a:srgbClr val="444444"/>
                </a:solidFill>
              </a:defRPr>
            </a:pPr>
            <a:r>
              <a:rPr lang="en-US" altLang="zh-CN" sz="1600" dirty="0">
                <a:ea typeface="等线" panose="02010600030101010101" pitchFamily="2" charset="-122"/>
                <a:cs typeface="微软雅黑" panose="020B0503020204020204" pitchFamily="34" charset="-122"/>
              </a:rPr>
              <a:t>A </a:t>
            </a:r>
            <a:r>
              <a:rPr lang="zh-CN" altLang="en-US" sz="1600" dirty="0">
                <a:ea typeface="等线" panose="02010600030101010101" pitchFamily="2" charset="-122"/>
                <a:cs typeface="微软雅黑" panose="020B0503020204020204" pitchFamily="34" charset="-122"/>
              </a:rPr>
              <a:t>搭框架</a:t>
            </a:r>
            <a:r>
              <a:rPr lang="en-US" altLang="zh-CN" sz="1600" dirty="0">
                <a:ea typeface="等线" panose="02010600030101010101" pitchFamily="2" charset="-122"/>
                <a:cs typeface="微软雅黑" panose="020B0503020204020204" pitchFamily="34" charset="-122"/>
              </a:rPr>
              <a:t>+</a:t>
            </a:r>
            <a:r>
              <a:rPr lang="zh-CN" altLang="en-US" sz="1600" dirty="0">
                <a:ea typeface="等线" panose="02010600030101010101" pitchFamily="2" charset="-122"/>
                <a:cs typeface="微软雅黑" panose="020B0503020204020204" pitchFamily="34" charset="-122"/>
              </a:rPr>
              <a:t>网络</a:t>
            </a:r>
            <a:r>
              <a:rPr lang="en-US" altLang="zh-CN" sz="1600" dirty="0">
                <a:ea typeface="等线" panose="02010600030101010101" pitchFamily="2" charset="-122"/>
                <a:cs typeface="微软雅黑" panose="020B0503020204020204" pitchFamily="34" charset="-122"/>
              </a:rPr>
              <a:t>+step</a:t>
            </a:r>
            <a:r>
              <a:rPr lang="zh-CN" altLang="en-US" sz="1600" dirty="0">
                <a:ea typeface="等线" panose="02010600030101010101" pitchFamily="2" charset="-122"/>
                <a:cs typeface="微软雅黑" panose="020B0503020204020204" pitchFamily="34" charset="-122"/>
              </a:rPr>
              <a:t>；</a:t>
            </a:r>
            <a:r>
              <a:rPr lang="en-US" altLang="zh-CN" sz="1600" dirty="0">
                <a:ea typeface="等线" panose="02010600030101010101" pitchFamily="2" charset="-122"/>
                <a:cs typeface="微软雅黑" panose="020B0503020204020204" pitchFamily="34" charset="-122"/>
              </a:rPr>
              <a:t>B </a:t>
            </a:r>
            <a:r>
              <a:rPr lang="zh-CN" altLang="en-US" sz="1600" dirty="0">
                <a:ea typeface="等线" panose="02010600030101010101" pitchFamily="2" charset="-122"/>
                <a:cs typeface="微软雅黑" panose="020B0503020204020204" pitchFamily="34" charset="-122"/>
              </a:rPr>
              <a:t>用随机数</a:t>
            </a:r>
            <a:r>
              <a:rPr lang="en-US" altLang="zh-CN" sz="1600" dirty="0">
                <a:ea typeface="等线" panose="02010600030101010101" pitchFamily="2" charset="-122"/>
                <a:cs typeface="微软雅黑" panose="020B0503020204020204" pitchFamily="34" charset="-122"/>
              </a:rPr>
              <a:t>/</a:t>
            </a:r>
            <a:r>
              <a:rPr lang="zh-CN" altLang="en-US" sz="1600" dirty="0">
                <a:ea typeface="等线" panose="02010600030101010101" pitchFamily="2" charset="-122"/>
                <a:cs typeface="微软雅黑" panose="020B0503020204020204" pitchFamily="34" charset="-122"/>
              </a:rPr>
              <a:t>简单数学规则写假 </a:t>
            </a:r>
            <a:r>
              <a:rPr lang="en-US" altLang="zh-CN" sz="1600" dirty="0">
                <a:ea typeface="等线" panose="02010600030101010101" pitchFamily="2" charset="-122"/>
                <a:cs typeface="微软雅黑" panose="020B0503020204020204" pitchFamily="34" charset="-122"/>
              </a:rPr>
              <a:t>Agent</a:t>
            </a:r>
            <a:r>
              <a:rPr lang="zh-CN" altLang="en-US" sz="1600" dirty="0">
                <a:ea typeface="等线" panose="02010600030101010101" pitchFamily="2" charset="-122"/>
                <a:cs typeface="微软雅黑" panose="020B0503020204020204" pitchFamily="34" charset="-122"/>
              </a:rPr>
              <a:t>；</a:t>
            </a:r>
            <a:r>
              <a:rPr lang="en-US" altLang="zh-CN" sz="1600" dirty="0">
                <a:ea typeface="等线" panose="02010600030101010101" pitchFamily="2" charset="-122"/>
                <a:cs typeface="微软雅黑" panose="020B0503020204020204" pitchFamily="34" charset="-122"/>
              </a:rPr>
              <a:t>C </a:t>
            </a:r>
            <a:r>
              <a:rPr lang="zh-CN" altLang="en-US" sz="1600" dirty="0">
                <a:ea typeface="等线" panose="02010600030101010101" pitchFamily="2" charset="-122"/>
                <a:cs typeface="微软雅黑" panose="020B0503020204020204" pitchFamily="34" charset="-122"/>
              </a:rPr>
              <a:t>先做 </a:t>
            </a:r>
            <a:r>
              <a:rPr lang="en-US" altLang="zh-CN" sz="1600" dirty="0">
                <a:ea typeface="等线" panose="02010600030101010101" pitchFamily="2" charset="-122"/>
                <a:cs typeface="微软雅黑" panose="020B0503020204020204" pitchFamily="34" charset="-122"/>
              </a:rPr>
              <a:t>Hawkes </a:t>
            </a:r>
            <a:r>
              <a:rPr lang="zh-CN" altLang="en-US" sz="1600" dirty="0">
                <a:ea typeface="等线" panose="02010600030101010101" pitchFamily="2" charset="-122"/>
                <a:cs typeface="微软雅黑" panose="020B0503020204020204" pitchFamily="34" charset="-122"/>
              </a:rPr>
              <a:t>采样；</a:t>
            </a:r>
            <a:r>
              <a:rPr lang="en-US" altLang="zh-CN" sz="1600" dirty="0">
                <a:ea typeface="等线" panose="02010600030101010101" pitchFamily="2" charset="-122"/>
                <a:cs typeface="微软雅黑" panose="020B0503020204020204" pitchFamily="34" charset="-122"/>
              </a:rPr>
              <a:t>D/E </a:t>
            </a:r>
            <a:r>
              <a:rPr lang="zh-CN" altLang="en-US" sz="1600" dirty="0">
                <a:ea typeface="等线" panose="02010600030101010101" pitchFamily="2" charset="-122"/>
                <a:cs typeface="微软雅黑" panose="020B0503020204020204" pitchFamily="34" charset="-122"/>
              </a:rPr>
              <a:t>准备基线与导出。能出图即过 </a:t>
            </a:r>
            <a:endParaRPr lang="en-US" altLang="zh-CN" sz="1600" dirty="0">
              <a:ea typeface="等线" panose="02010600030101010101" pitchFamily="2" charset="-122"/>
              <a:cs typeface="微软雅黑" panose="020B0503020204020204" pitchFamily="34" charset="-122"/>
            </a:endParaRPr>
          </a:p>
          <a:p>
            <a:pPr>
              <a:defRPr sz="1500" b="0">
                <a:solidFill>
                  <a:srgbClr val="444444"/>
                </a:solidFill>
              </a:defRPr>
            </a:pPr>
            <a:r>
              <a:rPr lang="en-US" altLang="zh-CN" sz="1600" dirty="0">
                <a:ea typeface="等线" panose="02010600030101010101" pitchFamily="2" charset="-122"/>
                <a:cs typeface="微软雅黑" panose="020B0503020204020204" pitchFamily="34" charset="-122"/>
              </a:rPr>
              <a:t>C </a:t>
            </a:r>
            <a:r>
              <a:rPr lang="zh-CN" altLang="en-US" sz="1600" dirty="0">
                <a:ea typeface="等线" panose="02010600030101010101" pitchFamily="2" charset="-122"/>
                <a:cs typeface="微软雅黑" panose="020B0503020204020204" pitchFamily="34" charset="-122"/>
              </a:rPr>
              <a:t>打通 </a:t>
            </a:r>
            <a:r>
              <a:rPr lang="en-US" altLang="zh-CN" sz="1600" dirty="0" err="1">
                <a:ea typeface="等线" panose="02010600030101010101" pitchFamily="2" charset="-122"/>
                <a:cs typeface="微软雅黑" panose="020B0503020204020204" pitchFamily="34" charset="-122"/>
              </a:rPr>
              <a:t>setup_llm_client</a:t>
            </a:r>
            <a:r>
              <a:rPr lang="en-US" altLang="zh-CN" sz="1600" dirty="0">
                <a:ea typeface="等线" panose="02010600030101010101" pitchFamily="2" charset="-122"/>
                <a:cs typeface="微软雅黑" panose="020B0503020204020204" pitchFamily="34" charset="-122"/>
              </a:rPr>
              <a:t>/</a:t>
            </a:r>
            <a:r>
              <a:rPr lang="en-US" altLang="zh-CN" sz="1600" dirty="0" err="1">
                <a:ea typeface="等线" panose="02010600030101010101" pitchFamily="2" charset="-122"/>
                <a:cs typeface="微软雅黑" panose="020B0503020204020204" pitchFamily="34" charset="-122"/>
              </a:rPr>
              <a:t>build_prompt</a:t>
            </a:r>
            <a:r>
              <a:rPr lang="en-US" altLang="zh-CN" sz="1600" dirty="0">
                <a:ea typeface="等线" panose="02010600030101010101" pitchFamily="2" charset="-122"/>
                <a:cs typeface="微软雅黑" panose="020B0503020204020204" pitchFamily="34" charset="-122"/>
              </a:rPr>
              <a:t>/parse</a:t>
            </a:r>
            <a:r>
              <a:rPr lang="zh-CN" altLang="en-US" sz="1600" dirty="0">
                <a:ea typeface="等线" panose="02010600030101010101" pitchFamily="2" charset="-122"/>
                <a:cs typeface="微软雅黑" panose="020B0503020204020204" pitchFamily="34" charset="-122"/>
              </a:rPr>
              <a:t>；</a:t>
            </a:r>
            <a:endParaRPr lang="en-US" altLang="zh-CN" sz="1600" dirty="0">
              <a:ea typeface="等线" panose="02010600030101010101" pitchFamily="2" charset="-122"/>
              <a:cs typeface="微软雅黑" panose="020B0503020204020204" pitchFamily="34" charset="-122"/>
            </a:endParaRPr>
          </a:p>
          <a:p>
            <a:pPr>
              <a:defRPr sz="1500" b="0">
                <a:solidFill>
                  <a:srgbClr val="444444"/>
                </a:solidFill>
              </a:defRPr>
            </a:pPr>
            <a:r>
              <a:rPr lang="en-US" altLang="zh-CN" sz="1600" dirty="0">
                <a:ea typeface="等线" panose="02010600030101010101" pitchFamily="2" charset="-122"/>
                <a:cs typeface="微软雅黑" panose="020B0503020204020204" pitchFamily="34" charset="-122"/>
              </a:rPr>
              <a:t>B </a:t>
            </a:r>
            <a:r>
              <a:rPr lang="zh-CN" altLang="en-US" sz="1600" dirty="0">
                <a:ea typeface="等线" panose="02010600030101010101" pitchFamily="2" charset="-122"/>
                <a:cs typeface="微软雅黑" panose="020B0503020204020204" pitchFamily="34" charset="-122"/>
              </a:rPr>
              <a:t>让单个 </a:t>
            </a:r>
            <a:r>
              <a:rPr lang="en-US" altLang="zh-CN" sz="1600" dirty="0">
                <a:ea typeface="等线" panose="02010600030101010101" pitchFamily="2" charset="-122"/>
                <a:cs typeface="微软雅黑" panose="020B0503020204020204" pitchFamily="34" charset="-122"/>
              </a:rPr>
              <a:t>Agent </a:t>
            </a:r>
            <a:r>
              <a:rPr lang="zh-CN" altLang="en-US" sz="1600" dirty="0">
                <a:ea typeface="等线" panose="02010600030101010101" pitchFamily="2" charset="-122"/>
                <a:cs typeface="微软雅黑" panose="020B0503020204020204" pitchFamily="34" charset="-122"/>
              </a:rPr>
              <a:t>走真 </a:t>
            </a:r>
            <a:r>
              <a:rPr lang="en-US" altLang="zh-CN" sz="1600" dirty="0">
                <a:ea typeface="等线" panose="02010600030101010101" pitchFamily="2" charset="-122"/>
                <a:cs typeface="微软雅黑" panose="020B0503020204020204" pitchFamily="34" charset="-122"/>
              </a:rPr>
              <a:t>LLM </a:t>
            </a:r>
            <a:r>
              <a:rPr lang="zh-CN" altLang="en-US" sz="1600" dirty="0">
                <a:ea typeface="等线" panose="02010600030101010101" pitchFamily="2" charset="-122"/>
                <a:cs typeface="微软雅黑" panose="020B0503020204020204" pitchFamily="34" charset="-122"/>
              </a:rPr>
              <a:t>推理；测 </a:t>
            </a:r>
            <a:r>
              <a:rPr lang="en-US" altLang="zh-CN" sz="1600" dirty="0">
                <a:ea typeface="等线" panose="02010600030101010101" pitchFamily="2" charset="-122"/>
                <a:cs typeface="微软雅黑" panose="020B0503020204020204" pitchFamily="34" charset="-122"/>
              </a:rPr>
              <a:t>API </a:t>
            </a:r>
            <a:r>
              <a:rPr lang="zh-CN" altLang="en-US" sz="1600" dirty="0">
                <a:ea typeface="等线" panose="02010600030101010101" pitchFamily="2" charset="-122"/>
                <a:cs typeface="微软雅黑" panose="020B0503020204020204" pitchFamily="34" charset="-122"/>
              </a:rPr>
              <a:t>调用与 </a:t>
            </a:r>
            <a:r>
              <a:rPr lang="en-US" altLang="zh-CN" sz="1600" dirty="0">
                <a:ea typeface="等线" panose="02010600030101010101" pitchFamily="2" charset="-122"/>
                <a:cs typeface="微软雅黑" panose="020B0503020204020204" pitchFamily="34" charset="-122"/>
              </a:rPr>
              <a:t>Prompt </a:t>
            </a:r>
            <a:r>
              <a:rPr lang="zh-CN" altLang="en-US" sz="1600" dirty="0">
                <a:ea typeface="等线" panose="02010600030101010101" pitchFamily="2" charset="-122"/>
                <a:cs typeface="微软雅黑" panose="020B0503020204020204" pitchFamily="34" charset="-122"/>
              </a:rPr>
              <a:t>能否控住情绪变化。 </a:t>
            </a:r>
            <a:r>
              <a:rPr lang="en-US" altLang="zh-CN" sz="1600" dirty="0">
                <a:ea typeface="等线" panose="02010600030101010101" pitchFamily="2" charset="-122"/>
                <a:cs typeface="微软雅黑" panose="020B0503020204020204" pitchFamily="34" charset="-122"/>
              </a:rPr>
              <a:t>B </a:t>
            </a:r>
            <a:r>
              <a:rPr lang="zh-CN" altLang="en-US" sz="1600" dirty="0">
                <a:ea typeface="等线" panose="02010600030101010101" pitchFamily="2" charset="-122"/>
                <a:cs typeface="微软雅黑" panose="020B0503020204020204" pitchFamily="34" charset="-122"/>
              </a:rPr>
              <a:t>全量 </a:t>
            </a:r>
            <a:r>
              <a:rPr lang="en-US" altLang="zh-CN" sz="1600" dirty="0">
                <a:ea typeface="等线" panose="02010600030101010101" pitchFamily="2" charset="-122"/>
                <a:cs typeface="微软雅黑" panose="020B0503020204020204" pitchFamily="34" charset="-122"/>
              </a:rPr>
              <a:t>Agent </a:t>
            </a:r>
            <a:r>
              <a:rPr lang="zh-CN" altLang="en-US" sz="1600" dirty="0">
                <a:ea typeface="等线" panose="02010600030101010101" pitchFamily="2" charset="-122"/>
                <a:cs typeface="微软雅黑" panose="020B0503020204020204" pitchFamily="34" charset="-122"/>
              </a:rPr>
              <a:t>接 </a:t>
            </a:r>
            <a:r>
              <a:rPr lang="en-US" altLang="zh-CN" sz="1600" dirty="0">
                <a:ea typeface="等线" panose="02010600030101010101" pitchFamily="2" charset="-122"/>
                <a:cs typeface="微软雅黑" panose="020B0503020204020204" pitchFamily="34" charset="-122"/>
              </a:rPr>
              <a:t>LLM</a:t>
            </a:r>
            <a:r>
              <a:rPr lang="zh-CN" altLang="en-US" sz="1600" dirty="0">
                <a:ea typeface="等线" panose="02010600030101010101" pitchFamily="2" charset="-122"/>
                <a:cs typeface="微软雅黑" panose="020B0503020204020204" pitchFamily="34" charset="-122"/>
              </a:rPr>
              <a:t>（数量先限制在几十个，控 </a:t>
            </a:r>
            <a:r>
              <a:rPr lang="en-US" altLang="zh-CN" sz="1600" dirty="0">
                <a:ea typeface="等线" panose="02010600030101010101" pitchFamily="2" charset="-122"/>
                <a:cs typeface="微软雅黑" panose="020B0503020204020204" pitchFamily="34" charset="-122"/>
              </a:rPr>
              <a:t>API </a:t>
            </a:r>
            <a:r>
              <a:rPr lang="zh-CN" altLang="en-US" sz="1600" dirty="0">
                <a:ea typeface="等线" panose="02010600030101010101" pitchFamily="2" charset="-122"/>
                <a:cs typeface="微软雅黑" panose="020B0503020204020204" pitchFamily="34" charset="-122"/>
              </a:rPr>
              <a:t>费用与耗时）；</a:t>
            </a:r>
            <a:r>
              <a:rPr lang="en-US" altLang="zh-CN" sz="1600" dirty="0">
                <a:ea typeface="等线" panose="02010600030101010101" pitchFamily="2" charset="-122"/>
                <a:cs typeface="微软雅黑" panose="020B0503020204020204" pitchFamily="34" charset="-122"/>
              </a:rPr>
              <a:t>A </a:t>
            </a:r>
            <a:r>
              <a:rPr lang="zh-CN" altLang="en-US" sz="1600" dirty="0">
                <a:ea typeface="等线" panose="02010600030101010101" pitchFamily="2" charset="-122"/>
                <a:cs typeface="微软雅黑" panose="020B0503020204020204" pitchFamily="34" charset="-122"/>
              </a:rPr>
              <a:t>调度并发；</a:t>
            </a:r>
            <a:r>
              <a:rPr lang="en-US" altLang="zh-CN" sz="1600" dirty="0">
                <a:ea typeface="等线" panose="02010600030101010101" pitchFamily="2" charset="-122"/>
                <a:cs typeface="微软雅黑" panose="020B0503020204020204" pitchFamily="34" charset="-122"/>
              </a:rPr>
              <a:t>C </a:t>
            </a:r>
            <a:r>
              <a:rPr lang="zh-CN" altLang="en-US" sz="1600" dirty="0">
                <a:ea typeface="等线" panose="02010600030101010101" pitchFamily="2" charset="-122"/>
                <a:cs typeface="微软雅黑" panose="020B0503020204020204" pitchFamily="34" charset="-122"/>
              </a:rPr>
              <a:t>做重试与限流。 </a:t>
            </a:r>
            <a:endParaRPr lang="en-US" altLang="zh-CN" sz="1600" dirty="0">
              <a:ea typeface="等线" panose="02010600030101010101" pitchFamily="2" charset="-122"/>
              <a:cs typeface="微软雅黑" panose="020B0503020204020204" pitchFamily="34" charset="-122"/>
            </a:endParaRPr>
          </a:p>
          <a:p>
            <a:pPr>
              <a:defRPr sz="1500" b="0">
                <a:solidFill>
                  <a:srgbClr val="444444"/>
                </a:solidFill>
              </a:defRPr>
            </a:pPr>
            <a:r>
              <a:rPr lang="en-US" altLang="zh-CN" sz="1600" dirty="0">
                <a:ea typeface="等线" panose="02010600030101010101" pitchFamily="2" charset="-122"/>
                <a:cs typeface="微软雅黑" panose="020B0503020204020204" pitchFamily="34" charset="-122"/>
              </a:rPr>
              <a:t>D </a:t>
            </a:r>
            <a:r>
              <a:rPr lang="zh-CN" altLang="en-US" sz="1600" dirty="0">
                <a:ea typeface="等线" panose="02010600030101010101" pitchFamily="2" charset="-122"/>
                <a:cs typeface="微软雅黑" panose="020B0503020204020204" pitchFamily="34" charset="-122"/>
              </a:rPr>
              <a:t>加官方 </a:t>
            </a:r>
            <a:r>
              <a:rPr lang="en-US" altLang="zh-CN" sz="1600" dirty="0">
                <a:ea typeface="等线" panose="02010600030101010101" pitchFamily="2" charset="-122"/>
                <a:cs typeface="微软雅黑" panose="020B0503020204020204" pitchFamily="34" charset="-122"/>
              </a:rPr>
              <a:t>Agent</a:t>
            </a:r>
            <a:r>
              <a:rPr lang="zh-CN" altLang="en-US" sz="1600" dirty="0">
                <a:ea typeface="等线" panose="02010600030101010101" pitchFamily="2" charset="-122"/>
                <a:cs typeface="微软雅黑" panose="020B0503020204020204" pitchFamily="34" charset="-122"/>
              </a:rPr>
              <a:t>，设计三类干预策略，跑多组对比；</a:t>
            </a:r>
            <a:r>
              <a:rPr lang="en-US" altLang="zh-CN" sz="1600" dirty="0">
                <a:ea typeface="等线" panose="02010600030101010101" pitchFamily="2" charset="-122"/>
                <a:cs typeface="微软雅黑" panose="020B0503020204020204" pitchFamily="34" charset="-122"/>
              </a:rPr>
              <a:t>A </a:t>
            </a:r>
            <a:r>
              <a:rPr lang="zh-CN" altLang="en-US" sz="1600" dirty="0">
                <a:ea typeface="等线" panose="02010600030101010101" pitchFamily="2" charset="-122"/>
                <a:cs typeface="微软雅黑" panose="020B0503020204020204" pitchFamily="34" charset="-122"/>
              </a:rPr>
              <a:t>支持策略注入时机；</a:t>
            </a:r>
            <a:r>
              <a:rPr lang="en-US" altLang="zh-CN" sz="1600" dirty="0">
                <a:ea typeface="等线" panose="02010600030101010101" pitchFamily="2" charset="-122"/>
                <a:cs typeface="微软雅黑" panose="020B0503020204020204" pitchFamily="34" charset="-122"/>
              </a:rPr>
              <a:t>B </a:t>
            </a:r>
            <a:r>
              <a:rPr lang="zh-CN" altLang="en-US" sz="1600" dirty="0">
                <a:ea typeface="等线" panose="02010600030101010101" pitchFamily="2" charset="-122"/>
                <a:cs typeface="微软雅黑" panose="020B0503020204020204" pitchFamily="34" charset="-122"/>
              </a:rPr>
              <a:t>让官方 </a:t>
            </a:r>
            <a:r>
              <a:rPr lang="en-US" altLang="zh-CN" sz="1600" dirty="0">
                <a:ea typeface="等线" panose="02010600030101010101" pitchFamily="2" charset="-122"/>
                <a:cs typeface="微软雅黑" panose="020B0503020204020204" pitchFamily="34" charset="-122"/>
              </a:rPr>
              <a:t>Agent </a:t>
            </a:r>
            <a:r>
              <a:rPr lang="zh-CN" altLang="en-US" sz="1600" dirty="0">
                <a:ea typeface="等线" panose="02010600030101010101" pitchFamily="2" charset="-122"/>
                <a:cs typeface="微软雅黑" panose="020B0503020204020204" pitchFamily="34" charset="-122"/>
              </a:rPr>
              <a:t>行为生效。</a:t>
            </a:r>
            <a:endParaRPr lang="en-US" altLang="zh-CN" sz="1600" dirty="0">
              <a:ea typeface="等线" panose="02010600030101010101" pitchFamily="2" charset="-122"/>
              <a:cs typeface="微软雅黑" panose="020B0503020204020204" pitchFamily="34" charset="-122"/>
            </a:endParaRPr>
          </a:p>
          <a:p>
            <a:pPr>
              <a:defRPr sz="1500" b="0">
                <a:solidFill>
                  <a:srgbClr val="444444"/>
                </a:solidFill>
              </a:defRPr>
            </a:pPr>
            <a:r>
              <a:rPr lang="en-US" altLang="zh-CN" sz="1600" dirty="0">
                <a:ea typeface="等线" panose="02010600030101010101" pitchFamily="2" charset="-122"/>
                <a:cs typeface="微软雅黑" panose="020B0503020204020204" pitchFamily="34" charset="-122"/>
              </a:rPr>
              <a:t>E </a:t>
            </a:r>
            <a:r>
              <a:rPr lang="zh-CN" altLang="en-US" sz="1600" dirty="0">
                <a:ea typeface="等线" panose="02010600030101010101" pitchFamily="2" charset="-122"/>
                <a:cs typeface="微软雅黑" panose="020B0503020204020204" pitchFamily="34" charset="-122"/>
              </a:rPr>
              <a:t>分析数据、整理 </a:t>
            </a:r>
            <a:r>
              <a:rPr lang="en-US" altLang="zh-CN" sz="1600" dirty="0">
                <a:ea typeface="等线" panose="02010600030101010101" pitchFamily="2" charset="-122"/>
                <a:cs typeface="微软雅黑" panose="020B0503020204020204" pitchFamily="34" charset="-122"/>
              </a:rPr>
              <a:t>Dashboard</a:t>
            </a:r>
            <a:r>
              <a:rPr lang="zh-CN" altLang="en-US" sz="1600" dirty="0">
                <a:ea typeface="等线" panose="02010600030101010101" pitchFamily="2" charset="-122"/>
                <a:cs typeface="微软雅黑" panose="020B0503020204020204" pitchFamily="34" charset="-122"/>
              </a:rPr>
              <a:t>、撰写报告；</a:t>
            </a:r>
            <a:r>
              <a:rPr lang="en-US" altLang="zh-CN" sz="1600" dirty="0">
                <a:ea typeface="等线" panose="02010600030101010101" pitchFamily="2" charset="-122"/>
                <a:cs typeface="微软雅黑" panose="020B0503020204020204" pitchFamily="34" charset="-122"/>
              </a:rPr>
              <a:t>D </a:t>
            </a:r>
            <a:r>
              <a:rPr lang="zh-CN" altLang="en-US" sz="1600" dirty="0">
                <a:ea typeface="等线" panose="02010600030101010101" pitchFamily="2" charset="-122"/>
                <a:cs typeface="微软雅黑" panose="020B0503020204020204" pitchFamily="34" charset="-122"/>
              </a:rPr>
              <a:t>完成三维度评估；全员联调与压力测试。 </a:t>
            </a:r>
            <a:endParaRPr lang="en-US" altLang="zh-CN" sz="1600" dirty="0">
              <a:ea typeface="等线" panose="02010600030101010101" pitchFamily="2" charset="-122"/>
              <a:cs typeface="微软雅黑" panose="020B0503020204020204" pitchFamily="34" charset="-122"/>
            </a:endParaRPr>
          </a:p>
          <a:p>
            <a:pPr>
              <a:defRPr sz="1500" b="0">
                <a:solidFill>
                  <a:srgbClr val="444444"/>
                </a:solidFill>
              </a:defRPr>
            </a:pPr>
            <a:endParaRPr lang="zh-CN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defRPr sz="1500" b="0">
                <a:solidFill>
                  <a:srgbClr val="444444"/>
                </a:solidFill>
              </a:defRPr>
            </a:pPr>
            <a:endParaRPr lang="zh-CN" altLang="en-US" sz="1800" kern="0" dirty="0">
              <a:solidFill>
                <a:srgbClr val="44444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27566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B4FC9C-802A-4F73-8B16-ED549CBE1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0">
                <a:solidFill>
                  <a:srgbClr val="000000"/>
                </a:solidFill>
              </a:defRPr>
            </a:pPr>
            <a:r>
              <a:rPr sz="3000" b="0">
                <a:solidFill>
                  <a:srgbClr val="000000"/>
                </a:solidFill>
              </a:rPr>
              <a:t>paper/chapter reading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211ED0D6-F2A9-48CC-86E4-DCDB478960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 sz="1425" b="0">
                <a:solidFill>
                  <a:srgbClr val="444444"/>
                </a:solidFill>
              </a:defRPr>
            </a:pPr>
            <a:r>
              <a:rPr lang="zh-CN" altLang="en-US" sz="1800" b="0" dirty="0">
                <a:solidFill>
                  <a:srgbClr val="444444"/>
                </a:solidFill>
              </a:rPr>
              <a:t>动机 </a:t>
            </a:r>
            <a:r>
              <a:rPr sz="1800" b="0" dirty="0">
                <a:solidFill>
                  <a:srgbClr val="444444"/>
                </a:solidFill>
              </a:rPr>
              <a:t>motivation</a:t>
            </a:r>
            <a:r>
              <a:rPr lang="zh-CN" altLang="en-US" sz="1800" b="0" dirty="0">
                <a:solidFill>
                  <a:srgbClr val="444444"/>
                </a:solidFill>
              </a:rPr>
              <a:t>：</a:t>
            </a:r>
            <a:endParaRPr sz="1800" b="0" dirty="0">
              <a:solidFill>
                <a:srgbClr val="444444"/>
              </a:solidFill>
            </a:endParaRPr>
          </a:p>
          <a:p>
            <a:pPr>
              <a:buNone/>
              <a:defRPr sz="1425" b="0">
                <a:solidFill>
                  <a:srgbClr val="444444"/>
                </a:solidFill>
              </a:defRPr>
            </a:pPr>
            <a:r>
              <a:rPr sz="1425" b="0" dirty="0" err="1">
                <a:solidFill>
                  <a:srgbClr val="444444"/>
                </a:solidFill>
              </a:rPr>
              <a:t>对标</a:t>
            </a:r>
            <a:r>
              <a:rPr sz="1425" b="0" dirty="0">
                <a:solidFill>
                  <a:srgbClr val="444444"/>
                </a:solidFill>
              </a:rPr>
              <a:t> Stanford Generative Agents / </a:t>
            </a:r>
            <a:r>
              <a:rPr sz="1425" b="0" dirty="0" err="1">
                <a:solidFill>
                  <a:srgbClr val="444444"/>
                </a:solidFill>
              </a:rPr>
              <a:t>AI小镇：把自然语言记忆、反思、计划能力封装成社会模拟中的Agent认知链</a:t>
            </a:r>
            <a:r>
              <a:rPr sz="1425" b="0" dirty="0">
                <a:solidFill>
                  <a:srgbClr val="444444"/>
                </a:solidFill>
              </a:rPr>
              <a:t>。</a:t>
            </a:r>
          </a:p>
          <a:p>
            <a:pPr>
              <a:buNone/>
            </a:pPr>
            <a:endParaRPr sz="1425" b="0" dirty="0">
              <a:solidFill>
                <a:srgbClr val="444444"/>
              </a:solidFill>
            </a:endParaRPr>
          </a:p>
          <a:p>
            <a:pPr>
              <a:buNone/>
              <a:defRPr sz="1425" b="0">
                <a:solidFill>
                  <a:srgbClr val="444444"/>
                </a:solidFill>
              </a:defRPr>
            </a:pPr>
            <a:r>
              <a:rPr sz="1800" b="0" dirty="0" err="1">
                <a:solidFill>
                  <a:srgbClr val="444444"/>
                </a:solidFill>
              </a:rPr>
              <a:t>理论</a:t>
            </a:r>
            <a:r>
              <a:rPr sz="1800" b="0" dirty="0">
                <a:solidFill>
                  <a:srgbClr val="444444"/>
                </a:solidFill>
              </a:rPr>
              <a:t> theory</a:t>
            </a:r>
            <a:r>
              <a:rPr lang="zh-CN" altLang="en-US" sz="1800" b="0" dirty="0">
                <a:solidFill>
                  <a:srgbClr val="444444"/>
                </a:solidFill>
              </a:rPr>
              <a:t>：</a:t>
            </a:r>
            <a:endParaRPr sz="1800" b="0" dirty="0">
              <a:solidFill>
                <a:srgbClr val="444444"/>
              </a:solidFill>
            </a:endParaRPr>
          </a:p>
          <a:p>
            <a:pPr>
              <a:buNone/>
              <a:defRPr sz="1425" b="0">
                <a:solidFill>
                  <a:srgbClr val="444444"/>
                </a:solidFill>
              </a:defRPr>
            </a:pPr>
            <a:r>
              <a:rPr sz="1425" b="0" dirty="0" err="1">
                <a:solidFill>
                  <a:srgbClr val="444444"/>
                </a:solidFill>
              </a:rPr>
              <a:t>BDI模型承接</a:t>
            </a:r>
            <a:r>
              <a:rPr sz="1425" b="0" dirty="0">
                <a:solidFill>
                  <a:srgbClr val="444444"/>
                </a:solidFill>
              </a:rPr>
              <a:t> </a:t>
            </a:r>
            <a:r>
              <a:rPr sz="1425" b="0" dirty="0" err="1">
                <a:solidFill>
                  <a:srgbClr val="444444"/>
                </a:solidFill>
              </a:rPr>
              <a:t>Belief-Desire-Intention；Hawkes</a:t>
            </a:r>
            <a:r>
              <a:rPr sz="1425" b="0" dirty="0">
                <a:solidFill>
                  <a:srgbClr val="444444"/>
                </a:solidFill>
              </a:rPr>
              <a:t> </a:t>
            </a:r>
            <a:r>
              <a:rPr sz="1425" b="0" dirty="0" err="1">
                <a:solidFill>
                  <a:srgbClr val="444444"/>
                </a:solidFill>
              </a:rPr>
              <a:t>Process刻画事件自激传播；Mesa式step调度支撑多Agent时序</a:t>
            </a:r>
            <a:r>
              <a:rPr lang="zh-CN" altLang="en-US" sz="1425" b="0" dirty="0">
                <a:solidFill>
                  <a:srgbClr val="444444"/>
                </a:solidFill>
              </a:rPr>
              <a:t>（即选择是否激活</a:t>
            </a:r>
            <a:r>
              <a:rPr lang="en-US" altLang="zh-CN" sz="1425" b="0" dirty="0">
                <a:solidFill>
                  <a:srgbClr val="444444"/>
                </a:solidFill>
              </a:rPr>
              <a:t>agent</a:t>
            </a:r>
            <a:r>
              <a:rPr lang="zh-CN" altLang="en-US" sz="1425" b="0" dirty="0">
                <a:solidFill>
                  <a:srgbClr val="444444"/>
                </a:solidFill>
              </a:rPr>
              <a:t>）</a:t>
            </a:r>
            <a:r>
              <a:rPr sz="1425" b="0" dirty="0">
                <a:solidFill>
                  <a:srgbClr val="444444"/>
                </a:solidFill>
              </a:rPr>
              <a:t>。</a:t>
            </a:r>
          </a:p>
          <a:p>
            <a:pPr>
              <a:buNone/>
            </a:pPr>
            <a:endParaRPr sz="1425" b="0" dirty="0">
              <a:solidFill>
                <a:srgbClr val="444444"/>
              </a:solidFill>
            </a:endParaRPr>
          </a:p>
          <a:p>
            <a:pPr>
              <a:buNone/>
              <a:defRPr sz="1425" b="0">
                <a:solidFill>
                  <a:srgbClr val="444444"/>
                </a:solidFill>
              </a:defRPr>
            </a:pPr>
            <a:r>
              <a:rPr sz="1800" b="0" dirty="0" err="1">
                <a:solidFill>
                  <a:srgbClr val="444444"/>
                </a:solidFill>
              </a:rPr>
              <a:t>应用</a:t>
            </a:r>
            <a:r>
              <a:rPr sz="1800" b="0" dirty="0">
                <a:solidFill>
                  <a:srgbClr val="444444"/>
                </a:solidFill>
              </a:rPr>
              <a:t> application</a:t>
            </a:r>
            <a:r>
              <a:rPr lang="zh-CN" altLang="en-US" sz="1800" b="0" dirty="0">
                <a:solidFill>
                  <a:srgbClr val="444444"/>
                </a:solidFill>
              </a:rPr>
              <a:t>：</a:t>
            </a:r>
            <a:endParaRPr sz="1800" b="0" dirty="0">
              <a:solidFill>
                <a:srgbClr val="444444"/>
              </a:solidFill>
            </a:endParaRPr>
          </a:p>
          <a:p>
            <a:pPr>
              <a:buNone/>
              <a:defRPr sz="1425" b="0">
                <a:solidFill>
                  <a:srgbClr val="444444"/>
                </a:solidFill>
              </a:defRPr>
            </a:pPr>
            <a:r>
              <a:rPr sz="1425" b="0" dirty="0" err="1">
                <a:solidFill>
                  <a:srgbClr val="444444"/>
                </a:solidFill>
              </a:rPr>
              <a:t>面向舆情扩散、意见极化、情绪感染、官方干预时机评估</a:t>
            </a:r>
            <a:r>
              <a:rPr sz="1425" b="0" dirty="0">
                <a:solidFill>
                  <a:srgbClr val="444444"/>
                </a:solidFill>
              </a:rPr>
              <a:t>。</a:t>
            </a:r>
          </a:p>
          <a:p>
            <a:pPr>
              <a:buNone/>
            </a:pPr>
            <a:endParaRPr sz="1425" b="0" dirty="0">
              <a:solidFill>
                <a:srgbClr val="444444"/>
              </a:solidFill>
            </a:endParaRPr>
          </a:p>
          <a:p>
            <a:pPr>
              <a:buNone/>
              <a:defRPr sz="1425" b="0">
                <a:solidFill>
                  <a:srgbClr val="444444"/>
                </a:solidFill>
              </a:defRPr>
            </a:pPr>
            <a:r>
              <a:rPr lang="zh-CN" altLang="en-US" sz="1800" b="0" dirty="0">
                <a:solidFill>
                  <a:srgbClr val="444444"/>
                </a:solidFill>
              </a:rPr>
              <a:t>方法论 </a:t>
            </a:r>
            <a:r>
              <a:rPr sz="1800" b="0" dirty="0">
                <a:solidFill>
                  <a:srgbClr val="444444"/>
                </a:solidFill>
              </a:rPr>
              <a:t>Methodology</a:t>
            </a:r>
            <a:r>
              <a:rPr lang="zh-CN" altLang="en-US" sz="1800" b="0" dirty="0">
                <a:solidFill>
                  <a:srgbClr val="444444"/>
                </a:solidFill>
              </a:rPr>
              <a:t>：</a:t>
            </a:r>
            <a:endParaRPr sz="1800" b="0" dirty="0">
              <a:solidFill>
                <a:srgbClr val="444444"/>
              </a:solidFill>
            </a:endParaRPr>
          </a:p>
          <a:p>
            <a:pPr>
              <a:buNone/>
              <a:defRPr sz="1425" b="0">
                <a:solidFill>
                  <a:srgbClr val="444444"/>
                </a:solidFill>
              </a:defRPr>
            </a:pPr>
            <a:r>
              <a:rPr sz="1425" b="0" dirty="0" err="1">
                <a:solidFill>
                  <a:srgbClr val="444444"/>
                </a:solidFill>
              </a:rPr>
              <a:t>先用规则Agent跑通闭环，再单Agent接LLM，最后全量接入并做限流</a:t>
            </a:r>
            <a:r>
              <a:rPr sz="1425" b="0" dirty="0">
                <a:solidFill>
                  <a:srgbClr val="444444"/>
                </a:solidFill>
              </a:rPr>
              <a:t>/</a:t>
            </a:r>
            <a:r>
              <a:rPr sz="1425" b="0" dirty="0" err="1">
                <a:solidFill>
                  <a:srgbClr val="444444"/>
                </a:solidFill>
              </a:rPr>
              <a:t>重试</a:t>
            </a:r>
            <a:r>
              <a:rPr sz="1425" b="0" dirty="0">
                <a:solidFill>
                  <a:srgbClr val="444444"/>
                </a:solidFill>
              </a:rPr>
              <a:t>。</a:t>
            </a:r>
          </a:p>
          <a:p>
            <a:pPr>
              <a:buNone/>
            </a:pPr>
            <a:endParaRPr sz="1425" b="0" dirty="0">
              <a:solidFill>
                <a:srgbClr val="444444"/>
              </a:solidFill>
            </a:endParaRPr>
          </a:p>
          <a:p>
            <a:pPr>
              <a:buNone/>
              <a:defRPr sz="1425" b="0">
                <a:solidFill>
                  <a:srgbClr val="444444"/>
                </a:solidFill>
              </a:defRPr>
            </a:pPr>
            <a:r>
              <a:rPr lang="zh-CN" altLang="en-US" sz="1800" b="0" dirty="0">
                <a:solidFill>
                  <a:srgbClr val="444444"/>
                </a:solidFill>
              </a:rPr>
              <a:t>自我评价 </a:t>
            </a:r>
            <a:r>
              <a:rPr sz="1800" b="0" dirty="0">
                <a:solidFill>
                  <a:srgbClr val="444444"/>
                </a:solidFill>
              </a:rPr>
              <a:t>my evaluation</a:t>
            </a:r>
            <a:r>
              <a:rPr lang="zh-CN" altLang="en-US" sz="1800" b="0" dirty="0">
                <a:solidFill>
                  <a:srgbClr val="444444"/>
                </a:solidFill>
              </a:rPr>
              <a:t>：</a:t>
            </a:r>
            <a:endParaRPr sz="1800" b="0" dirty="0">
              <a:solidFill>
                <a:srgbClr val="444444"/>
              </a:solidFill>
            </a:endParaRPr>
          </a:p>
          <a:p>
            <a:pPr>
              <a:buNone/>
              <a:defRPr sz="1425" b="0">
                <a:solidFill>
                  <a:srgbClr val="444444"/>
                </a:solidFill>
              </a:defRPr>
            </a:pPr>
            <a:r>
              <a:rPr sz="1425" b="0" dirty="0" err="1">
                <a:solidFill>
                  <a:srgbClr val="444444"/>
                </a:solidFill>
              </a:rPr>
              <a:t>本周关键不</a:t>
            </a:r>
            <a:r>
              <a:rPr lang="zh-CN" altLang="en-US" sz="1425" b="0" dirty="0">
                <a:solidFill>
                  <a:srgbClr val="444444"/>
                </a:solidFill>
              </a:rPr>
              <a:t>在于</a:t>
            </a:r>
            <a:r>
              <a:rPr sz="1425" b="0" dirty="0" err="1">
                <a:solidFill>
                  <a:srgbClr val="444444"/>
                </a:solidFill>
              </a:rPr>
              <a:t>实现复杂模型，而是把接口、数据结构、压测标准冻结，让后续周能稳定并行</a:t>
            </a:r>
            <a:r>
              <a:rPr sz="1425" b="0" dirty="0">
                <a:solidFill>
                  <a:srgbClr val="444444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7207625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289</TotalTime>
  <Words>1250</Words>
  <Application>Microsoft Office PowerPoint</Application>
  <DocSecurity>0</DocSecurity>
  <PresentationFormat>宽屏</PresentationFormat>
  <Paragraphs>122</Paragraphs>
  <Slides>12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等线</vt:lpstr>
      <vt:lpstr>微软雅黑</vt:lpstr>
      <vt:lpstr>Calibri</vt:lpstr>
      <vt:lpstr>Office 主题​​</vt:lpstr>
      <vt:lpstr>week 1 多智能体舆情处理系统</vt:lpstr>
      <vt:lpstr>进度Schedule</vt:lpstr>
      <vt:lpstr>1 本周定位与交付 detail</vt:lpstr>
      <vt:lpstr>2 系统分层架构 architecture</vt:lpstr>
      <vt:lpstr>3 16bit层级与数据结构</vt:lpstr>
      <vt:lpstr>4 Data Transformation设计</vt:lpstr>
      <vt:lpstr>6 核心模块接口 detail</vt:lpstr>
      <vt:lpstr>7 算法/评估/工具接口 detail</vt:lpstr>
      <vt:lpstr> 五人分工 summary</vt:lpstr>
      <vt:lpstr>PowerPoint 演示文稿</vt:lpstr>
      <vt:lpstr>Sprint甘特图 roadmap</vt:lpstr>
      <vt:lpstr>paper/chapter reading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旭东 何</cp:lastModifiedBy>
  <cp:revision>6</cp:revision>
  <dcterms:created xsi:type="dcterms:W3CDTF">2026-06-26T13:15:30Z</dcterms:created>
  <dcterms:modified xsi:type="dcterms:W3CDTF">2026-06-30T03:54:31Z</dcterms:modified>
</cp:coreProperties>
</file>