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93464E7-2274-460E-96B7-97BCB0AA9CBF}"/>
              </a:ext>
            </a:extLst>
          </p:cNvPr>
          <p:cNvSpPr>
            <a:spLocks noGrp="1"/>
          </p:cNvSpPr>
          <p:nvPr/>
        </p:nvSpPr>
        <p:spPr>
          <a:xfrm>
            <a:off x="1524000" y="1255456"/>
            <a:ext cx="91440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222222"/>
                </a:solidFill>
              </a:defRPr>
            </a:pPr>
            <a:r>
              <a:rPr sz="3600" b="1" dirty="0">
                <a:solidFill>
                  <a:srgbClr val="222222"/>
                </a:solidFill>
              </a:rPr>
              <a:t>week 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2B2E61D-8F5A-4B8D-BC56-D0B5E67A0B1B}"/>
              </a:ext>
            </a:extLst>
          </p:cNvPr>
          <p:cNvSpPr>
            <a:spLocks noGrp="1"/>
          </p:cNvSpPr>
          <p:nvPr/>
        </p:nvSpPr>
        <p:spPr>
          <a:xfrm>
            <a:off x="1524000" y="1884260"/>
            <a:ext cx="9144000" cy="7417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22222"/>
                </a:solidFill>
              </a:defRPr>
            </a:pPr>
            <a:r>
              <a:rPr sz="3200" b="1" dirty="0" err="1">
                <a:solidFill>
                  <a:srgbClr val="222222"/>
                </a:solidFill>
              </a:rPr>
              <a:t>多智能体舆情处理系统</a:t>
            </a:r>
            <a:endParaRPr sz="3200" b="1" dirty="0">
              <a:solidFill>
                <a:srgbClr val="222222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26EC1F-C548-43C0-9AED-4D54EF940919}"/>
              </a:ext>
            </a:extLst>
          </p:cNvPr>
          <p:cNvSpPr>
            <a:spLocks noGrp="1"/>
          </p:cNvSpPr>
          <p:nvPr/>
        </p:nvSpPr>
        <p:spPr>
          <a:xfrm>
            <a:off x="1524000" y="2687279"/>
            <a:ext cx="9144000" cy="7417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55555"/>
                </a:solidFill>
              </a:defRPr>
            </a:pPr>
            <a:r>
              <a:rPr sz="2000" b="0" dirty="0">
                <a:solidFill>
                  <a:srgbClr val="555555"/>
                </a:solidFill>
              </a:rPr>
              <a:t>CD </a:t>
            </a:r>
            <a:r>
              <a:rPr sz="2000" b="0" dirty="0" err="1">
                <a:solidFill>
                  <a:srgbClr val="555555"/>
                </a:solidFill>
              </a:rPr>
              <a:t>联调进</a:t>
            </a:r>
            <a:r>
              <a:rPr sz="2000" b="0" dirty="0">
                <a:solidFill>
                  <a:srgbClr val="555555"/>
                </a:solidFill>
              </a:rPr>
              <a:t> ABE </a:t>
            </a:r>
            <a:r>
              <a:rPr sz="2000" b="0" dirty="0" err="1">
                <a:solidFill>
                  <a:srgbClr val="555555"/>
                </a:solidFill>
              </a:rPr>
              <a:t>完成</a:t>
            </a:r>
            <a:r>
              <a:rPr sz="2000" b="0" dirty="0">
                <a:solidFill>
                  <a:srgbClr val="555555"/>
                </a:solidFill>
              </a:rPr>
              <a:t> / Hawkes Engine </a:t>
            </a:r>
            <a:r>
              <a:rPr sz="2000" b="0" dirty="0" err="1">
                <a:solidFill>
                  <a:srgbClr val="555555"/>
                </a:solidFill>
              </a:rPr>
              <a:t>完善</a:t>
            </a:r>
            <a:r>
              <a:rPr sz="2000" b="0" dirty="0">
                <a:solidFill>
                  <a:srgbClr val="555555"/>
                </a:solidFill>
              </a:rPr>
              <a:t> / ABCDE </a:t>
            </a:r>
            <a:r>
              <a:rPr sz="2000" b="0" dirty="0" err="1">
                <a:solidFill>
                  <a:srgbClr val="555555"/>
                </a:solidFill>
              </a:rPr>
              <a:t>联调通过</a:t>
            </a:r>
            <a:endParaRPr sz="2000" b="0" dirty="0">
              <a:solidFill>
                <a:srgbClr val="555555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21B124-CCC2-4A96-9574-171BB521E538}"/>
              </a:ext>
            </a:extLst>
          </p:cNvPr>
          <p:cNvSpPr>
            <a:spLocks noGrp="1"/>
          </p:cNvSpPr>
          <p:nvPr/>
        </p:nvSpPr>
        <p:spPr>
          <a:xfrm>
            <a:off x="4167187" y="3551596"/>
            <a:ext cx="385762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44444"/>
                </a:solidFill>
              </a:defRPr>
            </a:pPr>
            <a:r>
              <a:rPr sz="1600" b="0" dirty="0">
                <a:solidFill>
                  <a:srgbClr val="444444"/>
                </a:solidFill>
              </a:rPr>
              <a:t>A </a:t>
            </a:r>
            <a:r>
              <a:rPr sz="1600" b="0" dirty="0" err="1">
                <a:solidFill>
                  <a:srgbClr val="444444"/>
                </a:solidFill>
              </a:rPr>
              <a:t>陈佳欣</a:t>
            </a:r>
            <a:r>
              <a:rPr sz="1600" b="0" dirty="0">
                <a:solidFill>
                  <a:srgbClr val="444444"/>
                </a:solidFill>
              </a:rPr>
              <a:t> 2471400</a:t>
            </a:r>
          </a:p>
          <a:p>
            <a:pPr algn="ctr">
              <a:defRPr sz="1200" b="0">
                <a:solidFill>
                  <a:srgbClr val="444444"/>
                </a:solidFill>
              </a:defRPr>
            </a:pPr>
            <a:r>
              <a:rPr sz="1600" b="0" dirty="0">
                <a:solidFill>
                  <a:srgbClr val="444444"/>
                </a:solidFill>
              </a:rPr>
              <a:t>B </a:t>
            </a:r>
            <a:r>
              <a:rPr sz="1600" b="0" dirty="0" err="1">
                <a:solidFill>
                  <a:srgbClr val="444444"/>
                </a:solidFill>
              </a:rPr>
              <a:t>张乐</a:t>
            </a:r>
            <a:r>
              <a:rPr lang="zh-CN" altLang="en-US" sz="1600" b="0" dirty="0">
                <a:solidFill>
                  <a:srgbClr val="444444"/>
                </a:solidFill>
              </a:rPr>
              <a:t>年</a:t>
            </a:r>
            <a:r>
              <a:rPr sz="1600" b="0" dirty="0">
                <a:solidFill>
                  <a:srgbClr val="444444"/>
                </a:solidFill>
              </a:rPr>
              <a:t> 2471172</a:t>
            </a:r>
          </a:p>
          <a:p>
            <a:pPr algn="ctr">
              <a:defRPr sz="1200" b="0">
                <a:solidFill>
                  <a:srgbClr val="444444"/>
                </a:solidFill>
              </a:defRPr>
            </a:pPr>
            <a:r>
              <a:rPr sz="1600" b="0" dirty="0">
                <a:solidFill>
                  <a:srgbClr val="444444"/>
                </a:solidFill>
              </a:rPr>
              <a:t>C </a:t>
            </a:r>
            <a:r>
              <a:rPr sz="1600" b="0" dirty="0" err="1">
                <a:solidFill>
                  <a:srgbClr val="444444"/>
                </a:solidFill>
              </a:rPr>
              <a:t>石雨</a:t>
            </a:r>
            <a:r>
              <a:rPr lang="zh-CN" altLang="en-US" sz="1600" b="0" dirty="0">
                <a:solidFill>
                  <a:srgbClr val="444444"/>
                </a:solidFill>
              </a:rPr>
              <a:t>凡</a:t>
            </a:r>
            <a:r>
              <a:rPr sz="1600" b="0" dirty="0">
                <a:solidFill>
                  <a:srgbClr val="444444"/>
                </a:solidFill>
              </a:rPr>
              <a:t> 2363487</a:t>
            </a:r>
          </a:p>
          <a:p>
            <a:pPr algn="ctr">
              <a:defRPr sz="1200" b="0">
                <a:solidFill>
                  <a:srgbClr val="444444"/>
                </a:solidFill>
              </a:defRPr>
            </a:pPr>
            <a:r>
              <a:rPr sz="1600" b="0" dirty="0">
                <a:solidFill>
                  <a:srgbClr val="444444"/>
                </a:solidFill>
              </a:rPr>
              <a:t>D 张</a:t>
            </a:r>
            <a:r>
              <a:rPr lang="zh-CN" altLang="en-US" sz="1600" b="0" dirty="0">
                <a:solidFill>
                  <a:srgbClr val="444444"/>
                </a:solidFill>
              </a:rPr>
              <a:t>峻烨</a:t>
            </a:r>
            <a:r>
              <a:rPr sz="1600" b="0" dirty="0">
                <a:solidFill>
                  <a:srgbClr val="444444"/>
                </a:solidFill>
              </a:rPr>
              <a:t> 2471659</a:t>
            </a:r>
          </a:p>
          <a:p>
            <a:pPr algn="ctr">
              <a:defRPr sz="1200" b="0">
                <a:solidFill>
                  <a:srgbClr val="444444"/>
                </a:solidFill>
              </a:defRPr>
            </a:pPr>
            <a:r>
              <a:rPr sz="1600" b="0" dirty="0">
                <a:solidFill>
                  <a:srgbClr val="444444"/>
                </a:solidFill>
              </a:rPr>
              <a:t>E </a:t>
            </a:r>
            <a:r>
              <a:rPr sz="1600" b="0" dirty="0" err="1">
                <a:solidFill>
                  <a:srgbClr val="444444"/>
                </a:solidFill>
              </a:rPr>
              <a:t>刘嘉</a:t>
            </a:r>
            <a:r>
              <a:rPr lang="zh-CN" altLang="en-US" sz="1600" b="0" dirty="0">
                <a:solidFill>
                  <a:srgbClr val="444444"/>
                </a:solidFill>
              </a:rPr>
              <a:t>铭</a:t>
            </a:r>
            <a:r>
              <a:rPr sz="1600" b="0" dirty="0">
                <a:solidFill>
                  <a:srgbClr val="444444"/>
                </a:solidFill>
              </a:rPr>
              <a:t> 2471680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CEBD9B-DA49-4D72-86AE-6E8651E5C83B}"/>
              </a:ext>
            </a:extLst>
          </p:cNvPr>
          <p:cNvSpPr>
            <a:spLocks noGrp="1"/>
          </p:cNvSpPr>
          <p:nvPr/>
        </p:nvSpPr>
        <p:spPr>
          <a:xfrm>
            <a:off x="11572875" y="642937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42452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BDC9291-89F3-4611-AAE3-CE61B8A4274D}"/>
              </a:ext>
            </a:extLst>
          </p:cNvPr>
          <p:cNvSpPr>
            <a:spLocks noGrp="1"/>
          </p:cNvSpPr>
          <p:nvPr/>
        </p:nvSpPr>
        <p:spPr>
          <a:xfrm>
            <a:off x="228600" y="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202020"/>
                </a:solidFill>
              </a:defRPr>
            </a:pPr>
            <a:r>
              <a:rPr sz="3200" b="1" dirty="0" err="1">
                <a:solidFill>
                  <a:srgbClr val="202020"/>
                </a:solidFill>
              </a:rPr>
              <a:t>进度</a:t>
            </a:r>
            <a:r>
              <a:rPr sz="3200" b="1" dirty="0">
                <a:solidFill>
                  <a:srgbClr val="202020"/>
                </a:solidFill>
              </a:rPr>
              <a:t> Schedule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8AE1C0C-AAD4-4DF7-A3F0-86708AD235AF}"/>
              </a:ext>
            </a:extLst>
          </p:cNvPr>
          <p:cNvSpPr>
            <a:spLocks noGrp="1"/>
          </p:cNvSpPr>
          <p:nvPr/>
        </p:nvSpPr>
        <p:spPr>
          <a:xfrm>
            <a:off x="381000" y="952500"/>
            <a:ext cx="11430000" cy="11430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E90F23-CD3D-42C4-8ECC-900D5AF952B5}"/>
              </a:ext>
            </a:extLst>
          </p:cNvPr>
          <p:cNvSpPr>
            <a:spLocks noGrp="1"/>
          </p:cNvSpPr>
          <p:nvPr/>
        </p:nvSpPr>
        <p:spPr>
          <a:xfrm>
            <a:off x="647700" y="1571625"/>
            <a:ext cx="4810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02020"/>
                </a:solidFill>
              </a:defRPr>
            </a:pPr>
            <a:r>
              <a:rPr sz="2000" b="1" dirty="0">
                <a:solidFill>
                  <a:srgbClr val="202020"/>
                </a:solidFill>
              </a:rPr>
              <a:t>W4 </a:t>
            </a:r>
            <a:r>
              <a:rPr sz="2000" b="1" dirty="0" err="1">
                <a:solidFill>
                  <a:srgbClr val="202020"/>
                </a:solidFill>
              </a:rPr>
              <a:t>原计划</a:t>
            </a:r>
            <a:r>
              <a:rPr sz="2000" b="1" dirty="0">
                <a:solidFill>
                  <a:srgbClr val="202020"/>
                </a:solidFill>
              </a:rPr>
              <a:t> plan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C83451-6CF3-47CF-83EB-8AEE9F15EF9F}"/>
              </a:ext>
            </a:extLst>
          </p:cNvPr>
          <p:cNvSpPr>
            <a:spLocks noGrp="1"/>
          </p:cNvSpPr>
          <p:nvPr/>
        </p:nvSpPr>
        <p:spPr>
          <a:xfrm>
            <a:off x="647700" y="1914525"/>
            <a:ext cx="4810125" cy="3657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1 </a:t>
            </a:r>
            <a:r>
              <a:rPr sz="1600" b="0" dirty="0" err="1">
                <a:solidFill>
                  <a:srgbClr val="333333"/>
                </a:solidFill>
              </a:rPr>
              <a:t>接入</a:t>
            </a:r>
            <a:r>
              <a:rPr sz="1600" b="0" dirty="0">
                <a:solidFill>
                  <a:srgbClr val="333333"/>
                </a:solidFill>
              </a:rPr>
              <a:t> C </a:t>
            </a:r>
            <a:r>
              <a:rPr sz="1600" b="0" dirty="0" err="1">
                <a:solidFill>
                  <a:srgbClr val="333333"/>
                </a:solidFill>
              </a:rPr>
              <a:t>模块：Hawkes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事件采样进入</a:t>
            </a:r>
            <a:r>
              <a:rPr sz="1600" b="0" dirty="0">
                <a:solidFill>
                  <a:srgbClr val="333333"/>
                </a:solidFill>
              </a:rPr>
              <a:t> A/B/E </a:t>
            </a:r>
            <a:r>
              <a:rPr sz="1600" b="0" dirty="0" err="1">
                <a:solidFill>
                  <a:srgbClr val="333333"/>
                </a:solidFill>
              </a:rPr>
              <a:t>链路</a:t>
            </a:r>
            <a:endParaRPr sz="1600" b="0" dirty="0">
              <a:solidFill>
                <a:srgbClr val="333333"/>
              </a:solidFill>
            </a:endParaRP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2 </a:t>
            </a:r>
            <a:r>
              <a:rPr sz="1600" b="0" dirty="0" err="1">
                <a:solidFill>
                  <a:srgbClr val="333333"/>
                </a:solidFill>
              </a:rPr>
              <a:t>接入</a:t>
            </a:r>
            <a:r>
              <a:rPr sz="1600" b="0" dirty="0">
                <a:solidFill>
                  <a:srgbClr val="333333"/>
                </a:solidFill>
              </a:rPr>
              <a:t> D </a:t>
            </a:r>
            <a:r>
              <a:rPr sz="1600" b="0" dirty="0" err="1">
                <a:solidFill>
                  <a:srgbClr val="333333"/>
                </a:solidFill>
              </a:rPr>
              <a:t>模块：使用</a:t>
            </a:r>
            <a:r>
              <a:rPr sz="1600" b="0" dirty="0">
                <a:solidFill>
                  <a:srgbClr val="333333"/>
                </a:solidFill>
              </a:rPr>
              <a:t> A </a:t>
            </a:r>
            <a:r>
              <a:rPr sz="1600" b="0" dirty="0" err="1">
                <a:solidFill>
                  <a:srgbClr val="333333"/>
                </a:solidFill>
              </a:rPr>
              <a:t>的真实</a:t>
            </a:r>
            <a:r>
              <a:rPr sz="1600" b="0" dirty="0">
                <a:solidFill>
                  <a:srgbClr val="333333"/>
                </a:solidFill>
              </a:rPr>
              <a:t> metrics </a:t>
            </a:r>
            <a:r>
              <a:rPr sz="1600" b="0" dirty="0" err="1">
                <a:solidFill>
                  <a:srgbClr val="333333"/>
                </a:solidFill>
              </a:rPr>
              <a:t>做干预评估</a:t>
            </a:r>
            <a:endParaRPr sz="1600" b="0" dirty="0">
              <a:solidFill>
                <a:srgbClr val="333333"/>
              </a:solidFill>
            </a:endParaRP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3 </a:t>
            </a:r>
            <a:r>
              <a:rPr sz="1600" b="0" dirty="0" err="1">
                <a:solidFill>
                  <a:srgbClr val="333333"/>
                </a:solidFill>
              </a:rPr>
              <a:t>完善</a:t>
            </a:r>
            <a:r>
              <a:rPr sz="1600" b="0" dirty="0">
                <a:solidFill>
                  <a:srgbClr val="333333"/>
                </a:solidFill>
              </a:rPr>
              <a:t> Hawkes </a:t>
            </a:r>
            <a:r>
              <a:rPr sz="1600" b="0" dirty="0" err="1">
                <a:solidFill>
                  <a:srgbClr val="333333"/>
                </a:solidFill>
              </a:rPr>
              <a:t>引擎与异常处理，解决上一周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avg_opinion</a:t>
            </a:r>
            <a:r>
              <a:rPr sz="1600" b="0" dirty="0">
                <a:solidFill>
                  <a:srgbClr val="333333"/>
                </a:solidFill>
              </a:rPr>
              <a:t> / polarization </a:t>
            </a:r>
            <a:r>
              <a:rPr sz="1600" b="0" dirty="0" err="1">
                <a:solidFill>
                  <a:srgbClr val="333333"/>
                </a:solidFill>
              </a:rPr>
              <a:t>变化不足的问题</a:t>
            </a:r>
            <a:endParaRPr sz="1600" b="0" dirty="0">
              <a:solidFill>
                <a:srgbClr val="333333"/>
              </a:solidFill>
            </a:endParaRP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4 </a:t>
            </a:r>
            <a:r>
              <a:rPr sz="1600" b="0" dirty="0" err="1">
                <a:solidFill>
                  <a:srgbClr val="333333"/>
                </a:solidFill>
              </a:rPr>
              <a:t>明确校园多群舆情应用场景</a:t>
            </a:r>
            <a:endParaRPr sz="1200" b="0" dirty="0">
              <a:solidFill>
                <a:srgbClr val="333333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AEA398-49C6-4E9B-9576-71F629D7CD3E}"/>
              </a:ext>
            </a:extLst>
          </p:cNvPr>
          <p:cNvSpPr>
            <a:spLocks noGrp="1"/>
          </p:cNvSpPr>
          <p:nvPr/>
        </p:nvSpPr>
        <p:spPr>
          <a:xfrm>
            <a:off x="6048375" y="1571625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02020"/>
                </a:solidFill>
              </a:defRPr>
            </a:pPr>
            <a:r>
              <a:rPr sz="2000" b="1" dirty="0" err="1">
                <a:solidFill>
                  <a:srgbClr val="202020"/>
                </a:solidFill>
              </a:rPr>
              <a:t>本周完成</a:t>
            </a:r>
            <a:r>
              <a:rPr sz="2000" b="1" dirty="0">
                <a:solidFill>
                  <a:srgbClr val="202020"/>
                </a:solidFill>
              </a:rPr>
              <a:t> this week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C9C67D-EF12-4A7F-9B12-7740D0A140DA}"/>
              </a:ext>
            </a:extLst>
          </p:cNvPr>
          <p:cNvSpPr>
            <a:spLocks noGrp="1"/>
          </p:cNvSpPr>
          <p:nvPr/>
        </p:nvSpPr>
        <p:spPr>
          <a:xfrm>
            <a:off x="6048375" y="1914525"/>
            <a:ext cx="4953000" cy="3657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1 </a:t>
            </a:r>
            <a:r>
              <a:rPr lang="en-US" sz="1600" b="0" dirty="0">
                <a:solidFill>
                  <a:srgbClr val="333333"/>
                </a:solidFill>
              </a:rPr>
              <a:t>100%</a:t>
            </a:r>
            <a:endParaRPr sz="1600" b="0" dirty="0">
              <a:solidFill>
                <a:srgbClr val="333333"/>
              </a:solidFill>
            </a:endParaRP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2 100%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3 100%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4 新场景设定写入系统说明：宿舍群、班级群、专业群、校园群（100%</a:t>
            </a:r>
            <a:r>
              <a:rPr lang="en-US" sz="1600" b="0" dirty="0">
                <a:solidFill>
                  <a:srgbClr val="333333"/>
                </a:solidFill>
              </a:rPr>
              <a:t>)</a:t>
            </a:r>
            <a:endParaRPr sz="1600" b="0" dirty="0">
              <a:solidFill>
                <a:srgbClr val="333333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E001C9-04C4-4DB0-967F-4C51E52448B7}"/>
              </a:ext>
            </a:extLst>
          </p:cNvPr>
          <p:cNvSpPr>
            <a:spLocks noGrp="1"/>
          </p:cNvSpPr>
          <p:nvPr/>
        </p:nvSpPr>
        <p:spPr>
          <a:xfrm>
            <a:off x="11572875" y="642937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07215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D1487C2-64B7-44BC-BE05-CD27B3EB2BF0}"/>
              </a:ext>
            </a:extLst>
          </p:cNvPr>
          <p:cNvSpPr>
            <a:spLocks noGrp="1"/>
          </p:cNvSpPr>
          <p:nvPr/>
        </p:nvSpPr>
        <p:spPr>
          <a:xfrm>
            <a:off x="228600" y="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202020"/>
                </a:solidFill>
              </a:defRPr>
            </a:pPr>
            <a:r>
              <a:rPr lang="en-US" sz="3200" b="1" dirty="0">
                <a:solidFill>
                  <a:srgbClr val="202020"/>
                </a:solidFill>
              </a:rPr>
              <a:t>1</a:t>
            </a:r>
            <a:r>
              <a:rPr sz="3200" b="1" dirty="0">
                <a:solidFill>
                  <a:srgbClr val="202020"/>
                </a:solidFill>
              </a:rPr>
              <a:t> ABCDE </a:t>
            </a:r>
            <a:r>
              <a:rPr sz="3200" b="1" dirty="0" err="1">
                <a:solidFill>
                  <a:srgbClr val="202020"/>
                </a:solidFill>
              </a:rPr>
              <a:t>联调链路已形成</a:t>
            </a:r>
            <a:endParaRPr sz="3200" b="1" dirty="0">
              <a:solidFill>
                <a:srgbClr val="20202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0FD368-30B0-4657-BC9B-469327BBF267}"/>
              </a:ext>
            </a:extLst>
          </p:cNvPr>
          <p:cNvSpPr>
            <a:spLocks noGrp="1"/>
          </p:cNvSpPr>
          <p:nvPr/>
        </p:nvSpPr>
        <p:spPr>
          <a:xfrm>
            <a:off x="381000" y="952500"/>
            <a:ext cx="11430000" cy="11430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1219185"/>
            <a:ext cx="6019800" cy="462918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5D0B001-AA47-44B5-9886-2F8C6C866F71}"/>
              </a:ext>
            </a:extLst>
          </p:cNvPr>
          <p:cNvSpPr>
            <a:spLocks noGrp="1"/>
          </p:cNvSpPr>
          <p:nvPr/>
        </p:nvSpPr>
        <p:spPr>
          <a:xfrm>
            <a:off x="7048500" y="1162050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02020"/>
                </a:solidFill>
              </a:defRPr>
            </a:pPr>
            <a:r>
              <a:rPr sz="2000" b="1" dirty="0" err="1">
                <a:solidFill>
                  <a:srgbClr val="202020"/>
                </a:solidFill>
              </a:rPr>
              <a:t>联调目标</a:t>
            </a:r>
            <a:endParaRPr sz="2000" b="1" dirty="0">
              <a:solidFill>
                <a:srgbClr val="20202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407D84-8773-4007-AFD0-0CFD4E445098}"/>
              </a:ext>
            </a:extLst>
          </p:cNvPr>
          <p:cNvSpPr>
            <a:spLocks noGrp="1"/>
          </p:cNvSpPr>
          <p:nvPr/>
        </p:nvSpPr>
        <p:spPr>
          <a:xfrm>
            <a:off x="7048500" y="1504950"/>
            <a:ext cx="4286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 err="1">
                <a:solidFill>
                  <a:srgbClr val="333333"/>
                </a:solidFill>
              </a:rPr>
              <a:t>把上一周</a:t>
            </a:r>
            <a:r>
              <a:rPr sz="1600" b="0" dirty="0">
                <a:solidFill>
                  <a:srgbClr val="333333"/>
                </a:solidFill>
              </a:rPr>
              <a:t> A-B-E </a:t>
            </a:r>
            <a:r>
              <a:rPr sz="1600" b="0" dirty="0" err="1">
                <a:solidFill>
                  <a:srgbClr val="333333"/>
                </a:solidFill>
              </a:rPr>
              <a:t>的最小闭环扩展为</a:t>
            </a:r>
            <a:r>
              <a:rPr sz="1600" b="0" dirty="0">
                <a:solidFill>
                  <a:srgbClr val="333333"/>
                </a:solidFill>
              </a:rPr>
              <a:t> ABCDE </a:t>
            </a:r>
            <a:r>
              <a:rPr sz="1600" b="0" dirty="0" err="1">
                <a:solidFill>
                  <a:srgbClr val="333333"/>
                </a:solidFill>
              </a:rPr>
              <a:t>全模块可流动链路，验证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ActionRecord、Hawkes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事件</a:t>
            </a:r>
            <a:r>
              <a:rPr lang="zh-CN" altLang="en-US" sz="1600" b="0" dirty="0">
                <a:solidFill>
                  <a:srgbClr val="333333"/>
                </a:solidFill>
              </a:rPr>
              <a:t>与</a:t>
            </a:r>
            <a:r>
              <a:rPr sz="1600" b="0" dirty="0" err="1">
                <a:solidFill>
                  <a:srgbClr val="333333"/>
                </a:solidFill>
              </a:rPr>
              <a:t>DataCollector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metrics策略评估之间的字段契约</a:t>
            </a:r>
            <a:r>
              <a:rPr sz="1600" b="0" dirty="0">
                <a:solidFill>
                  <a:srgbClr val="333333"/>
                </a:solidFill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08B5D3-177D-4791-8A07-AF46901376A0}"/>
              </a:ext>
            </a:extLst>
          </p:cNvPr>
          <p:cNvSpPr>
            <a:spLocks noGrp="1"/>
          </p:cNvSpPr>
          <p:nvPr/>
        </p:nvSpPr>
        <p:spPr>
          <a:xfrm>
            <a:off x="7048500" y="2680335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02020"/>
                </a:solidFill>
              </a:defRPr>
            </a:pPr>
            <a:r>
              <a:rPr sz="2000" b="1" dirty="0" err="1">
                <a:solidFill>
                  <a:srgbClr val="202020"/>
                </a:solidFill>
              </a:rPr>
              <a:t>当前链路</a:t>
            </a:r>
            <a:endParaRPr sz="2000" b="1" dirty="0">
              <a:solidFill>
                <a:srgbClr val="20202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744C05-2B8E-49FE-A17B-ABE9B4792E27}"/>
              </a:ext>
            </a:extLst>
          </p:cNvPr>
          <p:cNvSpPr>
            <a:spLocks noGrp="1"/>
          </p:cNvSpPr>
          <p:nvPr/>
        </p:nvSpPr>
        <p:spPr>
          <a:xfrm>
            <a:off x="7048500" y="3014847"/>
            <a:ext cx="4286250" cy="196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B </a:t>
            </a:r>
            <a:r>
              <a:rPr sz="1600" b="0" dirty="0" err="1">
                <a:solidFill>
                  <a:srgbClr val="333333"/>
                </a:solidFill>
              </a:rPr>
              <a:t>生成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ActionRecord</a:t>
            </a:r>
            <a:r>
              <a:rPr sz="1600" b="0" dirty="0">
                <a:solidFill>
                  <a:srgbClr val="333333"/>
                </a:solidFill>
              </a:rPr>
              <a:t> → A </a:t>
            </a:r>
            <a:r>
              <a:rPr sz="1600" b="0" dirty="0" err="1">
                <a:solidFill>
                  <a:srgbClr val="333333"/>
                </a:solidFill>
              </a:rPr>
              <a:t>submit_action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汇总环境状态</a:t>
            </a:r>
            <a:endParaRPr sz="1600" b="0" dirty="0">
              <a:solidFill>
                <a:srgbClr val="333333"/>
              </a:solidFill>
            </a:endParaRP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C </a:t>
            </a:r>
            <a:r>
              <a:rPr sz="1600" b="0" dirty="0" err="1">
                <a:solidFill>
                  <a:srgbClr val="333333"/>
                </a:solidFill>
              </a:rPr>
              <a:t>HawkesEngine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提供事件强度、采样时间与事件回写</a:t>
            </a:r>
            <a:endParaRPr sz="1600" b="0" dirty="0">
              <a:solidFill>
                <a:srgbClr val="333333"/>
              </a:solidFill>
            </a:endParaRP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E 从 A 的 </a:t>
            </a:r>
            <a:r>
              <a:rPr sz="1600" b="0" dirty="0" err="1">
                <a:solidFill>
                  <a:srgbClr val="333333"/>
                </a:solidFill>
              </a:rPr>
              <a:t>DataCollector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导出</a:t>
            </a:r>
            <a:r>
              <a:rPr sz="1600" b="0" dirty="0">
                <a:solidFill>
                  <a:srgbClr val="333333"/>
                </a:solidFill>
              </a:rPr>
              <a:t> CSV / </a:t>
            </a:r>
            <a:r>
              <a:rPr sz="1600" b="0" dirty="0" err="1">
                <a:solidFill>
                  <a:srgbClr val="333333"/>
                </a:solidFill>
              </a:rPr>
              <a:t>图表</a:t>
            </a:r>
            <a:endParaRPr sz="1600" b="0" dirty="0">
              <a:solidFill>
                <a:srgbClr val="333333"/>
              </a:solidFill>
            </a:endParaRP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D </a:t>
            </a:r>
            <a:r>
              <a:rPr sz="1600" b="0" dirty="0" err="1">
                <a:solidFill>
                  <a:srgbClr val="333333"/>
                </a:solidFill>
              </a:rPr>
              <a:t>使用</a:t>
            </a:r>
            <a:r>
              <a:rPr sz="1600" b="0" dirty="0">
                <a:solidFill>
                  <a:srgbClr val="333333"/>
                </a:solidFill>
              </a:rPr>
              <a:t> ABC metrics </a:t>
            </a:r>
            <a:r>
              <a:rPr sz="1600" b="0" dirty="0" err="1">
                <a:solidFill>
                  <a:srgbClr val="333333"/>
                </a:solidFill>
              </a:rPr>
              <a:t>建立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baseline，并比较三类干预策略</a:t>
            </a:r>
            <a:endParaRPr sz="1600" b="0" dirty="0">
              <a:solidFill>
                <a:srgbClr val="333333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DA3867-E18A-4A2D-B30A-D90ACF7292B5}"/>
              </a:ext>
            </a:extLst>
          </p:cNvPr>
          <p:cNvSpPr>
            <a:spLocks noGrp="1"/>
          </p:cNvSpPr>
          <p:nvPr/>
        </p:nvSpPr>
        <p:spPr>
          <a:xfrm>
            <a:off x="7048500" y="4876800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02020"/>
                </a:solidFill>
              </a:defRPr>
            </a:pPr>
            <a:r>
              <a:rPr sz="2000" b="1" dirty="0" err="1">
                <a:solidFill>
                  <a:srgbClr val="202020"/>
                </a:solidFill>
              </a:rPr>
              <a:t>验证结论</a:t>
            </a:r>
            <a:endParaRPr sz="2000" b="1" dirty="0">
              <a:solidFill>
                <a:srgbClr val="20202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0391A4-D67C-4CC1-9993-43FA5B0F2C2B}"/>
              </a:ext>
            </a:extLst>
          </p:cNvPr>
          <p:cNvSpPr>
            <a:spLocks noGrp="1"/>
          </p:cNvSpPr>
          <p:nvPr/>
        </p:nvSpPr>
        <p:spPr>
          <a:xfrm>
            <a:off x="7048500" y="5181600"/>
            <a:ext cx="4286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 err="1">
                <a:solidFill>
                  <a:srgbClr val="333333"/>
                </a:solidFill>
              </a:rPr>
              <a:t>B→A：ActionRecord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已生成并进入</a:t>
            </a:r>
            <a:r>
              <a:rPr sz="1600" b="0" dirty="0">
                <a:solidFill>
                  <a:srgbClr val="333333"/>
                </a:solidFill>
              </a:rPr>
              <a:t> A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 err="1">
                <a:solidFill>
                  <a:srgbClr val="333333"/>
                </a:solidFill>
              </a:rPr>
              <a:t>B→E：Agent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状态可被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DataCollector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采集</a:t>
            </a:r>
            <a:endParaRPr sz="1600" b="0" dirty="0">
              <a:solidFill>
                <a:srgbClr val="333333"/>
              </a:solidFill>
            </a:endParaRP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 err="1">
                <a:solidFill>
                  <a:srgbClr val="333333"/>
                </a:solidFill>
              </a:rPr>
              <a:t>B→D：行为数据可通过</a:t>
            </a:r>
            <a:r>
              <a:rPr sz="1600" b="0" dirty="0">
                <a:solidFill>
                  <a:srgbClr val="333333"/>
                </a:solidFill>
              </a:rPr>
              <a:t> A </a:t>
            </a:r>
            <a:r>
              <a:rPr sz="1600" b="0" dirty="0" err="1">
                <a:solidFill>
                  <a:srgbClr val="333333"/>
                </a:solidFill>
              </a:rPr>
              <a:t>汇总后进入策略评估</a:t>
            </a:r>
            <a:endParaRPr sz="1600" b="0" dirty="0">
              <a:solidFill>
                <a:srgbClr val="333333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C83D15-344C-47F8-BADC-75E7C47F811E}"/>
              </a:ext>
            </a:extLst>
          </p:cNvPr>
          <p:cNvSpPr>
            <a:spLocks noGrp="1"/>
          </p:cNvSpPr>
          <p:nvPr/>
        </p:nvSpPr>
        <p:spPr>
          <a:xfrm>
            <a:off x="11572875" y="642937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423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045EE311-5FE2-4211-97C5-BB6AD7B3C1CB}"/>
              </a:ext>
            </a:extLst>
          </p:cNvPr>
          <p:cNvSpPr>
            <a:spLocks noGrp="1"/>
          </p:cNvSpPr>
          <p:nvPr/>
        </p:nvSpPr>
        <p:spPr>
          <a:xfrm>
            <a:off x="228600" y="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202020"/>
                </a:solidFill>
              </a:defRPr>
            </a:pPr>
            <a:r>
              <a:rPr lang="en-US" sz="3200" b="1" dirty="0">
                <a:solidFill>
                  <a:srgbClr val="202020"/>
                </a:solidFill>
              </a:rPr>
              <a:t>2</a:t>
            </a:r>
            <a:r>
              <a:rPr sz="3200" b="1" dirty="0">
                <a:solidFill>
                  <a:srgbClr val="202020"/>
                </a:solidFill>
              </a:rPr>
              <a:t> C </a:t>
            </a:r>
            <a:r>
              <a:rPr sz="3200" b="1" dirty="0" err="1">
                <a:solidFill>
                  <a:srgbClr val="202020"/>
                </a:solidFill>
              </a:rPr>
              <a:t>模块接入后，Hawkes</a:t>
            </a:r>
            <a:r>
              <a:rPr sz="3200" b="1" dirty="0">
                <a:solidFill>
                  <a:srgbClr val="202020"/>
                </a:solidFill>
              </a:rPr>
              <a:t> </a:t>
            </a:r>
            <a:r>
              <a:rPr sz="3200" b="1" dirty="0" err="1">
                <a:solidFill>
                  <a:srgbClr val="202020"/>
                </a:solidFill>
              </a:rPr>
              <a:t>与环境更新可连续运行</a:t>
            </a:r>
            <a:endParaRPr sz="3200" b="1" dirty="0">
              <a:solidFill>
                <a:srgbClr val="20202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FB88A8-E36C-4B34-BD2D-37CCE5CBCC7F}"/>
              </a:ext>
            </a:extLst>
          </p:cNvPr>
          <p:cNvSpPr>
            <a:spLocks noGrp="1"/>
          </p:cNvSpPr>
          <p:nvPr/>
        </p:nvSpPr>
        <p:spPr>
          <a:xfrm>
            <a:off x="381000" y="952500"/>
            <a:ext cx="11430000" cy="11430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30" y="910046"/>
            <a:ext cx="6322389" cy="36195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33019" y="910046"/>
            <a:ext cx="5727805" cy="36195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9E39991-9EB6-4C20-A449-B2F5B7076986}"/>
              </a:ext>
            </a:extLst>
          </p:cNvPr>
          <p:cNvSpPr>
            <a:spLocks noGrp="1"/>
          </p:cNvSpPr>
          <p:nvPr/>
        </p:nvSpPr>
        <p:spPr>
          <a:xfrm>
            <a:off x="647700" y="4857750"/>
            <a:ext cx="504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02020"/>
                </a:solidFill>
              </a:defRPr>
            </a:pPr>
            <a:r>
              <a:rPr lang="zh-CN" altLang="en-US" sz="2000" b="1" dirty="0">
                <a:solidFill>
                  <a:srgbClr val="202020"/>
                </a:solidFill>
              </a:rPr>
              <a:t>单</a:t>
            </a:r>
            <a:r>
              <a:rPr sz="2000" b="1" dirty="0">
                <a:solidFill>
                  <a:srgbClr val="202020"/>
                </a:solidFill>
              </a:rPr>
              <a:t>Agent </a:t>
            </a:r>
            <a:r>
              <a:rPr sz="2000" b="1" dirty="0" err="1">
                <a:solidFill>
                  <a:srgbClr val="202020"/>
                </a:solidFill>
              </a:rPr>
              <a:t>验收结果</a:t>
            </a:r>
            <a:endParaRPr sz="2000" b="1" dirty="0">
              <a:solidFill>
                <a:srgbClr val="20202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F274BD-2E7F-45C5-AAC6-6A7445C01BCD}"/>
              </a:ext>
            </a:extLst>
          </p:cNvPr>
          <p:cNvSpPr>
            <a:spLocks noGrp="1"/>
          </p:cNvSpPr>
          <p:nvPr/>
        </p:nvSpPr>
        <p:spPr>
          <a:xfrm>
            <a:off x="647700" y="5200650"/>
            <a:ext cx="504825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50 step </a:t>
            </a:r>
            <a:r>
              <a:rPr sz="1600" b="0" dirty="0" err="1">
                <a:solidFill>
                  <a:srgbClr val="333333"/>
                </a:solidFill>
              </a:rPr>
              <a:t>仿真在</a:t>
            </a:r>
            <a:r>
              <a:rPr sz="1600" b="0" dirty="0">
                <a:solidFill>
                  <a:srgbClr val="333333"/>
                </a:solidFill>
              </a:rPr>
              <a:t> 0.85s </a:t>
            </a:r>
            <a:r>
              <a:rPr sz="1600" b="0" dirty="0" err="1">
                <a:solidFill>
                  <a:srgbClr val="333333"/>
                </a:solidFill>
              </a:rPr>
              <a:t>内完成，满足</a:t>
            </a:r>
            <a:r>
              <a:rPr sz="1600" b="0" dirty="0">
                <a:solidFill>
                  <a:srgbClr val="333333"/>
                </a:solidFill>
              </a:rPr>
              <a:t> &lt;30s </a:t>
            </a:r>
            <a:r>
              <a:rPr sz="1600" b="0" dirty="0" err="1">
                <a:solidFill>
                  <a:srgbClr val="333333"/>
                </a:solidFill>
              </a:rPr>
              <a:t>的运行要求；DataCollector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输出</a:t>
            </a:r>
            <a:r>
              <a:rPr sz="1600" b="0" dirty="0">
                <a:solidFill>
                  <a:srgbClr val="333333"/>
                </a:solidFill>
              </a:rPr>
              <a:t> 50 </a:t>
            </a:r>
            <a:r>
              <a:rPr sz="1600" b="0" dirty="0" err="1">
                <a:solidFill>
                  <a:srgbClr val="333333"/>
                </a:solidFill>
              </a:rPr>
              <a:t>行，指标列完整且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NaN</a:t>
            </a:r>
            <a:r>
              <a:rPr sz="1600" b="0" dirty="0">
                <a:solidFill>
                  <a:srgbClr val="333333"/>
                </a:solidFill>
              </a:rPr>
              <a:t>=0；跨群转发累计 84 </a:t>
            </a:r>
            <a:r>
              <a:rPr sz="1600" b="0" dirty="0" err="1">
                <a:solidFill>
                  <a:srgbClr val="333333"/>
                </a:solidFill>
              </a:rPr>
              <a:t>次，最早干预</a:t>
            </a:r>
            <a:r>
              <a:rPr sz="1600" b="0" dirty="0">
                <a:solidFill>
                  <a:srgbClr val="333333"/>
                </a:solidFill>
              </a:rPr>
              <a:t> tick=0</a:t>
            </a:r>
            <a:r>
              <a:rPr lang="zh-CN" altLang="en-US" sz="1600" b="0" dirty="0">
                <a:solidFill>
                  <a:srgbClr val="333333"/>
                </a:solidFill>
              </a:rPr>
              <a:t>（仿真系统检测到即开始运行）</a:t>
            </a:r>
            <a:r>
              <a:rPr sz="1600" b="0" dirty="0">
                <a:solidFill>
                  <a:srgbClr val="333333"/>
                </a:solidFill>
              </a:rPr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D9EC59-21E8-4162-BBA7-AEDADD2B43C4}"/>
              </a:ext>
            </a:extLst>
          </p:cNvPr>
          <p:cNvSpPr>
            <a:spLocks noGrp="1"/>
          </p:cNvSpPr>
          <p:nvPr/>
        </p:nvSpPr>
        <p:spPr>
          <a:xfrm>
            <a:off x="6429375" y="4857750"/>
            <a:ext cx="504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02020"/>
                </a:solidFill>
              </a:defRPr>
            </a:pPr>
            <a:r>
              <a:rPr sz="2000" b="1" dirty="0">
                <a:solidFill>
                  <a:srgbClr val="202020"/>
                </a:solidFill>
              </a:rPr>
              <a:t>Hawkes </a:t>
            </a:r>
            <a:r>
              <a:rPr sz="2000" b="1" dirty="0" err="1">
                <a:solidFill>
                  <a:srgbClr val="202020"/>
                </a:solidFill>
              </a:rPr>
              <a:t>引擎完善</a:t>
            </a:r>
            <a:endParaRPr sz="2000" b="1" dirty="0">
              <a:solidFill>
                <a:srgbClr val="20202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7208DC-9F03-4E8C-9B90-10601A7F50BE}"/>
              </a:ext>
            </a:extLst>
          </p:cNvPr>
          <p:cNvSpPr>
            <a:spLocks noGrp="1"/>
          </p:cNvSpPr>
          <p:nvPr/>
        </p:nvSpPr>
        <p:spPr>
          <a:xfrm>
            <a:off x="6429375" y="5200650"/>
            <a:ext cx="504825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 err="1">
                <a:solidFill>
                  <a:srgbClr val="333333"/>
                </a:solidFill>
              </a:rPr>
              <a:t>本周将</a:t>
            </a:r>
            <a:r>
              <a:rPr sz="1600" b="0" dirty="0">
                <a:solidFill>
                  <a:srgbClr val="333333"/>
                </a:solidFill>
              </a:rPr>
              <a:t> C </a:t>
            </a:r>
            <a:r>
              <a:rPr sz="1600" b="0" dirty="0" err="1">
                <a:solidFill>
                  <a:srgbClr val="333333"/>
                </a:solidFill>
              </a:rPr>
              <a:t>的事件强度、事件采样和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add_event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回写接入</a:t>
            </a:r>
            <a:r>
              <a:rPr sz="1600" b="0" dirty="0">
                <a:solidFill>
                  <a:srgbClr val="333333"/>
                </a:solidFill>
              </a:rPr>
              <a:t> A 的 step </a:t>
            </a:r>
            <a:r>
              <a:rPr sz="1600" b="0" dirty="0" err="1">
                <a:solidFill>
                  <a:srgbClr val="333333"/>
                </a:solidFill>
              </a:rPr>
              <a:t>调度，使热度触发、跨群扩散和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intervention_tick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能进入连续时序</a:t>
            </a:r>
            <a:r>
              <a:rPr sz="1600" b="0" dirty="0">
                <a:solidFill>
                  <a:srgbClr val="333333"/>
                </a:solidFill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D8BC32-368B-4D5B-9830-D0AD49E8ACE7}"/>
              </a:ext>
            </a:extLst>
          </p:cNvPr>
          <p:cNvSpPr>
            <a:spLocks noGrp="1"/>
          </p:cNvSpPr>
          <p:nvPr/>
        </p:nvSpPr>
        <p:spPr>
          <a:xfrm>
            <a:off x="11572875" y="642937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2112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86289453-7103-4CEF-AF15-2E24A883A834}"/>
              </a:ext>
            </a:extLst>
          </p:cNvPr>
          <p:cNvSpPr>
            <a:spLocks noGrp="1"/>
          </p:cNvSpPr>
          <p:nvPr/>
        </p:nvSpPr>
        <p:spPr>
          <a:xfrm>
            <a:off x="228600" y="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202020"/>
                </a:solidFill>
              </a:defRPr>
            </a:pPr>
            <a:r>
              <a:rPr lang="en-US" sz="3200" b="1" dirty="0">
                <a:solidFill>
                  <a:srgbClr val="202020"/>
                </a:solidFill>
              </a:rPr>
              <a:t>3</a:t>
            </a:r>
            <a:r>
              <a:rPr sz="3200" b="1" dirty="0">
                <a:solidFill>
                  <a:srgbClr val="202020"/>
                </a:solidFill>
              </a:rPr>
              <a:t> D </a:t>
            </a:r>
            <a:r>
              <a:rPr sz="3200" b="1" dirty="0" err="1">
                <a:solidFill>
                  <a:srgbClr val="202020"/>
                </a:solidFill>
              </a:rPr>
              <a:t>模块接入</a:t>
            </a:r>
            <a:r>
              <a:rPr sz="3200" b="1" dirty="0">
                <a:solidFill>
                  <a:srgbClr val="202020"/>
                </a:solidFill>
              </a:rPr>
              <a:t> </a:t>
            </a:r>
            <a:r>
              <a:rPr sz="3200" b="1" dirty="0" err="1">
                <a:solidFill>
                  <a:srgbClr val="202020"/>
                </a:solidFill>
              </a:rPr>
              <a:t>ABC：三类干预可量化比较</a:t>
            </a:r>
            <a:endParaRPr sz="3200" b="1" dirty="0">
              <a:solidFill>
                <a:srgbClr val="20202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32AA88-3717-4DFD-974A-69D3D87BD0C8}"/>
              </a:ext>
            </a:extLst>
          </p:cNvPr>
          <p:cNvSpPr>
            <a:spLocks noGrp="1"/>
          </p:cNvSpPr>
          <p:nvPr/>
        </p:nvSpPr>
        <p:spPr>
          <a:xfrm>
            <a:off x="381000" y="952500"/>
            <a:ext cx="11430000" cy="11430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1582341"/>
            <a:ext cx="7239000" cy="384571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5E80D05-512D-47BC-AFD2-81214FC71860}"/>
              </a:ext>
            </a:extLst>
          </p:cNvPr>
          <p:cNvSpPr>
            <a:spLocks noGrp="1"/>
          </p:cNvSpPr>
          <p:nvPr/>
        </p:nvSpPr>
        <p:spPr>
          <a:xfrm>
            <a:off x="8096250" y="10858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02020"/>
                </a:solidFill>
              </a:defRPr>
            </a:pPr>
            <a:r>
              <a:rPr sz="2000" b="1" dirty="0" err="1">
                <a:solidFill>
                  <a:srgbClr val="202020"/>
                </a:solidFill>
              </a:rPr>
              <a:t>输入数据</a:t>
            </a:r>
            <a:endParaRPr sz="2000" b="1" dirty="0">
              <a:solidFill>
                <a:srgbClr val="20202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7F3A3A-FD2B-40CB-A211-ACB1D2083B04}"/>
              </a:ext>
            </a:extLst>
          </p:cNvPr>
          <p:cNvSpPr>
            <a:spLocks noGrp="1"/>
          </p:cNvSpPr>
          <p:nvPr/>
        </p:nvSpPr>
        <p:spPr>
          <a:xfrm>
            <a:off x="8096250" y="1504950"/>
            <a:ext cx="34290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D </a:t>
            </a:r>
            <a:r>
              <a:rPr sz="1600" b="0" dirty="0" err="1">
                <a:solidFill>
                  <a:srgbClr val="333333"/>
                </a:solidFill>
              </a:rPr>
              <a:t>不再使用纯</a:t>
            </a:r>
            <a:r>
              <a:rPr sz="1600" b="0" dirty="0">
                <a:solidFill>
                  <a:srgbClr val="333333"/>
                </a:solidFill>
              </a:rPr>
              <a:t> Mock </a:t>
            </a:r>
            <a:r>
              <a:rPr sz="1600" b="0" dirty="0" err="1">
                <a:solidFill>
                  <a:srgbClr val="333333"/>
                </a:solidFill>
              </a:rPr>
              <a:t>数据，而是接收</a:t>
            </a:r>
            <a:r>
              <a:rPr sz="1600" b="0" dirty="0">
                <a:solidFill>
                  <a:srgbClr val="333333"/>
                </a:solidFill>
              </a:rPr>
              <a:t> ABC </a:t>
            </a:r>
            <a:r>
              <a:rPr sz="1600" b="0" dirty="0" err="1">
                <a:solidFill>
                  <a:srgbClr val="333333"/>
                </a:solidFill>
              </a:rPr>
              <a:t>运行后由</a:t>
            </a:r>
            <a:r>
              <a:rPr sz="1600" b="0" dirty="0">
                <a:solidFill>
                  <a:srgbClr val="333333"/>
                </a:solidFill>
              </a:rPr>
              <a:t> A </a:t>
            </a:r>
            <a:r>
              <a:rPr sz="1600" b="0" dirty="0" err="1">
                <a:solidFill>
                  <a:srgbClr val="333333"/>
                </a:solidFill>
              </a:rPr>
              <a:t>DataCollector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汇总的</a:t>
            </a:r>
            <a:r>
              <a:rPr sz="1600" b="0" dirty="0">
                <a:solidFill>
                  <a:srgbClr val="333333"/>
                </a:solidFill>
              </a:rPr>
              <a:t> metrics：avg_opinion、polarization、propagation_speed、participation_rate 等。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6DD290-BB7B-404A-BE91-ED153C732DA0}"/>
              </a:ext>
            </a:extLst>
          </p:cNvPr>
          <p:cNvSpPr>
            <a:spLocks noGrp="1"/>
          </p:cNvSpPr>
          <p:nvPr/>
        </p:nvSpPr>
        <p:spPr>
          <a:xfrm>
            <a:off x="8096250" y="29527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02020"/>
                </a:solidFill>
              </a:defRPr>
            </a:pPr>
            <a:r>
              <a:rPr sz="2000" b="1" dirty="0" err="1">
                <a:solidFill>
                  <a:srgbClr val="202020"/>
                </a:solidFill>
              </a:rPr>
              <a:t>评估输出</a:t>
            </a:r>
            <a:endParaRPr sz="2000" b="1" dirty="0">
              <a:solidFill>
                <a:srgbClr val="20202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477AAA-E09B-4046-9080-9E3D24FCA91D}"/>
              </a:ext>
            </a:extLst>
          </p:cNvPr>
          <p:cNvSpPr>
            <a:spLocks noGrp="1"/>
          </p:cNvSpPr>
          <p:nvPr/>
        </p:nvSpPr>
        <p:spPr>
          <a:xfrm>
            <a:off x="8096250" y="3295650"/>
            <a:ext cx="34290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 err="1">
                <a:solidFill>
                  <a:srgbClr val="333333"/>
                </a:solidFill>
              </a:rPr>
              <a:t>event_injection_public_info：score</a:t>
            </a:r>
            <a:r>
              <a:rPr sz="1600" b="0" dirty="0">
                <a:solidFill>
                  <a:srgbClr val="333333"/>
                </a:solidFill>
              </a:rPr>
              <a:t>=0.0142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 err="1">
                <a:solidFill>
                  <a:srgbClr val="333333"/>
                </a:solidFill>
              </a:rPr>
              <a:t>node_control_leaders：score</a:t>
            </a:r>
            <a:r>
              <a:rPr sz="1600" b="0" dirty="0">
                <a:solidFill>
                  <a:srgbClr val="333333"/>
                </a:solidFill>
              </a:rPr>
              <a:t>=0.0335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 err="1">
                <a:solidFill>
                  <a:srgbClr val="333333"/>
                </a:solidFill>
              </a:rPr>
              <a:t>platform_param_downrank：score</a:t>
            </a:r>
            <a:r>
              <a:rPr sz="1600" b="0" dirty="0">
                <a:solidFill>
                  <a:srgbClr val="333333"/>
                </a:solidFill>
              </a:rPr>
              <a:t>=0.0172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 err="1">
                <a:solidFill>
                  <a:srgbClr val="333333"/>
                </a:solidFill>
              </a:rPr>
              <a:t>三类干预均输出</a:t>
            </a:r>
            <a:r>
              <a:rPr sz="1600" b="0" dirty="0">
                <a:solidFill>
                  <a:srgbClr val="333333"/>
                </a:solidFill>
              </a:rPr>
              <a:t> 50 </a:t>
            </a:r>
            <a:r>
              <a:rPr lang="zh-CN" altLang="en-US" sz="1600" dirty="0">
                <a:solidFill>
                  <a:srgbClr val="333333"/>
                </a:solidFill>
              </a:rPr>
              <a:t>干预数据</a:t>
            </a:r>
            <a:r>
              <a:rPr sz="1600" b="0" dirty="0" err="1">
                <a:solidFill>
                  <a:srgbClr val="333333"/>
                </a:solidFill>
              </a:rPr>
              <a:t>rows，并导出</a:t>
            </a:r>
            <a:r>
              <a:rPr sz="1600" b="0" dirty="0">
                <a:solidFill>
                  <a:srgbClr val="333333"/>
                </a:solidFill>
              </a:rPr>
              <a:t> CSV / JSON / TXT。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29372D-C713-4F3D-8D17-4462D98F7179}"/>
              </a:ext>
            </a:extLst>
          </p:cNvPr>
          <p:cNvSpPr>
            <a:spLocks noGrp="1"/>
          </p:cNvSpPr>
          <p:nvPr/>
        </p:nvSpPr>
        <p:spPr>
          <a:xfrm>
            <a:off x="8096250" y="5000625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02020"/>
                </a:solidFill>
              </a:defRPr>
            </a:pPr>
            <a:r>
              <a:rPr sz="2000" b="1" dirty="0" err="1">
                <a:solidFill>
                  <a:srgbClr val="202020"/>
                </a:solidFill>
              </a:rPr>
              <a:t>本页结论</a:t>
            </a:r>
            <a:endParaRPr sz="2000" b="1" dirty="0">
              <a:solidFill>
                <a:srgbClr val="20202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178042-957D-45D6-A038-B63FC8C2BB25}"/>
              </a:ext>
            </a:extLst>
          </p:cNvPr>
          <p:cNvSpPr>
            <a:spLocks noGrp="1"/>
          </p:cNvSpPr>
          <p:nvPr/>
        </p:nvSpPr>
        <p:spPr>
          <a:xfrm>
            <a:off x="8096250" y="5343525"/>
            <a:ext cx="3429000" cy="11555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D </a:t>
            </a:r>
            <a:r>
              <a:rPr sz="1600" b="0" dirty="0" err="1">
                <a:solidFill>
                  <a:srgbClr val="333333"/>
                </a:solidFill>
              </a:rPr>
              <a:t>已能基于</a:t>
            </a:r>
            <a:r>
              <a:rPr sz="1600" b="0" dirty="0">
                <a:solidFill>
                  <a:srgbClr val="333333"/>
                </a:solidFill>
              </a:rPr>
              <a:t> ABC </a:t>
            </a:r>
            <a:r>
              <a:rPr sz="1600" b="0" dirty="0" err="1">
                <a:solidFill>
                  <a:srgbClr val="333333"/>
                </a:solidFill>
              </a:rPr>
              <a:t>的真实时序指标建立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baseline，并完成官方信息注入、节点控制、平台参数调整三类策略的横向比较</a:t>
            </a:r>
            <a:r>
              <a:rPr sz="1600" b="0" dirty="0">
                <a:solidFill>
                  <a:srgbClr val="333333"/>
                </a:solidFill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A70CD0-3A26-453B-ABC7-12DE5CD3E006}"/>
              </a:ext>
            </a:extLst>
          </p:cNvPr>
          <p:cNvSpPr>
            <a:spLocks noGrp="1"/>
          </p:cNvSpPr>
          <p:nvPr/>
        </p:nvSpPr>
        <p:spPr>
          <a:xfrm>
            <a:off x="11572875" y="642937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44521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174F645-BCCD-456E-A0C8-24F85C794F09}"/>
              </a:ext>
            </a:extLst>
          </p:cNvPr>
          <p:cNvSpPr>
            <a:spLocks noGrp="1"/>
          </p:cNvSpPr>
          <p:nvPr/>
        </p:nvSpPr>
        <p:spPr>
          <a:xfrm>
            <a:off x="228600" y="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202020"/>
                </a:solidFill>
              </a:defRPr>
            </a:pPr>
            <a:r>
              <a:rPr lang="en-US" sz="3200" b="1" dirty="0">
                <a:solidFill>
                  <a:srgbClr val="202020"/>
                </a:solidFill>
              </a:rPr>
              <a:t>4</a:t>
            </a:r>
            <a:r>
              <a:rPr sz="3200" b="1" dirty="0">
                <a:solidFill>
                  <a:srgbClr val="202020"/>
                </a:solidFill>
              </a:rPr>
              <a:t> </a:t>
            </a:r>
            <a:r>
              <a:rPr sz="3200" b="1" dirty="0" err="1">
                <a:solidFill>
                  <a:srgbClr val="202020"/>
                </a:solidFill>
              </a:rPr>
              <a:t>场景设定：校园多群舆情传播</a:t>
            </a:r>
            <a:endParaRPr sz="3200" b="1" dirty="0">
              <a:solidFill>
                <a:srgbClr val="20202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9C1479-5A55-461C-B5B1-309A104AC586}"/>
              </a:ext>
            </a:extLst>
          </p:cNvPr>
          <p:cNvSpPr>
            <a:spLocks noGrp="1"/>
          </p:cNvSpPr>
          <p:nvPr/>
        </p:nvSpPr>
        <p:spPr>
          <a:xfrm>
            <a:off x="381000" y="952500"/>
            <a:ext cx="11430000" cy="11430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341E29-A0D5-417F-8087-C9DADC98207C}"/>
              </a:ext>
            </a:extLst>
          </p:cNvPr>
          <p:cNvSpPr>
            <a:spLocks noGrp="1"/>
          </p:cNvSpPr>
          <p:nvPr/>
        </p:nvSpPr>
        <p:spPr>
          <a:xfrm>
            <a:off x="647700" y="1216742"/>
            <a:ext cx="1057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02020"/>
                </a:solidFill>
              </a:defRPr>
            </a:pPr>
            <a:r>
              <a:rPr sz="2000" b="1" dirty="0" err="1">
                <a:solidFill>
                  <a:srgbClr val="202020"/>
                </a:solidFill>
              </a:rPr>
              <a:t>应用场景</a:t>
            </a:r>
            <a:endParaRPr sz="2000" b="1" dirty="0">
              <a:solidFill>
                <a:srgbClr val="20202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F7B357-A5B8-4C96-BC85-D782DC7F8CEB}"/>
              </a:ext>
            </a:extLst>
          </p:cNvPr>
          <p:cNvSpPr>
            <a:spLocks noGrp="1"/>
          </p:cNvSpPr>
          <p:nvPr/>
        </p:nvSpPr>
        <p:spPr>
          <a:xfrm>
            <a:off x="647700" y="1581150"/>
            <a:ext cx="10572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将系统场景重新设定为校园社交网络中的多群舆情扩散：事件从小群或大群发起，在宿舍群、班级群、专业群、校园群之间传播，并在负面程度或热度升高后触发管理干预。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9EABDE-F834-42FB-9C7F-B06A02CEDD75}"/>
              </a:ext>
            </a:extLst>
          </p:cNvPr>
          <p:cNvSpPr>
            <a:spLocks noGrp="1"/>
          </p:cNvSpPr>
          <p:nvPr/>
        </p:nvSpPr>
        <p:spPr>
          <a:xfrm>
            <a:off x="647700" y="247650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02020"/>
                </a:solidFill>
              </a:defRPr>
            </a:pPr>
            <a:r>
              <a:rPr sz="2000" b="1" dirty="0" err="1">
                <a:solidFill>
                  <a:srgbClr val="202020"/>
                </a:solidFill>
              </a:rPr>
              <a:t>群类型</a:t>
            </a:r>
            <a:endParaRPr sz="2000" b="1" dirty="0">
              <a:solidFill>
                <a:srgbClr val="20202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9E6CEB-53EA-4B2D-891E-B5E762813F25}"/>
              </a:ext>
            </a:extLst>
          </p:cNvPr>
          <p:cNvSpPr>
            <a:spLocks noGrp="1"/>
          </p:cNvSpPr>
          <p:nvPr/>
        </p:nvSpPr>
        <p:spPr>
          <a:xfrm>
            <a:off x="647700" y="2819400"/>
            <a:ext cx="49530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DORM </a:t>
            </a:r>
            <a:r>
              <a:rPr sz="1600" b="0" dirty="0" err="1">
                <a:solidFill>
                  <a:srgbClr val="333333"/>
                </a:solidFill>
              </a:rPr>
              <a:t>宿舍群：熟人小群，管理强度弱、曝光低</a:t>
            </a:r>
            <a:endParaRPr sz="1600" b="0" dirty="0">
              <a:solidFill>
                <a:srgbClr val="333333"/>
              </a:solidFill>
            </a:endParaRP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CLASS </a:t>
            </a:r>
            <a:r>
              <a:rPr sz="1600" b="0" dirty="0" err="1">
                <a:solidFill>
                  <a:srgbClr val="333333"/>
                </a:solidFill>
              </a:rPr>
              <a:t>班级群：弱管控，曝光中等</a:t>
            </a:r>
            <a:endParaRPr sz="1600" b="0" dirty="0">
              <a:solidFill>
                <a:srgbClr val="333333"/>
              </a:solidFill>
            </a:endParaRP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MAJOR </a:t>
            </a:r>
            <a:r>
              <a:rPr sz="1600" b="0" dirty="0" err="1">
                <a:solidFill>
                  <a:srgbClr val="333333"/>
                </a:solidFill>
              </a:rPr>
              <a:t>专业群：中等管控，曝光中高</a:t>
            </a:r>
            <a:endParaRPr sz="1600" b="0" dirty="0">
              <a:solidFill>
                <a:srgbClr val="333333"/>
              </a:solidFill>
            </a:endParaRP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CAMPUS </a:t>
            </a:r>
            <a:r>
              <a:rPr sz="1600" b="0" dirty="0" err="1">
                <a:solidFill>
                  <a:srgbClr val="333333"/>
                </a:solidFill>
              </a:rPr>
              <a:t>校园群：官方</a:t>
            </a:r>
            <a:r>
              <a:rPr sz="1600" b="0" dirty="0">
                <a:solidFill>
                  <a:srgbClr val="333333"/>
                </a:solidFill>
              </a:rPr>
              <a:t>/</a:t>
            </a:r>
            <a:r>
              <a:rPr sz="1600" b="0" dirty="0" err="1">
                <a:solidFill>
                  <a:srgbClr val="333333"/>
                </a:solidFill>
              </a:rPr>
              <a:t>学生会管理更强，曝光高、干预更快</a:t>
            </a:r>
            <a:endParaRPr sz="1600" b="0" dirty="0">
              <a:solidFill>
                <a:srgbClr val="333333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05075C-D5CA-4F12-928C-4CC5F5BD0C1D}"/>
              </a:ext>
            </a:extLst>
          </p:cNvPr>
          <p:cNvSpPr>
            <a:spLocks noGrp="1"/>
          </p:cNvSpPr>
          <p:nvPr/>
        </p:nvSpPr>
        <p:spPr>
          <a:xfrm>
            <a:off x="6191250" y="2819400"/>
            <a:ext cx="49530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 err="1">
                <a:solidFill>
                  <a:srgbClr val="333333"/>
                </a:solidFill>
              </a:rPr>
              <a:t>Agent：ORDINARY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普通群员、ACTIVE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活跃讨论者、RATIONAL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理性讨论者、CONTROLLER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管理者</a:t>
            </a:r>
            <a:endParaRPr sz="1600" b="0" dirty="0">
              <a:solidFill>
                <a:srgbClr val="333333"/>
              </a:solidFill>
            </a:endParaRP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消息类型：original、forward、paraphrase、exaggerate、clarification，对应原始、转发、转述、夸大和澄清。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463278-F1DC-4EAB-BF29-A0EF75F9B32D}"/>
              </a:ext>
            </a:extLst>
          </p:cNvPr>
          <p:cNvSpPr>
            <a:spLocks noGrp="1"/>
          </p:cNvSpPr>
          <p:nvPr/>
        </p:nvSpPr>
        <p:spPr>
          <a:xfrm>
            <a:off x="647700" y="4629150"/>
            <a:ext cx="1057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02020"/>
                </a:solidFill>
              </a:defRPr>
            </a:pPr>
            <a:endParaRPr sz="1425" b="1" dirty="0">
              <a:solidFill>
                <a:srgbClr val="20202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FFB783-507E-4E1D-8071-E44A29694BB8}"/>
              </a:ext>
            </a:extLst>
          </p:cNvPr>
          <p:cNvSpPr>
            <a:spLocks noGrp="1"/>
          </p:cNvSpPr>
          <p:nvPr/>
        </p:nvSpPr>
        <p:spPr>
          <a:xfrm>
            <a:off x="647700" y="4972050"/>
            <a:ext cx="1057275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 err="1">
                <a:solidFill>
                  <a:srgbClr val="333333"/>
                </a:solidFill>
              </a:rPr>
              <a:t>热度高的消息有概率跨群传播；每次转发可能增加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distortion；负面程度超过阈值后</a:t>
            </a:r>
            <a:r>
              <a:rPr sz="1600" b="0" dirty="0">
                <a:solidFill>
                  <a:srgbClr val="333333"/>
                </a:solidFill>
              </a:rPr>
              <a:t> Controller </a:t>
            </a:r>
            <a:r>
              <a:rPr sz="1600" b="0" dirty="0" err="1">
                <a:solidFill>
                  <a:srgbClr val="333333"/>
                </a:solidFill>
              </a:rPr>
              <a:t>介入；干预后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negative_score</a:t>
            </a:r>
            <a:r>
              <a:rPr sz="1600" b="0" dirty="0">
                <a:solidFill>
                  <a:srgbClr val="333333"/>
                </a:solidFill>
              </a:rPr>
              <a:t> 与 distortion </a:t>
            </a:r>
            <a:r>
              <a:rPr sz="1600" b="0" dirty="0" err="1">
                <a:solidFill>
                  <a:srgbClr val="333333"/>
                </a:solidFill>
              </a:rPr>
              <a:t>下降，系统进入恢复期。管理更强的群降温更快</a:t>
            </a:r>
            <a:r>
              <a:rPr sz="1600" b="0" dirty="0">
                <a:solidFill>
                  <a:srgbClr val="333333"/>
                </a:solidFill>
              </a:rPr>
              <a:t>。</a:t>
            </a:r>
            <a:endParaRPr sz="1200" b="0" dirty="0">
              <a:solidFill>
                <a:srgbClr val="333333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C66A9FB-EE3F-4F81-B7F4-8FBF5E57FC63}"/>
              </a:ext>
            </a:extLst>
          </p:cNvPr>
          <p:cNvSpPr>
            <a:spLocks noGrp="1"/>
          </p:cNvSpPr>
          <p:nvPr/>
        </p:nvSpPr>
        <p:spPr>
          <a:xfrm>
            <a:off x="11572875" y="642937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24091B-B6BE-BCFB-9CFE-8D339C4ACFE9}"/>
              </a:ext>
            </a:extLst>
          </p:cNvPr>
          <p:cNvSpPr>
            <a:spLocks noGrp="1"/>
          </p:cNvSpPr>
          <p:nvPr/>
        </p:nvSpPr>
        <p:spPr>
          <a:xfrm>
            <a:off x="6191250" y="2535616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02020"/>
                </a:solidFill>
              </a:defRPr>
            </a:pPr>
            <a:r>
              <a:rPr sz="2000" b="1" dirty="0">
                <a:solidFill>
                  <a:srgbClr val="202020"/>
                </a:solidFill>
              </a:rPr>
              <a:t>Agent </a:t>
            </a:r>
            <a:r>
              <a:rPr sz="2000" b="1" dirty="0" err="1">
                <a:solidFill>
                  <a:srgbClr val="202020"/>
                </a:solidFill>
              </a:rPr>
              <a:t>与消息</a:t>
            </a:r>
            <a:endParaRPr sz="2000" b="1" dirty="0">
              <a:solidFill>
                <a:srgbClr val="20202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98DB336-8EFB-A42F-5246-B276146062FE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1057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02020"/>
                </a:solidFill>
              </a:defRPr>
            </a:pPr>
            <a:r>
              <a:rPr sz="2000" b="1" dirty="0" err="1">
                <a:solidFill>
                  <a:srgbClr val="202020"/>
                </a:solidFill>
              </a:rPr>
              <a:t>传播与恢复机制</a:t>
            </a:r>
            <a:endParaRPr sz="2000" b="1" dirty="0">
              <a:solidFill>
                <a:srgbClr val="2020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15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35DD36A-F431-4597-8AEB-798AE28DDF22}"/>
              </a:ext>
            </a:extLst>
          </p:cNvPr>
          <p:cNvSpPr>
            <a:spLocks noGrp="1"/>
          </p:cNvSpPr>
          <p:nvPr/>
        </p:nvSpPr>
        <p:spPr>
          <a:xfrm>
            <a:off x="228600" y="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202020"/>
                </a:solidFill>
              </a:defRPr>
            </a:pPr>
            <a:r>
              <a:rPr sz="3600" b="1" dirty="0" err="1">
                <a:solidFill>
                  <a:srgbClr val="202020"/>
                </a:solidFill>
              </a:rPr>
              <a:t>总结计划</a:t>
            </a:r>
            <a:r>
              <a:rPr sz="3600" b="1" dirty="0">
                <a:solidFill>
                  <a:srgbClr val="202020"/>
                </a:solidFill>
              </a:rPr>
              <a:t> summary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1A4877-BBB6-49B5-A580-987728EA669B}"/>
              </a:ext>
            </a:extLst>
          </p:cNvPr>
          <p:cNvSpPr>
            <a:spLocks noGrp="1"/>
          </p:cNvSpPr>
          <p:nvPr/>
        </p:nvSpPr>
        <p:spPr>
          <a:xfrm>
            <a:off x="381000" y="952500"/>
            <a:ext cx="11430000" cy="11430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18C163-6151-4D12-9F67-BB9A0C55B8BE}"/>
              </a:ext>
            </a:extLst>
          </p:cNvPr>
          <p:cNvSpPr>
            <a:spLocks noGrp="1"/>
          </p:cNvSpPr>
          <p:nvPr/>
        </p:nvSpPr>
        <p:spPr>
          <a:xfrm>
            <a:off x="742950" y="1524000"/>
            <a:ext cx="5095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02020"/>
                </a:solidFill>
              </a:defRPr>
            </a:pPr>
            <a:r>
              <a:rPr sz="2000" b="1" dirty="0">
                <a:solidFill>
                  <a:srgbClr val="202020"/>
                </a:solidFill>
              </a:rPr>
              <a:t>本周</a:t>
            </a:r>
            <a:r>
              <a:rPr lang="en-US" altLang="zh-CN" sz="2000" b="1" dirty="0">
                <a:solidFill>
                  <a:srgbClr val="202020"/>
                </a:solidFill>
              </a:rPr>
              <a:t>week4</a:t>
            </a:r>
            <a:r>
              <a:rPr sz="2000" b="1" dirty="0">
                <a:solidFill>
                  <a:srgbClr val="202020"/>
                </a:solidFill>
              </a:rPr>
              <a:t>完成 this week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CDE9AA-5B83-49CF-9D16-016D24A4E82E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5095875" cy="3562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1 CD </a:t>
            </a:r>
            <a:r>
              <a:rPr sz="1600" b="0" dirty="0" err="1">
                <a:solidFill>
                  <a:srgbClr val="333333"/>
                </a:solidFill>
              </a:rPr>
              <a:t>联调进</a:t>
            </a:r>
            <a:r>
              <a:rPr sz="1600" b="0" dirty="0">
                <a:solidFill>
                  <a:srgbClr val="333333"/>
                </a:solidFill>
              </a:rPr>
              <a:t> ABE </a:t>
            </a:r>
            <a:r>
              <a:rPr sz="1600" b="0" dirty="0" err="1">
                <a:solidFill>
                  <a:srgbClr val="333333"/>
                </a:solidFill>
              </a:rPr>
              <a:t>完成，ABCDE</a:t>
            </a:r>
            <a:r>
              <a:rPr sz="1600" b="0" dirty="0">
                <a:solidFill>
                  <a:srgbClr val="333333"/>
                </a:solidFill>
              </a:rPr>
              <a:t> 全模块链路可运行（100%）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2 </a:t>
            </a:r>
            <a:r>
              <a:rPr sz="1600" b="0" dirty="0" err="1">
                <a:solidFill>
                  <a:srgbClr val="333333"/>
                </a:solidFill>
              </a:rPr>
              <a:t>HawkesEngine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完善：intensity</a:t>
            </a:r>
            <a:r>
              <a:rPr sz="1600" b="0" dirty="0">
                <a:solidFill>
                  <a:srgbClr val="333333"/>
                </a:solidFill>
              </a:rPr>
              <a:t> / </a:t>
            </a:r>
            <a:r>
              <a:rPr sz="1600" b="0" dirty="0" err="1">
                <a:solidFill>
                  <a:srgbClr val="333333"/>
                </a:solidFill>
              </a:rPr>
              <a:t>sample_next_time</a:t>
            </a:r>
            <a:r>
              <a:rPr sz="1600" b="0" dirty="0">
                <a:solidFill>
                  <a:srgbClr val="333333"/>
                </a:solidFill>
              </a:rPr>
              <a:t> / </a:t>
            </a:r>
            <a:r>
              <a:rPr sz="1600" b="0" dirty="0" err="1">
                <a:solidFill>
                  <a:srgbClr val="333333"/>
                </a:solidFill>
              </a:rPr>
              <a:t>add_event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sz="1600" b="0" dirty="0" err="1">
                <a:solidFill>
                  <a:srgbClr val="333333"/>
                </a:solidFill>
              </a:rPr>
              <a:t>进入</a:t>
            </a:r>
            <a:r>
              <a:rPr sz="1600" b="0" dirty="0">
                <a:solidFill>
                  <a:srgbClr val="333333"/>
                </a:solidFill>
              </a:rPr>
              <a:t> A 调度（100%）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3 </a:t>
            </a:r>
            <a:r>
              <a:rPr sz="1600" b="0" dirty="0" err="1">
                <a:solidFill>
                  <a:srgbClr val="333333"/>
                </a:solidFill>
              </a:rPr>
              <a:t>新校园多群场景完成：群类型、Agent</a:t>
            </a:r>
            <a:r>
              <a:rPr sz="1600" b="0" dirty="0">
                <a:solidFill>
                  <a:srgbClr val="333333"/>
                </a:solidFill>
              </a:rPr>
              <a:t> 角色、消息类型和干预恢复机制已明确（100%）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4 D </a:t>
            </a:r>
            <a:r>
              <a:rPr sz="1600" b="0" dirty="0" err="1">
                <a:solidFill>
                  <a:srgbClr val="333333"/>
                </a:solidFill>
              </a:rPr>
              <a:t>模块可基于</a:t>
            </a:r>
            <a:r>
              <a:rPr sz="1600" b="0" dirty="0">
                <a:solidFill>
                  <a:srgbClr val="333333"/>
                </a:solidFill>
              </a:rPr>
              <a:t> ABC metrics </a:t>
            </a:r>
            <a:r>
              <a:rPr sz="1600" b="0" dirty="0" err="1">
                <a:solidFill>
                  <a:srgbClr val="333333"/>
                </a:solidFill>
              </a:rPr>
              <a:t>输出</a:t>
            </a:r>
            <a:r>
              <a:rPr sz="1600" b="0" dirty="0">
                <a:solidFill>
                  <a:srgbClr val="333333"/>
                </a:solidFill>
              </a:rPr>
              <a:t> baseline 与三类干预评估（100%）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E19553-D3A4-4864-9201-C73DE2A12E75}"/>
              </a:ext>
            </a:extLst>
          </p:cNvPr>
          <p:cNvSpPr>
            <a:spLocks noGrp="1"/>
          </p:cNvSpPr>
          <p:nvPr/>
        </p:nvSpPr>
        <p:spPr>
          <a:xfrm>
            <a:off x="6334125" y="1524000"/>
            <a:ext cx="5095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02020"/>
                </a:solidFill>
              </a:defRPr>
            </a:pPr>
            <a:r>
              <a:rPr sz="2000" b="1" dirty="0">
                <a:solidFill>
                  <a:srgbClr val="202020"/>
                </a:solidFill>
              </a:rPr>
              <a:t>计划</a:t>
            </a:r>
            <a:r>
              <a:rPr lang="en-US" altLang="zh-CN" sz="2000" b="1" dirty="0">
                <a:solidFill>
                  <a:srgbClr val="202020"/>
                </a:solidFill>
              </a:rPr>
              <a:t>week5&amp;week6</a:t>
            </a:r>
            <a:endParaRPr sz="2000" b="1" dirty="0">
              <a:solidFill>
                <a:srgbClr val="20202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B15A10-E5DD-43F7-AF02-36B86F2508EA}"/>
              </a:ext>
            </a:extLst>
          </p:cNvPr>
          <p:cNvSpPr>
            <a:spLocks noGrp="1"/>
          </p:cNvSpPr>
          <p:nvPr/>
        </p:nvSpPr>
        <p:spPr>
          <a:xfrm>
            <a:off x="6334125" y="1866900"/>
            <a:ext cx="5095875" cy="3562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333333"/>
                </a:solidFill>
              </a:rPr>
              <a:t>1 </a:t>
            </a:r>
            <a:r>
              <a:rPr lang="zh-CN" altLang="en-US" sz="1600" dirty="0">
                <a:solidFill>
                  <a:srgbClr val="333333"/>
                </a:solidFill>
              </a:rPr>
              <a:t>全量</a:t>
            </a:r>
            <a:r>
              <a:rPr lang="en-US" altLang="zh-CN" sz="1600" dirty="0">
                <a:solidFill>
                  <a:srgbClr val="333333"/>
                </a:solidFill>
              </a:rPr>
              <a:t>agent</a:t>
            </a:r>
            <a:r>
              <a:rPr lang="zh-CN" altLang="en-US" sz="1600" dirty="0">
                <a:solidFill>
                  <a:srgbClr val="333333"/>
                </a:solidFill>
              </a:rPr>
              <a:t>接入</a:t>
            </a:r>
            <a:r>
              <a:rPr sz="1600" b="0" dirty="0">
                <a:solidFill>
                  <a:srgbClr val="333333"/>
                </a:solidFill>
              </a:rPr>
              <a:t>，</a:t>
            </a:r>
            <a:r>
              <a:rPr sz="1600" b="0" dirty="0" err="1">
                <a:solidFill>
                  <a:srgbClr val="333333"/>
                </a:solidFill>
              </a:rPr>
              <a:t>做</a:t>
            </a:r>
            <a:r>
              <a:rPr lang="en-US" altLang="zh-CN" sz="1600" b="0" dirty="0" err="1">
                <a:solidFill>
                  <a:srgbClr val="333333"/>
                </a:solidFill>
              </a:rPr>
              <a:t>BDI</a:t>
            </a:r>
            <a:r>
              <a:rPr sz="1600" b="0" dirty="0" err="1">
                <a:solidFill>
                  <a:srgbClr val="333333"/>
                </a:solidFill>
              </a:rPr>
              <a:t>稳定性和压力测试</a:t>
            </a:r>
            <a:endParaRPr lang="en-US" sz="1600" b="0" dirty="0">
              <a:solidFill>
                <a:srgbClr val="333333"/>
              </a:solidFill>
            </a:endParaRP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</a:rPr>
              <a:t>2 </a:t>
            </a:r>
            <a:r>
              <a:rPr lang="en-US" altLang="zh-CN" sz="1600" dirty="0" err="1">
                <a:solidFill>
                  <a:srgbClr val="333333"/>
                </a:solidFill>
              </a:rPr>
              <a:t>Datacollector</a:t>
            </a:r>
            <a:r>
              <a:rPr lang="zh-CN" altLang="en-US" sz="1600" dirty="0">
                <a:solidFill>
                  <a:srgbClr val="333333"/>
                </a:solidFill>
              </a:rPr>
              <a:t>对全模块调度并发</a:t>
            </a:r>
            <a:endParaRPr sz="1600" b="0" dirty="0">
              <a:solidFill>
                <a:srgbClr val="333333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33B1B4-4C8E-4ED4-B808-B4AF4CE35B9A}"/>
              </a:ext>
            </a:extLst>
          </p:cNvPr>
          <p:cNvSpPr>
            <a:spLocks noGrp="1"/>
          </p:cNvSpPr>
          <p:nvPr/>
        </p:nvSpPr>
        <p:spPr>
          <a:xfrm>
            <a:off x="11572875" y="642937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78494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7374147-8FAE-4973-9202-4001ECC96A25}"/>
              </a:ext>
            </a:extLst>
          </p:cNvPr>
          <p:cNvSpPr>
            <a:spLocks noGrp="1"/>
          </p:cNvSpPr>
          <p:nvPr/>
        </p:nvSpPr>
        <p:spPr>
          <a:xfrm>
            <a:off x="228600" y="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202020"/>
                </a:solidFill>
              </a:defRPr>
            </a:pPr>
            <a:r>
              <a:rPr sz="3200" b="1" dirty="0">
                <a:solidFill>
                  <a:srgbClr val="202020"/>
                </a:solidFill>
              </a:rPr>
              <a:t>paper/chapter reading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17D237-D9F0-46E9-BB04-21966B480C3D}"/>
              </a:ext>
            </a:extLst>
          </p:cNvPr>
          <p:cNvSpPr>
            <a:spLocks noGrp="1"/>
          </p:cNvSpPr>
          <p:nvPr/>
        </p:nvSpPr>
        <p:spPr>
          <a:xfrm>
            <a:off x="228600" y="697230"/>
            <a:ext cx="11430000" cy="11430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D127E5-A22A-48DB-A570-13AB6454CA36}"/>
              </a:ext>
            </a:extLst>
          </p:cNvPr>
          <p:cNvSpPr>
            <a:spLocks noGrp="1"/>
          </p:cNvSpPr>
          <p:nvPr/>
        </p:nvSpPr>
        <p:spPr>
          <a:xfrm>
            <a:off x="371475" y="749617"/>
            <a:ext cx="11287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2000" b="1" dirty="0" err="1">
                <a:solidFill>
                  <a:srgbClr val="333333"/>
                </a:solidFill>
              </a:rPr>
              <a:t>本周阅读文章：Network</a:t>
            </a:r>
            <a:r>
              <a:rPr sz="2000" b="1" dirty="0">
                <a:solidFill>
                  <a:srgbClr val="333333"/>
                </a:solidFill>
              </a:rPr>
              <a:t> Public Opinion Propagation Control Model of Major Emergencies Based on Heat Conduction Theory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2000" b="1" dirty="0">
                <a:solidFill>
                  <a:srgbClr val="333333"/>
                </a:solidFill>
              </a:rPr>
              <a:t>Yong Wei, 2022, Wireless Communications and Mobile Computing, DOI: 10.1155/2022/1476231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8FF393-07F0-4739-8407-25F10B8B98EE}"/>
              </a:ext>
            </a:extLst>
          </p:cNvPr>
          <p:cNvSpPr>
            <a:spLocks noGrp="1"/>
          </p:cNvSpPr>
          <p:nvPr/>
        </p:nvSpPr>
        <p:spPr>
          <a:xfrm>
            <a:off x="452437" y="1677690"/>
            <a:ext cx="11287125" cy="5180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02020"/>
                </a:solidFill>
              </a:defRPr>
            </a:pPr>
            <a:r>
              <a:rPr sz="2000" b="0" dirty="0">
                <a:solidFill>
                  <a:srgbClr val="202020"/>
                </a:solidFill>
              </a:rPr>
              <a:t>Motivation </a:t>
            </a:r>
            <a:r>
              <a:rPr sz="2000" b="0" dirty="0" err="1">
                <a:solidFill>
                  <a:srgbClr val="202020"/>
                </a:solidFill>
              </a:rPr>
              <a:t>动机</a:t>
            </a:r>
            <a:endParaRPr sz="2000" b="0" dirty="0">
              <a:solidFill>
                <a:srgbClr val="202020"/>
              </a:solidFill>
            </a:endParaRPr>
          </a:p>
          <a:p>
            <a:pPr algn="l">
              <a:defRPr sz="1050" b="0">
                <a:solidFill>
                  <a:srgbClr val="202020"/>
                </a:solidFill>
              </a:defRPr>
            </a:pPr>
            <a:r>
              <a:rPr sz="1600" b="0" dirty="0">
                <a:solidFill>
                  <a:srgbClr val="202020"/>
                </a:solidFill>
              </a:rPr>
              <a:t>重大突发事件舆情具有爆发快、覆盖广、敏感度高的特点。传统模型对具体传播控制机制刻画较弱，论文尝试用物理热传导类比舆情扩散，为治理策略提供可计算框架。</a:t>
            </a:r>
          </a:p>
          <a:p>
            <a:endParaRPr sz="1600" b="0" dirty="0">
              <a:solidFill>
                <a:srgbClr val="202020"/>
              </a:solidFill>
            </a:endParaRPr>
          </a:p>
          <a:p>
            <a:pPr algn="l">
              <a:defRPr sz="1050" b="0">
                <a:solidFill>
                  <a:srgbClr val="202020"/>
                </a:solidFill>
              </a:defRPr>
            </a:pPr>
            <a:r>
              <a:rPr sz="2000" b="0" dirty="0">
                <a:solidFill>
                  <a:srgbClr val="202020"/>
                </a:solidFill>
              </a:rPr>
              <a:t>Theory </a:t>
            </a:r>
            <a:r>
              <a:rPr sz="2000" b="0" dirty="0" err="1">
                <a:solidFill>
                  <a:srgbClr val="202020"/>
                </a:solidFill>
              </a:rPr>
              <a:t>理论</a:t>
            </a:r>
            <a:endParaRPr sz="2000" b="0" dirty="0">
              <a:solidFill>
                <a:srgbClr val="202020"/>
              </a:solidFill>
            </a:endParaRPr>
          </a:p>
          <a:p>
            <a:pPr algn="l">
              <a:defRPr sz="1050" b="0">
                <a:solidFill>
                  <a:srgbClr val="202020"/>
                </a:solidFill>
              </a:defRPr>
            </a:pPr>
            <a:r>
              <a:rPr sz="1600" b="0" dirty="0">
                <a:solidFill>
                  <a:srgbClr val="202020"/>
                </a:solidFill>
              </a:rPr>
              <a:t>论文把个体之间的信息交换类比为热量交换：个体获得的舆情“能量”达到阈值后成为传播者；系统总影响力随个体能量累积而变化，同时随时间和新热点出现而衰减。</a:t>
            </a:r>
          </a:p>
          <a:p>
            <a:endParaRPr sz="1600" b="0" dirty="0">
              <a:solidFill>
                <a:srgbClr val="202020"/>
              </a:solidFill>
            </a:endParaRPr>
          </a:p>
          <a:p>
            <a:pPr algn="l">
              <a:defRPr sz="1050" b="0">
                <a:solidFill>
                  <a:srgbClr val="202020"/>
                </a:solidFill>
              </a:defRPr>
            </a:pPr>
            <a:r>
              <a:rPr sz="2000" b="0" dirty="0">
                <a:solidFill>
                  <a:srgbClr val="202020"/>
                </a:solidFill>
              </a:rPr>
              <a:t>Application </a:t>
            </a:r>
            <a:r>
              <a:rPr sz="2000" b="0" dirty="0" err="1">
                <a:solidFill>
                  <a:srgbClr val="202020"/>
                </a:solidFill>
              </a:rPr>
              <a:t>应用</a:t>
            </a:r>
            <a:endParaRPr sz="2000" b="0" dirty="0">
              <a:solidFill>
                <a:srgbClr val="202020"/>
              </a:solidFill>
            </a:endParaRPr>
          </a:p>
          <a:p>
            <a:pPr algn="l">
              <a:defRPr sz="1050" b="0">
                <a:solidFill>
                  <a:srgbClr val="202020"/>
                </a:solidFill>
              </a:defRPr>
            </a:pPr>
            <a:r>
              <a:rPr sz="1600" b="0" dirty="0" err="1">
                <a:solidFill>
                  <a:srgbClr val="202020"/>
                </a:solidFill>
              </a:rPr>
              <a:t>文章分析四类因素：个体兴趣、传播倾向、信息传导系数、传播广度。它们分别对应我们系统中的</a:t>
            </a:r>
            <a:r>
              <a:rPr sz="1600" b="0" dirty="0">
                <a:solidFill>
                  <a:srgbClr val="202020"/>
                </a:solidFill>
              </a:rPr>
              <a:t> Agent </a:t>
            </a:r>
            <a:r>
              <a:rPr sz="1600" b="0" dirty="0" err="1">
                <a:solidFill>
                  <a:srgbClr val="202020"/>
                </a:solidFill>
              </a:rPr>
              <a:t>活跃度</a:t>
            </a:r>
            <a:r>
              <a:rPr sz="1600" b="0" dirty="0">
                <a:solidFill>
                  <a:srgbClr val="202020"/>
                </a:solidFill>
              </a:rPr>
              <a:t>/</a:t>
            </a:r>
            <a:r>
              <a:rPr sz="1600" b="0" dirty="0" err="1">
                <a:solidFill>
                  <a:srgbClr val="202020"/>
                </a:solidFill>
              </a:rPr>
              <a:t>模糊信息刺激、转发概率、官方</a:t>
            </a:r>
            <a:r>
              <a:rPr sz="1600" b="0" dirty="0">
                <a:solidFill>
                  <a:srgbClr val="202020"/>
                </a:solidFill>
              </a:rPr>
              <a:t>/</a:t>
            </a:r>
            <a:r>
              <a:rPr sz="1600" b="0" dirty="0" err="1">
                <a:solidFill>
                  <a:srgbClr val="202020"/>
                </a:solidFill>
              </a:rPr>
              <a:t>媒体干预强度和网络邻居规模</a:t>
            </a:r>
            <a:r>
              <a:rPr sz="1600" b="0" dirty="0">
                <a:solidFill>
                  <a:srgbClr val="202020"/>
                </a:solidFill>
              </a:rPr>
              <a:t>。</a:t>
            </a:r>
          </a:p>
          <a:p>
            <a:endParaRPr sz="1600" b="0" dirty="0">
              <a:solidFill>
                <a:srgbClr val="202020"/>
              </a:solidFill>
            </a:endParaRPr>
          </a:p>
          <a:p>
            <a:pPr algn="l">
              <a:defRPr sz="1050" b="0">
                <a:solidFill>
                  <a:srgbClr val="202020"/>
                </a:solidFill>
              </a:defRPr>
            </a:pPr>
            <a:r>
              <a:rPr sz="2000" b="0" dirty="0">
                <a:solidFill>
                  <a:srgbClr val="202020"/>
                </a:solidFill>
              </a:rPr>
              <a:t>Methodology </a:t>
            </a:r>
            <a:r>
              <a:rPr sz="2000" b="0" dirty="0" err="1">
                <a:solidFill>
                  <a:srgbClr val="202020"/>
                </a:solidFill>
              </a:rPr>
              <a:t>方法论</a:t>
            </a:r>
            <a:endParaRPr sz="2000" b="0" dirty="0">
              <a:solidFill>
                <a:srgbClr val="202020"/>
              </a:solidFill>
            </a:endParaRPr>
          </a:p>
          <a:p>
            <a:pPr algn="l">
              <a:defRPr sz="1050" b="0">
                <a:solidFill>
                  <a:srgbClr val="202020"/>
                </a:solidFill>
              </a:defRPr>
            </a:pPr>
            <a:r>
              <a:rPr sz="1600" b="0" dirty="0" err="1">
                <a:solidFill>
                  <a:srgbClr val="202020"/>
                </a:solidFill>
              </a:rPr>
              <a:t>作者使用</a:t>
            </a:r>
            <a:r>
              <a:rPr sz="1600" b="0" dirty="0">
                <a:solidFill>
                  <a:srgbClr val="202020"/>
                </a:solidFill>
              </a:rPr>
              <a:t> MATLAB 数值仿真，比较个体活跃度、信息模糊度、教育水平、事件重要性、政府效用、媒体引导和邻居数量对传播能量峰值、持续时间与传播者数量的影响。</a:t>
            </a:r>
          </a:p>
          <a:p>
            <a:endParaRPr sz="2000" b="0" dirty="0">
              <a:solidFill>
                <a:srgbClr val="202020"/>
              </a:solidFill>
            </a:endParaRPr>
          </a:p>
          <a:p>
            <a:pPr algn="l">
              <a:defRPr sz="1050" b="0">
                <a:solidFill>
                  <a:srgbClr val="202020"/>
                </a:solidFill>
              </a:defRPr>
            </a:pPr>
            <a:r>
              <a:rPr sz="2000" b="0" dirty="0">
                <a:solidFill>
                  <a:srgbClr val="202020"/>
                </a:solidFill>
              </a:rPr>
              <a:t>my evaluation </a:t>
            </a:r>
            <a:r>
              <a:rPr sz="2000" b="0" dirty="0" err="1">
                <a:solidFill>
                  <a:srgbClr val="202020"/>
                </a:solidFill>
              </a:rPr>
              <a:t>自我评价</a:t>
            </a:r>
            <a:endParaRPr sz="2000" b="0" dirty="0">
              <a:solidFill>
                <a:srgbClr val="202020"/>
              </a:solidFill>
            </a:endParaRPr>
          </a:p>
          <a:p>
            <a:pPr algn="l">
              <a:defRPr sz="1050" b="0">
                <a:solidFill>
                  <a:srgbClr val="202020"/>
                </a:solidFill>
              </a:defRPr>
            </a:pPr>
            <a:r>
              <a:rPr sz="1600" b="0" dirty="0" err="1">
                <a:solidFill>
                  <a:srgbClr val="202020"/>
                </a:solidFill>
              </a:rPr>
              <a:t>这篇文章对本周工作的启发是：Hawkes</a:t>
            </a:r>
            <a:r>
              <a:rPr sz="1600" b="0" dirty="0">
                <a:solidFill>
                  <a:srgbClr val="202020"/>
                </a:solidFill>
              </a:rPr>
              <a:t> </a:t>
            </a:r>
            <a:r>
              <a:rPr sz="1600" b="0" dirty="0" err="1">
                <a:solidFill>
                  <a:srgbClr val="202020"/>
                </a:solidFill>
              </a:rPr>
              <a:t>引擎不仅要产生事件，还应与热度、负面度、干预时间和跨群扩散相连；后续可以把“热传导能量阈值”转化为</a:t>
            </a:r>
            <a:r>
              <a:rPr sz="1600" b="0" dirty="0">
                <a:solidFill>
                  <a:srgbClr val="202020"/>
                </a:solidFill>
              </a:rPr>
              <a:t> Controller </a:t>
            </a:r>
            <a:r>
              <a:rPr sz="1600" b="0" dirty="0" err="1">
                <a:solidFill>
                  <a:srgbClr val="202020"/>
                </a:solidFill>
              </a:rPr>
              <a:t>触发和恢复时间的参数依据</a:t>
            </a:r>
            <a:r>
              <a:rPr sz="1600" b="0" dirty="0">
                <a:solidFill>
                  <a:srgbClr val="202020"/>
                </a:solidFill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E15D70-1534-4A7C-99F8-5FF8C40F9D51}"/>
              </a:ext>
            </a:extLst>
          </p:cNvPr>
          <p:cNvSpPr>
            <a:spLocks noGrp="1"/>
          </p:cNvSpPr>
          <p:nvPr/>
        </p:nvSpPr>
        <p:spPr>
          <a:xfrm>
            <a:off x="11572875" y="642937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20420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664</Words>
  <Application>Microsoft Office PowerPoint</Application>
  <DocSecurity>0</DocSecurity>
  <PresentationFormat>宽屏</PresentationFormat>
  <Paragraphs>93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旭东 何</cp:lastModifiedBy>
  <cp:revision>2</cp:revision>
  <dcterms:created xsi:type="dcterms:W3CDTF">2026-07-20T07:50:42Z</dcterms:created>
  <dcterms:modified xsi:type="dcterms:W3CDTF">2026-07-20T16:09:12Z</dcterms:modified>
</cp:coreProperties>
</file>