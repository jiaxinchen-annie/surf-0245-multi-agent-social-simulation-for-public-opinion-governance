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Reference deck: D:/surf/week5/week5_report.pptx</a:t>
            </a:r>
          </a:p>
          <a:p>
            <a:r>
              <a:t>Template reference: D:/surf/week1/week report sample(1).pptx</a:t>
            </a:r>
          </a:p>
          <a:p>
            <a:r>
              <a:t>Week6 outputs: D:/surf/week6/联调成果_20260802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Weekly memo: D:/surf/week6/联调成果_20260802/本周工作纪要.md</a:t>
            </a:r>
          </a:p>
          <a:p>
            <a:r>
              <a:t>Mock metadata: D:/surf/week6/联调成果_20260802/联调结果/mock_100x50/run_meta.json</a:t>
            </a:r>
          </a:p>
          <a:p>
            <a:r>
              <a:t>DeepSeek metadata: D:/surf/week6/联调成果_20260802/联调结果/ds_100x20/run_meta.json</a:t>
            </a:r>
          </a:p>
          <a:p>
            <a:r>
              <a:t>D integration README: D:/surf/week6/联调成果_20260802/联调代码/README_D_TO_ABC.md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Weekly memo: D:/surf/week6/联调成果_20260802/本周工作纪要.md</a:t>
            </a:r>
          </a:p>
          <a:p>
            <a:r>
              <a:t>Mock metrics: D:/surf/week6/联调成果_20260802/联调结果/mock_100x50/metrics.csv</a:t>
            </a:r>
          </a:p>
          <a:p>
            <a:r>
              <a:t>DeepSeek metrics: D:/surf/week6/联调成果_20260802/联调结果/ds_100x20/metrics.csv</a:t>
            </a:r>
          </a:p>
          <a:p>
            <a:r>
              <a:t>D integration README: D:/surf/week6/联调成果_20260802/联调代码/README_D_TO_ABC.md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Chart source: D:/surf/week6/联调成果_20260802/联调结果/mock_100x50/figures/fig1_bounded_trends.png</a:t>
            </a:r>
          </a:p>
          <a:p>
            <a:r>
              <a:t>Metadata source: D:/surf/week6/联调成果_20260802/联调结果/mock_100x50/run_meta.json</a:t>
            </a:r>
          </a:p>
          <a:p>
            <a:r>
              <a:t>Metrics source: D:/surf/week6/联调成果_20260802/联调结果/mock_100x50/metrics.csv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Chart source: D:/surf/week6/联调成果_20260802/联调结果/ds_100x20/figures/fig1_bounded_trends.png</a:t>
            </a:r>
          </a:p>
          <a:p>
            <a:r>
              <a:t>Metadata source: D:/surf/week6/联调成果_20260802/联调结果/ds_100x20/run_meta.json</a:t>
            </a:r>
          </a:p>
          <a:p>
            <a:r>
              <a:t>Metrics source: D:/surf/week6/联调成果_20260802/联调结果/ds_100x20/metrics.csv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Comparison computed from: D:/surf/week6/联调成果_20260802/联调结果/mock_100x50/metrics.csv</a:t>
            </a:r>
          </a:p>
          <a:p>
            <a:r>
              <a:t>Comparison computed from: D:/surf/week6/联调成果_20260802/联调结果/ds_100x20/metrics.csv</a:t>
            </a:r>
          </a:p>
          <a:p>
            <a:r>
              <a:t>Chart source: D:/surf/week6/联调成果_20260802/联调结果/ds_100x20/figures/fig2_count_trends.png</a:t>
            </a:r>
          </a:p>
          <a:p>
            <a:r>
              <a:t>D integration README: D:/surf/week6/联调成果_20260802/联调代码/README_D_TO_ABC.md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Weekly memo: D:/surf/week6/联调成果_20260802/本周工作纪要.md</a:t>
            </a:r>
          </a:p>
          <a:p>
            <a:r>
              <a:t>README source: D:/surf/week6/联调成果_20260802/README.md</a:t>
            </a:r>
          </a:p>
          <a:p>
            <a:r>
              <a:t>Mock metadata: D:/surf/week6/联调成果_20260802/联调结果/mock_100x50/run_meta.json</a:t>
            </a:r>
          </a:p>
          <a:p>
            <a:r>
              <a:t>DeepSeek metadata: D:/surf/week6/联调成果_20260802/联调结果/ds_100x20/run_meta.json</a:t>
            </a:r>
          </a:p>
          <a:p>
            <a:r>
              <a:t>D integration README: D:/surf/week6/联调成果_20260802/联调代码/README_D_TO_ABC.md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ACM DL source: https://dl.acm.org/doi/10.1145/3336191.3371821</a:t>
            </a:r>
          </a:p>
          <a:p>
            <a:r>
              <a:t>arXiv source: https://arxiv.org/abs/1910.05451</a:t>
            </a:r>
          </a:p>
          <a:p>
            <a:r>
              <a:t>WSDM proceedings page: https://www.wsdm-conference.org/2020/acm-proceedings.php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5FC2237-5E38-4EB2-8D6E-8A6E44CC40FF}"/>
              </a:ext>
            </a:extLst>
          </p:cNvPr>
          <p:cNvSpPr>
            <a:spLocks noGrp="1"/>
          </p:cNvSpPr>
          <p:nvPr/>
        </p:nvSpPr>
        <p:spPr>
          <a:xfrm>
            <a:off x="5342603" y="817614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300" b="1">
                <a:solidFill>
                  <a:srgbClr val="1F4E79"/>
                </a:solidFill>
              </a:defRPr>
            </a:pPr>
            <a:r>
              <a:rPr sz="3300" b="1">
                <a:solidFill>
                  <a:srgbClr val="1F4E79"/>
                </a:solidFill>
              </a:rPr>
              <a:t>week 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FF36D0-E3AF-4AF7-B001-2265372944F7}"/>
              </a:ext>
            </a:extLst>
          </p:cNvPr>
          <p:cNvSpPr>
            <a:spLocks noGrp="1"/>
          </p:cNvSpPr>
          <p:nvPr/>
        </p:nvSpPr>
        <p:spPr>
          <a:xfrm>
            <a:off x="4009102" y="1542282"/>
            <a:ext cx="685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F2937"/>
                </a:solidFill>
              </a:defRPr>
            </a:pPr>
            <a:r>
              <a:rPr sz="3200" b="1">
                <a:solidFill>
                  <a:srgbClr val="1F2937"/>
                </a:solidFill>
              </a:rPr>
              <a:t>多智能体舆情处理系统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24CAE8-8CDC-4122-99B2-E1E8AC1FB650}"/>
              </a:ext>
            </a:extLst>
          </p:cNvPr>
          <p:cNvSpPr>
            <a:spLocks noGrp="1"/>
          </p:cNvSpPr>
          <p:nvPr/>
        </p:nvSpPr>
        <p:spPr>
          <a:xfrm>
            <a:off x="3647768" y="23431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6B7280"/>
                </a:solidFill>
              </a:defRPr>
            </a:pPr>
            <a:r>
              <a:rPr sz="2000" b="0">
                <a:solidFill>
                  <a:srgbClr val="6B7280"/>
                </a:solidFill>
              </a:rPr>
              <a:t>100 Agent 闭环持续联调与 D/E 评估增强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ED65B0-E15F-4F5E-B870-612C98CBE25F}"/>
              </a:ext>
            </a:extLst>
          </p:cNvPr>
          <p:cNvSpPr>
            <a:spLocks noGrp="1"/>
          </p:cNvSpPr>
          <p:nvPr/>
        </p:nvSpPr>
        <p:spPr>
          <a:xfrm>
            <a:off x="11239500" y="59245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11DED4-9A0A-BCCA-3285-F52A2FF0A59B}"/>
              </a:ext>
            </a:extLst>
          </p:cNvPr>
          <p:cNvSpPr>
            <a:spLocks noGrp="1"/>
          </p:cNvSpPr>
          <p:nvPr/>
        </p:nvSpPr>
        <p:spPr>
          <a:xfrm>
            <a:off x="4167187" y="3030486"/>
            <a:ext cx="38576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A </a:t>
            </a:r>
            <a:r>
              <a:rPr sz="1600" b="0" dirty="0" err="1">
                <a:solidFill>
                  <a:srgbClr val="444444"/>
                </a:solidFill>
              </a:rPr>
              <a:t>陈佳欣</a:t>
            </a:r>
            <a:r>
              <a:rPr sz="1600" b="0" dirty="0">
                <a:solidFill>
                  <a:srgbClr val="444444"/>
                </a:solidFill>
              </a:rPr>
              <a:t> 2471400</a:t>
            </a:r>
          </a:p>
          <a:p>
            <a:pPr algn="ctr">
              <a:buNone/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B </a:t>
            </a:r>
            <a:r>
              <a:rPr sz="1600" b="0" dirty="0" err="1">
                <a:solidFill>
                  <a:srgbClr val="444444"/>
                </a:solidFill>
              </a:rPr>
              <a:t>张乐年</a:t>
            </a:r>
            <a:r>
              <a:rPr sz="1600" b="0" dirty="0">
                <a:solidFill>
                  <a:srgbClr val="444444"/>
                </a:solidFill>
              </a:rPr>
              <a:t> 2471172</a:t>
            </a:r>
          </a:p>
          <a:p>
            <a:pPr algn="ctr">
              <a:buNone/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C </a:t>
            </a:r>
            <a:r>
              <a:rPr sz="1600" b="0" dirty="0" err="1">
                <a:solidFill>
                  <a:srgbClr val="444444"/>
                </a:solidFill>
              </a:rPr>
              <a:t>石雨凡</a:t>
            </a:r>
            <a:r>
              <a:rPr sz="1600" b="0" dirty="0">
                <a:solidFill>
                  <a:srgbClr val="444444"/>
                </a:solidFill>
              </a:rPr>
              <a:t> 2363487</a:t>
            </a:r>
          </a:p>
          <a:p>
            <a:pPr algn="ctr">
              <a:buNone/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D </a:t>
            </a:r>
            <a:r>
              <a:rPr sz="1600" b="0" dirty="0" err="1">
                <a:solidFill>
                  <a:srgbClr val="444444"/>
                </a:solidFill>
              </a:rPr>
              <a:t>张峻烨</a:t>
            </a:r>
            <a:r>
              <a:rPr sz="1600" b="0" dirty="0">
                <a:solidFill>
                  <a:srgbClr val="444444"/>
                </a:solidFill>
              </a:rPr>
              <a:t> 2471659</a:t>
            </a:r>
          </a:p>
          <a:p>
            <a:pPr algn="ctr">
              <a:buNone/>
              <a:defRPr sz="12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E </a:t>
            </a:r>
            <a:r>
              <a:rPr sz="1600" b="0" dirty="0" err="1">
                <a:solidFill>
                  <a:srgbClr val="444444"/>
                </a:solidFill>
              </a:rPr>
              <a:t>刘嘉铭</a:t>
            </a:r>
            <a:r>
              <a:rPr sz="1600" b="0" dirty="0">
                <a:solidFill>
                  <a:srgbClr val="444444"/>
                </a:solidFill>
              </a:rPr>
              <a:t> 2471680</a:t>
            </a:r>
          </a:p>
        </p:txBody>
      </p:sp>
    </p:spTree>
    <p:extLst>
      <p:ext uri="{BB962C8B-B14F-4D97-AF65-F5344CB8AC3E}">
        <p14:creationId xmlns:p14="http://schemas.microsoft.com/office/powerpoint/2010/main" val="950750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44CE6F80-81F8-456B-8FD1-F8E143B7B847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F2937"/>
                </a:solidFill>
              </a:defRPr>
            </a:pPr>
            <a:r>
              <a:rPr sz="2800" b="1">
                <a:solidFill>
                  <a:srgbClr val="1F2937"/>
                </a:solidFill>
              </a:rPr>
              <a:t>进度 Schedule：100 Agent 闭环继续完善并完成结果归档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6AAB5B-4549-4FEC-8703-CCFF6CC3F4E2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E8721C-71FC-4EA9-8CE1-3A881338DE77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3F8F1BD-D820-4746-99AF-D30E40996941}"/>
              </a:ext>
            </a:extLst>
          </p:cNvPr>
          <p:cNvSpPr>
            <a:spLocks noGrp="1"/>
          </p:cNvSpPr>
          <p:nvPr/>
        </p:nvSpPr>
        <p:spPr>
          <a:xfrm>
            <a:off x="381000" y="2027596"/>
            <a:ext cx="4857750" cy="8508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2000" b="1" dirty="0" err="1">
                <a:solidFill>
                  <a:srgbClr val="0070C0"/>
                </a:solidFill>
              </a:rPr>
              <a:t>本周计划</a:t>
            </a:r>
            <a:endParaRPr sz="2000" b="1" dirty="0">
              <a:solidFill>
                <a:srgbClr val="0070C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B9ECE30-B7E4-4D5C-82F3-79BC8ECC87B6}"/>
              </a:ext>
            </a:extLst>
          </p:cNvPr>
          <p:cNvSpPr>
            <a:spLocks noGrp="1"/>
          </p:cNvSpPr>
          <p:nvPr/>
        </p:nvSpPr>
        <p:spPr>
          <a:xfrm>
            <a:off x="381000" y="2453025"/>
            <a:ext cx="4857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333333"/>
                </a:solidFill>
              </a:defRPr>
            </a:pPr>
            <a:r>
              <a:rPr sz="1600">
                <a:solidFill>
                  <a:srgbClr val="333333"/>
                </a:solidFill>
              </a:rPr>
              <a:t>1 继续100 Agent闭环：Mock压力 + DeepSeek真实路径</a:t>
            </a:r>
          </a:p>
          <a:p>
            <a:pPr>
              <a:buNone/>
              <a:defRPr sz="1200" b="0">
                <a:solidFill>
                  <a:srgbClr val="333333"/>
                </a:solidFill>
              </a:defRPr>
            </a:pPr>
            <a:r>
              <a:rPr sz="1600">
                <a:solidFill>
                  <a:srgbClr val="333333"/>
                </a:solidFill>
              </a:rPr>
              <a:t>2 合入ABCDE：转发修复、记忆并入、D/E报表切片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A134F4E-AC7A-4781-9A58-BC6B157128A9}"/>
              </a:ext>
            </a:extLst>
          </p:cNvPr>
          <p:cNvSpPr>
            <a:spLocks noGrp="1"/>
          </p:cNvSpPr>
          <p:nvPr/>
        </p:nvSpPr>
        <p:spPr>
          <a:xfrm>
            <a:off x="6572250" y="2027595"/>
            <a:ext cx="4572000" cy="3565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B45309"/>
                </a:solidFill>
              </a:defRPr>
            </a:pPr>
            <a:r>
              <a:rPr sz="2000" b="1">
                <a:solidFill>
                  <a:srgbClr val="0070C0"/>
                </a:solidFill>
              </a:rPr>
              <a:t>本周完成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0D5160D-71E1-49D9-A5B6-55DE3BC43C9B}"/>
              </a:ext>
            </a:extLst>
          </p:cNvPr>
          <p:cNvSpPr>
            <a:spLocks noGrp="1"/>
          </p:cNvSpPr>
          <p:nvPr/>
        </p:nvSpPr>
        <p:spPr>
          <a:xfrm>
            <a:off x="6572250" y="2453025"/>
            <a:ext cx="4572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600" b="0" dirty="0">
                <a:solidFill>
                  <a:srgbClr val="1F2937"/>
                </a:solidFill>
              </a:rPr>
              <a:t>1 </a:t>
            </a:r>
            <a:r>
              <a:rPr lang="en-US" sz="1600" b="0" dirty="0">
                <a:solidFill>
                  <a:srgbClr val="1F2937"/>
                </a:solidFill>
              </a:rPr>
              <a:t>100%</a:t>
            </a:r>
            <a:endParaRPr sz="1600" b="0" dirty="0">
              <a:solidFill>
                <a:srgbClr val="1F2937"/>
              </a:solidFill>
            </a:endParaRPr>
          </a:p>
          <a:p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600" dirty="0">
                <a:solidFill>
                  <a:srgbClr val="1F2937"/>
                </a:solidFill>
              </a:rPr>
              <a:t>2 </a:t>
            </a:r>
            <a:r>
              <a:rPr lang="en-US" sz="1600" dirty="0">
                <a:solidFill>
                  <a:srgbClr val="1F2937"/>
                </a:solidFill>
              </a:rPr>
              <a:t>100%</a:t>
            </a:r>
            <a:endParaRPr sz="1600" dirty="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44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F380716F-165A-45A0-9DF1-88C6EFF1AF5C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F2937"/>
                </a:solidFill>
              </a:defRPr>
            </a:pPr>
            <a:r>
              <a:rPr sz="2800" b="1">
                <a:solidFill>
                  <a:srgbClr val="1F2937"/>
                </a:solidFill>
              </a:rPr>
              <a:t>1 100 Agent 闭环进入“可解释联调”阶段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C518A1-336E-4F19-8D0B-3AAA11500F2B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7C1282-B864-4B92-8980-205F453B1191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E5899D-C116-4472-ABDF-9B2627038534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F766E"/>
                </a:solidFill>
              </a:defRPr>
            </a:pPr>
            <a:r>
              <a:rPr sz="2000" b="1">
                <a:solidFill>
                  <a:srgbClr val="0F766E"/>
                </a:solidFill>
              </a:rPr>
              <a:t>100 Agents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6F0032-FD60-42A5-AEA9-A3B36EC170BE}"/>
              </a:ext>
            </a:extLst>
          </p:cNvPr>
          <p:cNvSpPr>
            <a:spLocks noGrp="1"/>
          </p:cNvSpPr>
          <p:nvPr/>
        </p:nvSpPr>
        <p:spPr>
          <a:xfrm>
            <a:off x="762000" y="2152649"/>
            <a:ext cx="1600200" cy="5998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ORDINARY / ACTIVE / RATIONAL / CONTROLLER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37731D-C058-44C0-AE67-976445384524}"/>
              </a:ext>
            </a:extLst>
          </p:cNvPr>
          <p:cNvSpPr>
            <a:spLocks noGrp="1"/>
          </p:cNvSpPr>
          <p:nvPr/>
        </p:nvSpPr>
        <p:spPr>
          <a:xfrm>
            <a:off x="2581275" y="19240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6B7280"/>
                </a:solidFill>
              </a:defRPr>
            </a:pPr>
            <a:r>
              <a:rPr sz="18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028A55-A36B-4E84-AEA6-3B5BD25AF53F}"/>
              </a:ext>
            </a:extLst>
          </p:cNvPr>
          <p:cNvSpPr>
            <a:spLocks noGrp="1"/>
          </p:cNvSpPr>
          <p:nvPr/>
        </p:nvSpPr>
        <p:spPr>
          <a:xfrm>
            <a:off x="3000375" y="1790700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F4E79"/>
                </a:solidFill>
              </a:defRPr>
            </a:pPr>
            <a:r>
              <a:rPr sz="2000" b="1">
                <a:solidFill>
                  <a:srgbClr val="1F4E79"/>
                </a:solidFill>
              </a:rPr>
              <a:t>B 生成行动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758E4F-952A-4E39-AA11-599271E86DC4}"/>
              </a:ext>
            </a:extLst>
          </p:cNvPr>
          <p:cNvSpPr>
            <a:spLocks noGrp="1"/>
          </p:cNvSpPr>
          <p:nvPr/>
        </p:nvSpPr>
        <p:spPr>
          <a:xfrm>
            <a:off x="3000375" y="2152650"/>
            <a:ext cx="1600200" cy="599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belief + perception → ActionRecord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4C335D-574C-4BC6-9F21-8752AAFED836}"/>
              </a:ext>
            </a:extLst>
          </p:cNvPr>
          <p:cNvSpPr>
            <a:spLocks noGrp="1"/>
          </p:cNvSpPr>
          <p:nvPr/>
        </p:nvSpPr>
        <p:spPr>
          <a:xfrm>
            <a:off x="4819650" y="19240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6B7280"/>
                </a:solidFill>
              </a:defRPr>
            </a:pPr>
            <a:r>
              <a:rPr sz="18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984C58-9B9A-4766-B90B-78813409D16C}"/>
              </a:ext>
            </a:extLst>
          </p:cNvPr>
          <p:cNvSpPr>
            <a:spLocks noGrp="1"/>
          </p:cNvSpPr>
          <p:nvPr/>
        </p:nvSpPr>
        <p:spPr>
          <a:xfrm>
            <a:off x="5238750" y="1790700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F4E79"/>
                </a:solidFill>
              </a:defRPr>
            </a:pPr>
            <a:r>
              <a:rPr sz="2000" b="1">
                <a:solidFill>
                  <a:srgbClr val="1F4E79"/>
                </a:solidFill>
              </a:rPr>
              <a:t>A 更新环境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4C26F82-DBFA-4A82-89A2-C491FF406975}"/>
              </a:ext>
            </a:extLst>
          </p:cNvPr>
          <p:cNvSpPr>
            <a:spLocks noGrp="1"/>
          </p:cNvSpPr>
          <p:nvPr/>
        </p:nvSpPr>
        <p:spPr>
          <a:xfrm>
            <a:off x="5238750" y="2152649"/>
            <a:ext cx="1600200" cy="5008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step 调度、热度传播、DataCollector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73D9F1-086A-4971-99C6-7842EE7196B5}"/>
              </a:ext>
            </a:extLst>
          </p:cNvPr>
          <p:cNvSpPr>
            <a:spLocks noGrp="1"/>
          </p:cNvSpPr>
          <p:nvPr/>
        </p:nvSpPr>
        <p:spPr>
          <a:xfrm>
            <a:off x="7058025" y="19240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6B7280"/>
                </a:solidFill>
              </a:defRPr>
            </a:pPr>
            <a:r>
              <a:rPr sz="18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0069AB-9866-4B95-873C-1E4AED4C45E1}"/>
              </a:ext>
            </a:extLst>
          </p:cNvPr>
          <p:cNvSpPr>
            <a:spLocks noGrp="1"/>
          </p:cNvSpPr>
          <p:nvPr/>
        </p:nvSpPr>
        <p:spPr>
          <a:xfrm>
            <a:off x="7477125" y="1790700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F4E79"/>
                </a:solidFill>
              </a:defRPr>
            </a:pPr>
            <a:r>
              <a:rPr sz="2000" b="1">
                <a:solidFill>
                  <a:srgbClr val="1F4E79"/>
                </a:solidFill>
              </a:rPr>
              <a:t>C 支撑链路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D2270D-A70E-4FCA-B928-1BE82C1FF824}"/>
              </a:ext>
            </a:extLst>
          </p:cNvPr>
          <p:cNvSpPr>
            <a:spLocks noGrp="1"/>
          </p:cNvSpPr>
          <p:nvPr/>
        </p:nvSpPr>
        <p:spPr>
          <a:xfrm>
            <a:off x="7477125" y="2152649"/>
            <a:ext cx="1600200" cy="4627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Hawkes / LLM / 降级路径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8244852-DC44-4592-B3CB-C6D418D76CED}"/>
              </a:ext>
            </a:extLst>
          </p:cNvPr>
          <p:cNvSpPr>
            <a:spLocks noGrp="1"/>
          </p:cNvSpPr>
          <p:nvPr/>
        </p:nvSpPr>
        <p:spPr>
          <a:xfrm>
            <a:off x="9296400" y="19240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6B7280"/>
                </a:solidFill>
              </a:defRPr>
            </a:pPr>
            <a:r>
              <a:rPr sz="18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CE82B85-BE68-43C2-9B6E-49546309FA4F}"/>
              </a:ext>
            </a:extLst>
          </p:cNvPr>
          <p:cNvSpPr>
            <a:spLocks noGrp="1"/>
          </p:cNvSpPr>
          <p:nvPr/>
        </p:nvSpPr>
        <p:spPr>
          <a:xfrm>
            <a:off x="9715500" y="1790700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F4E79"/>
                </a:solidFill>
              </a:defRPr>
            </a:pPr>
            <a:r>
              <a:rPr sz="2000" b="1">
                <a:solidFill>
                  <a:srgbClr val="1F4E79"/>
                </a:solidFill>
              </a:rPr>
              <a:t>D/E评估导出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EFF7DFC-5369-477E-80A4-EF50CFD3A9CE}"/>
              </a:ext>
            </a:extLst>
          </p:cNvPr>
          <p:cNvSpPr>
            <a:spLocks noGrp="1"/>
          </p:cNvSpPr>
          <p:nvPr/>
        </p:nvSpPr>
        <p:spPr>
          <a:xfrm>
            <a:off x="9715500" y="2152650"/>
            <a:ext cx="1600200" cy="462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窗口/切片 + CSV/图表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6B3B284-5F1E-460C-97C1-27E07F4629FB}"/>
              </a:ext>
            </a:extLst>
          </p:cNvPr>
          <p:cNvSpPr>
            <a:spLocks noGrp="1"/>
          </p:cNvSpPr>
          <p:nvPr/>
        </p:nvSpPr>
        <p:spPr>
          <a:xfrm>
            <a:off x="819150" y="3429000"/>
            <a:ext cx="16573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83CFC0-F560-4583-921C-FA71C9BEA1DE}"/>
              </a:ext>
            </a:extLst>
          </p:cNvPr>
          <p:cNvSpPr>
            <a:spLocks noGrp="1"/>
          </p:cNvSpPr>
          <p:nvPr/>
        </p:nvSpPr>
        <p:spPr>
          <a:xfrm>
            <a:off x="990600" y="35623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100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3B9BC14-B479-4BEE-A368-CCAEECC7E9C6}"/>
              </a:ext>
            </a:extLst>
          </p:cNvPr>
          <p:cNvSpPr>
            <a:spLocks noGrp="1"/>
          </p:cNvSpPr>
          <p:nvPr/>
        </p:nvSpPr>
        <p:spPr>
          <a:xfrm>
            <a:off x="990600" y="39243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Agent 数量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55F05BA-ECD7-4AEF-8C53-26C07215BDDB}"/>
              </a:ext>
            </a:extLst>
          </p:cNvPr>
          <p:cNvSpPr>
            <a:spLocks noGrp="1"/>
          </p:cNvSpPr>
          <p:nvPr/>
        </p:nvSpPr>
        <p:spPr>
          <a:xfrm>
            <a:off x="2781300" y="3429000"/>
            <a:ext cx="16573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E8AD2CD-B09B-41D3-BDAA-D8C49AB53364}"/>
              </a:ext>
            </a:extLst>
          </p:cNvPr>
          <p:cNvSpPr>
            <a:spLocks noGrp="1"/>
          </p:cNvSpPr>
          <p:nvPr/>
        </p:nvSpPr>
        <p:spPr>
          <a:xfrm>
            <a:off x="2952750" y="35623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50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A7C94A0-F283-4C22-96CE-D0A16BE9AC2E}"/>
              </a:ext>
            </a:extLst>
          </p:cNvPr>
          <p:cNvSpPr>
            <a:spLocks noGrp="1"/>
          </p:cNvSpPr>
          <p:nvPr/>
        </p:nvSpPr>
        <p:spPr>
          <a:xfrm>
            <a:off x="2952750" y="39243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Mock 步数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7083C33-AA56-4B8A-BD45-499B2B7CDE50}"/>
              </a:ext>
            </a:extLst>
          </p:cNvPr>
          <p:cNvSpPr>
            <a:spLocks noGrp="1"/>
          </p:cNvSpPr>
          <p:nvPr/>
        </p:nvSpPr>
        <p:spPr>
          <a:xfrm>
            <a:off x="4743450" y="3429000"/>
            <a:ext cx="16573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DC71E34-0653-4276-B944-31F341D07F6F}"/>
              </a:ext>
            </a:extLst>
          </p:cNvPr>
          <p:cNvSpPr>
            <a:spLocks noGrp="1"/>
          </p:cNvSpPr>
          <p:nvPr/>
        </p:nvSpPr>
        <p:spPr>
          <a:xfrm>
            <a:off x="4914900" y="35623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5B5FC7"/>
                </a:solidFill>
              </a:defRPr>
            </a:pPr>
            <a:r>
              <a:rPr sz="1875" b="1">
                <a:solidFill>
                  <a:srgbClr val="5B5FC7"/>
                </a:solidFill>
              </a:rPr>
              <a:t>20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46B5051-C6A5-43FA-B7AA-26BC48EA66D6}"/>
              </a:ext>
            </a:extLst>
          </p:cNvPr>
          <p:cNvSpPr>
            <a:spLocks noGrp="1"/>
          </p:cNvSpPr>
          <p:nvPr/>
        </p:nvSpPr>
        <p:spPr>
          <a:xfrm>
            <a:off x="4914900" y="39243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DeepSeek 步数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FB9F4F3-7FC7-4B12-85E5-D36B4AA2BD14}"/>
              </a:ext>
            </a:extLst>
          </p:cNvPr>
          <p:cNvSpPr>
            <a:spLocks noGrp="1"/>
          </p:cNvSpPr>
          <p:nvPr/>
        </p:nvSpPr>
        <p:spPr>
          <a:xfrm>
            <a:off x="6705600" y="3429000"/>
            <a:ext cx="16573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BCF3CC8-51D5-46F1-8E57-F3BEDD34232F}"/>
              </a:ext>
            </a:extLst>
          </p:cNvPr>
          <p:cNvSpPr>
            <a:spLocks noGrp="1"/>
          </p:cNvSpPr>
          <p:nvPr/>
        </p:nvSpPr>
        <p:spPr>
          <a:xfrm>
            <a:off x="6877050" y="35623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42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7CDD22D-0068-4C0F-8927-D3EB630887B7}"/>
              </a:ext>
            </a:extLst>
          </p:cNvPr>
          <p:cNvSpPr>
            <a:spLocks noGrp="1"/>
          </p:cNvSpPr>
          <p:nvPr/>
        </p:nvSpPr>
        <p:spPr>
          <a:xfrm>
            <a:off x="6877050" y="39243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随机种子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0F72FC0-257D-4E73-A70A-47672C069BF8}"/>
              </a:ext>
            </a:extLst>
          </p:cNvPr>
          <p:cNvSpPr>
            <a:spLocks noGrp="1"/>
          </p:cNvSpPr>
          <p:nvPr/>
        </p:nvSpPr>
        <p:spPr>
          <a:xfrm>
            <a:off x="8667750" y="2897322"/>
            <a:ext cx="2762250" cy="1773371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6B61C98-9B7D-48F8-809E-FFBF8FF30B8A}"/>
              </a:ext>
            </a:extLst>
          </p:cNvPr>
          <p:cNvSpPr>
            <a:spLocks noGrp="1"/>
          </p:cNvSpPr>
          <p:nvPr/>
        </p:nvSpPr>
        <p:spPr>
          <a:xfrm>
            <a:off x="8728894" y="2962276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11+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2DB3B48-93CC-4B94-8259-D49B1CA1CE62}"/>
              </a:ext>
            </a:extLst>
          </p:cNvPr>
          <p:cNvSpPr>
            <a:spLocks noGrp="1"/>
          </p:cNvSpPr>
          <p:nvPr/>
        </p:nvSpPr>
        <p:spPr>
          <a:xfrm>
            <a:off x="8721366" y="3283236"/>
            <a:ext cx="2643956" cy="12636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核心指标：tick、avg_opinion、polarization、negative_emotion、distortion、cross_group_forward；扩展GroupType/AgentType切片列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429C8BB-9C50-429E-AF1F-2BE864A3703E}"/>
              </a:ext>
            </a:extLst>
          </p:cNvPr>
          <p:cNvSpPr>
            <a:spLocks noGrp="1"/>
          </p:cNvSpPr>
          <p:nvPr/>
        </p:nvSpPr>
        <p:spPr>
          <a:xfrm>
            <a:off x="857250" y="4748981"/>
            <a:ext cx="9810750" cy="9660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• 本周不再只验证能跑通，重点转向接口合入、跨群转发恢复、D/E评估切片与结果归档。</a:t>
            </a:r>
          </a:p>
          <a:p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• Mock保持快速回归；DeepSeek暴露真实LLM的观点、极化、情绪差异，也暴露耗时瓶颈。</a:t>
            </a:r>
          </a:p>
        </p:txBody>
      </p:sp>
    </p:spTree>
    <p:extLst>
      <p:ext uri="{BB962C8B-B14F-4D97-AF65-F5344CB8AC3E}">
        <p14:creationId xmlns:p14="http://schemas.microsoft.com/office/powerpoint/2010/main" val="32986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892FE69-01E8-4456-A756-D32BE39811E0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F2937"/>
                </a:solidFill>
              </a:defRPr>
            </a:pPr>
            <a:r>
              <a:rPr sz="2800" b="1">
                <a:solidFill>
                  <a:srgbClr val="1F2937"/>
                </a:solidFill>
              </a:rPr>
              <a:t>2 Mock 100×50 全流程通过，继续作为快速回归基线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4FB331-BA56-49E5-B03E-9E5531A8DE07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67AC62-FE06-437C-ACC8-E2DAF2A496F0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04</a:t>
            </a:r>
          </a:p>
        </p:txBody>
      </p:sp>
      <p:pic>
        <p:nvPicPr>
          <p:cNvPr id="25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292366"/>
            <a:ext cx="6572250" cy="4262860"/>
          </a:xfrm>
          <a:prstGeom prst="round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CC6DE8D6-A46F-472E-B1AB-1E56ED532182}"/>
              </a:ext>
            </a:extLst>
          </p:cNvPr>
          <p:cNvSpPr>
            <a:spLocks noGrp="1"/>
          </p:cNvSpPr>
          <p:nvPr/>
        </p:nvSpPr>
        <p:spPr>
          <a:xfrm>
            <a:off x="7524750" y="1352550"/>
            <a:ext cx="16192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8ADC90-027B-4CF5-938C-0B2C8CD64ACB}"/>
              </a:ext>
            </a:extLst>
          </p:cNvPr>
          <p:cNvSpPr>
            <a:spLocks noGrp="1"/>
          </p:cNvSpPr>
          <p:nvPr/>
        </p:nvSpPr>
        <p:spPr>
          <a:xfrm>
            <a:off x="7696200" y="1485900"/>
            <a:ext cx="1276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0.84s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7D8CB0-3C12-4434-909C-C9E0E7C5EDC0}"/>
              </a:ext>
            </a:extLst>
          </p:cNvPr>
          <p:cNvSpPr>
            <a:spLocks noGrp="1"/>
          </p:cNvSpPr>
          <p:nvPr/>
        </p:nvSpPr>
        <p:spPr>
          <a:xfrm>
            <a:off x="7696200" y="1847850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总耗时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0E1A559-0652-4034-9D9E-E9438C19D745}"/>
              </a:ext>
            </a:extLst>
          </p:cNvPr>
          <p:cNvSpPr>
            <a:spLocks noGrp="1"/>
          </p:cNvSpPr>
          <p:nvPr/>
        </p:nvSpPr>
        <p:spPr>
          <a:xfrm>
            <a:off x="9429750" y="1352550"/>
            <a:ext cx="18097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77BD6D-C2AE-4395-9228-0A15A4399072}"/>
              </a:ext>
            </a:extLst>
          </p:cNvPr>
          <p:cNvSpPr>
            <a:spLocks noGrp="1"/>
          </p:cNvSpPr>
          <p:nvPr/>
        </p:nvSpPr>
        <p:spPr>
          <a:xfrm>
            <a:off x="9601200" y="14859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0.0166s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68FB5A-0BF1-4027-8BC2-B00C94B4BF2E}"/>
              </a:ext>
            </a:extLst>
          </p:cNvPr>
          <p:cNvSpPr>
            <a:spLocks noGrp="1"/>
          </p:cNvSpPr>
          <p:nvPr/>
        </p:nvSpPr>
        <p:spPr>
          <a:xfrm>
            <a:off x="9601200" y="1847850"/>
            <a:ext cx="1466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平均每步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9A52035-8C31-4924-A9C4-5AA46A180E37}"/>
              </a:ext>
            </a:extLst>
          </p:cNvPr>
          <p:cNvSpPr>
            <a:spLocks noGrp="1"/>
          </p:cNvSpPr>
          <p:nvPr/>
        </p:nvSpPr>
        <p:spPr>
          <a:xfrm>
            <a:off x="7524750" y="2400300"/>
            <a:ext cx="16192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5210A6-6096-44FA-A15E-6E395B520471}"/>
              </a:ext>
            </a:extLst>
          </p:cNvPr>
          <p:cNvSpPr>
            <a:spLocks noGrp="1"/>
          </p:cNvSpPr>
          <p:nvPr/>
        </p:nvSpPr>
        <p:spPr>
          <a:xfrm>
            <a:off x="7696200" y="2533650"/>
            <a:ext cx="1276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50 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17B432-A346-43B8-8B3C-376A87C66CCB}"/>
              </a:ext>
            </a:extLst>
          </p:cNvPr>
          <p:cNvSpPr>
            <a:spLocks noGrp="1"/>
          </p:cNvSpPr>
          <p:nvPr/>
        </p:nvSpPr>
        <p:spPr>
          <a:xfrm>
            <a:off x="7696200" y="2895600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DataCollector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330DEDD-3D4F-4747-9307-3CDF808200AB}"/>
              </a:ext>
            </a:extLst>
          </p:cNvPr>
          <p:cNvSpPr>
            <a:spLocks noGrp="1"/>
          </p:cNvSpPr>
          <p:nvPr/>
        </p:nvSpPr>
        <p:spPr>
          <a:xfrm>
            <a:off x="9429750" y="2400300"/>
            <a:ext cx="18097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05BAED-218E-49C4-9112-4FF8FD670D13}"/>
              </a:ext>
            </a:extLst>
          </p:cNvPr>
          <p:cNvSpPr>
            <a:spLocks noGrp="1"/>
          </p:cNvSpPr>
          <p:nvPr/>
        </p:nvSpPr>
        <p:spPr>
          <a:xfrm>
            <a:off x="9601200" y="253365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EA525A-AC43-4B6F-B1A1-9D16A65390B3}"/>
              </a:ext>
            </a:extLst>
          </p:cNvPr>
          <p:cNvSpPr>
            <a:spLocks noGrp="1"/>
          </p:cNvSpPr>
          <p:nvPr/>
        </p:nvSpPr>
        <p:spPr>
          <a:xfrm>
            <a:off x="9601200" y="2895600"/>
            <a:ext cx="1466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NaN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A747C9-A4DC-44C8-9657-528783CA83EE}"/>
              </a:ext>
            </a:extLst>
          </p:cNvPr>
          <p:cNvSpPr>
            <a:spLocks noGrp="1"/>
          </p:cNvSpPr>
          <p:nvPr/>
        </p:nvSpPr>
        <p:spPr>
          <a:xfrm>
            <a:off x="7524750" y="361950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2000" b="1">
                <a:solidFill>
                  <a:srgbClr val="00B050"/>
                </a:solidFill>
              </a:rPr>
              <a:t>结果解释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D38679-E46C-4914-9892-5A6277018A38}"/>
              </a:ext>
            </a:extLst>
          </p:cNvPr>
          <p:cNvSpPr>
            <a:spLocks noGrp="1"/>
          </p:cNvSpPr>
          <p:nvPr/>
        </p:nvSpPr>
        <p:spPr>
          <a:xfrm>
            <a:off x="7524750" y="4000500"/>
            <a:ext cx="37147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• all_pass=true，说明100 Agent规则路径、DataCollector和出图链路稳定。</a:t>
            </a:r>
          </a:p>
          <a:p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• 末态观点0.043、极化0.601基本保持；负面情绪0.59，跨群累计94。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779E31-0247-436F-A6E1-1968AB69B22A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末态：avg_opinion=0.043，polarization=0.601，negative_emotion=0.59，distortion=0.005，cross_group=94</a:t>
            </a:r>
          </a:p>
        </p:txBody>
      </p:sp>
    </p:spTree>
    <p:extLst>
      <p:ext uri="{BB962C8B-B14F-4D97-AF65-F5344CB8AC3E}">
        <p14:creationId xmlns:p14="http://schemas.microsoft.com/office/powerpoint/2010/main" val="438067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FC9C423-D39F-4E7C-BD09-595CB2C7FB89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F2937"/>
                </a:solidFill>
              </a:defRPr>
            </a:pPr>
            <a:r>
              <a:rPr sz="2800" b="1">
                <a:solidFill>
                  <a:srgbClr val="1F2937"/>
                </a:solidFill>
              </a:rPr>
              <a:t>3 DeepSeek 100×20 完成真实 LLM 数据输出，但耗时仍是瓶颈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9D6650-6767-48CA-B481-9BF72D87AF90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9B8326-4CE2-45BB-A700-CE434E51AFC4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05</a:t>
            </a:r>
          </a:p>
        </p:txBody>
      </p:sp>
      <p:pic>
        <p:nvPicPr>
          <p:cNvPr id="25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292365"/>
            <a:ext cx="6572250" cy="3944725"/>
          </a:xfrm>
          <a:prstGeom prst="round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A06E2BBD-7921-4DC3-8E4E-76C2351BF3A7}"/>
              </a:ext>
            </a:extLst>
          </p:cNvPr>
          <p:cNvSpPr>
            <a:spLocks noGrp="1"/>
          </p:cNvSpPr>
          <p:nvPr/>
        </p:nvSpPr>
        <p:spPr>
          <a:xfrm>
            <a:off x="7524750" y="1257300"/>
            <a:ext cx="17621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33D290-0570-4522-A1D2-D0CEB70E5BBB}"/>
              </a:ext>
            </a:extLst>
          </p:cNvPr>
          <p:cNvSpPr>
            <a:spLocks noGrp="1"/>
          </p:cNvSpPr>
          <p:nvPr/>
        </p:nvSpPr>
        <p:spPr>
          <a:xfrm>
            <a:off x="7696200" y="1390650"/>
            <a:ext cx="1419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1687.6s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C634EC-7DC4-4531-A2C7-075FE3224D02}"/>
              </a:ext>
            </a:extLst>
          </p:cNvPr>
          <p:cNvSpPr>
            <a:spLocks noGrp="1"/>
          </p:cNvSpPr>
          <p:nvPr/>
        </p:nvSpPr>
        <p:spPr>
          <a:xfrm>
            <a:off x="7696200" y="1752600"/>
            <a:ext cx="1419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总耗时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DD1C525-F55E-40D4-BB62-3C2C23C8571C}"/>
              </a:ext>
            </a:extLst>
          </p:cNvPr>
          <p:cNvSpPr>
            <a:spLocks noGrp="1"/>
          </p:cNvSpPr>
          <p:nvPr/>
        </p:nvSpPr>
        <p:spPr>
          <a:xfrm>
            <a:off x="9525000" y="1257300"/>
            <a:ext cx="17621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4D9154-14B1-4315-B190-6EC0E7F36839}"/>
              </a:ext>
            </a:extLst>
          </p:cNvPr>
          <p:cNvSpPr>
            <a:spLocks noGrp="1"/>
          </p:cNvSpPr>
          <p:nvPr/>
        </p:nvSpPr>
        <p:spPr>
          <a:xfrm>
            <a:off x="9696450" y="1390650"/>
            <a:ext cx="1419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84.24s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7EF9CB-08E3-4050-8BC4-85CEEC3EDBFA}"/>
              </a:ext>
            </a:extLst>
          </p:cNvPr>
          <p:cNvSpPr>
            <a:spLocks noGrp="1"/>
          </p:cNvSpPr>
          <p:nvPr/>
        </p:nvSpPr>
        <p:spPr>
          <a:xfrm>
            <a:off x="9696450" y="1752600"/>
            <a:ext cx="1419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平均每 tick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8AC542A-15F7-4CF1-8B65-1909F027DD39}"/>
              </a:ext>
            </a:extLst>
          </p:cNvPr>
          <p:cNvSpPr>
            <a:spLocks noGrp="1"/>
          </p:cNvSpPr>
          <p:nvPr/>
        </p:nvSpPr>
        <p:spPr>
          <a:xfrm>
            <a:off x="7524750" y="2305050"/>
            <a:ext cx="17621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20EDFF-D440-4714-9BE1-295573B59BB0}"/>
              </a:ext>
            </a:extLst>
          </p:cNvPr>
          <p:cNvSpPr>
            <a:spLocks noGrp="1"/>
          </p:cNvSpPr>
          <p:nvPr/>
        </p:nvSpPr>
        <p:spPr>
          <a:xfrm>
            <a:off x="7696200" y="2438400"/>
            <a:ext cx="1419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B91C1C"/>
                </a:solidFill>
              </a:defRPr>
            </a:pPr>
            <a:r>
              <a:rPr sz="1875" b="1">
                <a:solidFill>
                  <a:srgbClr val="B91C1C"/>
                </a:solidFill>
              </a:rPr>
              <a:t>0.962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CD3A26-7192-422A-84C3-DE1BA7E6CE43}"/>
              </a:ext>
            </a:extLst>
          </p:cNvPr>
          <p:cNvSpPr>
            <a:spLocks noGrp="1"/>
          </p:cNvSpPr>
          <p:nvPr/>
        </p:nvSpPr>
        <p:spPr>
          <a:xfrm>
            <a:off x="7696200" y="2800350"/>
            <a:ext cx="1419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极化末态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037E374-BB9D-40F0-BBBA-21FBBD03B657}"/>
              </a:ext>
            </a:extLst>
          </p:cNvPr>
          <p:cNvSpPr>
            <a:spLocks noGrp="1"/>
          </p:cNvSpPr>
          <p:nvPr/>
        </p:nvSpPr>
        <p:spPr>
          <a:xfrm>
            <a:off x="9525000" y="2305050"/>
            <a:ext cx="17621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54F17F-465F-4B72-8795-FE056D6093C7}"/>
              </a:ext>
            </a:extLst>
          </p:cNvPr>
          <p:cNvSpPr>
            <a:spLocks noGrp="1"/>
          </p:cNvSpPr>
          <p:nvPr/>
        </p:nvSpPr>
        <p:spPr>
          <a:xfrm>
            <a:off x="9696450" y="2438400"/>
            <a:ext cx="1419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B91C1C"/>
                </a:solidFill>
              </a:defRPr>
            </a:pPr>
            <a:r>
              <a:rPr sz="1875" b="1">
                <a:solidFill>
                  <a:srgbClr val="B91C1C"/>
                </a:solidFill>
              </a:rPr>
              <a:t>0.87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1BD7FD-8429-4E16-A134-F26DE2C5F79D}"/>
              </a:ext>
            </a:extLst>
          </p:cNvPr>
          <p:cNvSpPr>
            <a:spLocks noGrp="1"/>
          </p:cNvSpPr>
          <p:nvPr/>
        </p:nvSpPr>
        <p:spPr>
          <a:xfrm>
            <a:off x="9696450" y="2800350"/>
            <a:ext cx="1419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负面末态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11F218-5FF2-4F9B-89CA-0831B20B7276}"/>
              </a:ext>
            </a:extLst>
          </p:cNvPr>
          <p:cNvSpPr>
            <a:spLocks noGrp="1"/>
          </p:cNvSpPr>
          <p:nvPr/>
        </p:nvSpPr>
        <p:spPr>
          <a:xfrm>
            <a:off x="7524750" y="3448050"/>
            <a:ext cx="3810000" cy="344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B91C1C"/>
                </a:solidFill>
              </a:defRPr>
            </a:pPr>
            <a:r>
              <a:rPr sz="2000" b="1">
                <a:solidFill>
                  <a:srgbClr val="00B050"/>
                </a:solidFill>
              </a:rPr>
              <a:t>结果解释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6A05F5-9BDD-4ED4-A06B-B683D61B6D72}"/>
              </a:ext>
            </a:extLst>
          </p:cNvPr>
          <p:cNvSpPr>
            <a:spLocks noGrp="1"/>
          </p:cNvSpPr>
          <p:nvPr/>
        </p:nvSpPr>
        <p:spPr>
          <a:xfrm>
            <a:off x="7524750" y="3829050"/>
            <a:ext cx="38100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• 20行metrics完整、NaN=0，真实LLM可驱动观点与情绪更新。</a:t>
            </a:r>
          </a:p>
          <a:p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• avg_opinion末态为-0.053，distortion末态0.0725，高于Mock路径。</a:t>
            </a:r>
          </a:p>
          <a:p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• run_meta显示all_pass=false，提示后续需做并发、抽样和缓存优化。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E539A5A-3EDA-445A-ACA1-9650056B6590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运行范围：100 agents × 20 steps；输出20行metrics，NaN=0；step均值84.24s。</a:t>
            </a:r>
          </a:p>
        </p:txBody>
      </p:sp>
    </p:spTree>
    <p:extLst>
      <p:ext uri="{BB962C8B-B14F-4D97-AF65-F5344CB8AC3E}">
        <p14:creationId xmlns:p14="http://schemas.microsoft.com/office/powerpoint/2010/main" val="277792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8DBCC562-9082-402F-9298-25DEFAB658AD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F2937"/>
                </a:solidFill>
              </a:defRPr>
            </a:pPr>
            <a:r>
              <a:rPr sz="2800" b="1">
                <a:solidFill>
                  <a:srgbClr val="1F2937"/>
                </a:solidFill>
              </a:rPr>
              <a:t>4 同 seed 对照显示差异来自认知—情绪层，D/E切片补充解释维度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18F327-58CB-49A8-88A2-431B77B01D62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D94101-854E-4C57-9E8A-38EEAFD5529C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4C9FA7-2BB0-489D-85A7-F04BD1CB4623}"/>
              </a:ext>
            </a:extLst>
          </p:cNvPr>
          <p:cNvSpPr>
            <a:spLocks noGrp="1"/>
          </p:cNvSpPr>
          <p:nvPr/>
        </p:nvSpPr>
        <p:spPr>
          <a:xfrm>
            <a:off x="6477000" y="1346741"/>
            <a:ext cx="2095500" cy="438150"/>
          </a:xfrm>
          <a:prstGeom prst="rect">
            <a:avLst/>
          </a:prstGeom>
          <a:solidFill>
            <a:srgbClr val="EAF3FB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12534-1B1C-41C1-9E74-2F4EA50E0390}"/>
              </a:ext>
            </a:extLst>
          </p:cNvPr>
          <p:cNvSpPr>
            <a:spLocks noGrp="1"/>
          </p:cNvSpPr>
          <p:nvPr/>
        </p:nvSpPr>
        <p:spPr>
          <a:xfrm>
            <a:off x="6572250" y="1432466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指标（tick=19）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0F51A6-7F26-45D5-B6D4-49FB276752CC}"/>
              </a:ext>
            </a:extLst>
          </p:cNvPr>
          <p:cNvSpPr>
            <a:spLocks noGrp="1"/>
          </p:cNvSpPr>
          <p:nvPr/>
        </p:nvSpPr>
        <p:spPr>
          <a:xfrm>
            <a:off x="8572500" y="1346741"/>
            <a:ext cx="1619250" cy="438150"/>
          </a:xfrm>
          <a:prstGeom prst="rect">
            <a:avLst/>
          </a:prstGeom>
          <a:solidFill>
            <a:srgbClr val="EAF3FB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4586DB-E352-46CD-8A90-5E443F50834F}"/>
              </a:ext>
            </a:extLst>
          </p:cNvPr>
          <p:cNvSpPr>
            <a:spLocks noGrp="1"/>
          </p:cNvSpPr>
          <p:nvPr/>
        </p:nvSpPr>
        <p:spPr>
          <a:xfrm>
            <a:off x="8667750" y="143246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Mock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D1B900-1F86-42B3-AF0B-D1B6325C54BB}"/>
              </a:ext>
            </a:extLst>
          </p:cNvPr>
          <p:cNvSpPr>
            <a:spLocks noGrp="1"/>
          </p:cNvSpPr>
          <p:nvPr/>
        </p:nvSpPr>
        <p:spPr>
          <a:xfrm>
            <a:off x="10191750" y="1346741"/>
            <a:ext cx="1619250" cy="438150"/>
          </a:xfrm>
          <a:prstGeom prst="rect">
            <a:avLst/>
          </a:prstGeom>
          <a:solidFill>
            <a:srgbClr val="EAF3FB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5B5951-889E-4A1A-B2F7-E82AD0147B97}"/>
              </a:ext>
            </a:extLst>
          </p:cNvPr>
          <p:cNvSpPr>
            <a:spLocks noGrp="1"/>
          </p:cNvSpPr>
          <p:nvPr/>
        </p:nvSpPr>
        <p:spPr>
          <a:xfrm>
            <a:off x="10287000" y="143246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DeepSeek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C6A5D5-EC78-4836-BD8E-B949A999134C}"/>
              </a:ext>
            </a:extLst>
          </p:cNvPr>
          <p:cNvSpPr>
            <a:spLocks noGrp="1"/>
          </p:cNvSpPr>
          <p:nvPr/>
        </p:nvSpPr>
        <p:spPr>
          <a:xfrm>
            <a:off x="6477000" y="1784891"/>
            <a:ext cx="2095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C5B3E3-C4D6-4411-8593-72651DA50D1F}"/>
              </a:ext>
            </a:extLst>
          </p:cNvPr>
          <p:cNvSpPr>
            <a:spLocks noGrp="1"/>
          </p:cNvSpPr>
          <p:nvPr/>
        </p:nvSpPr>
        <p:spPr>
          <a:xfrm>
            <a:off x="6572250" y="1870616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avg_opinion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68DE25-31E0-4B5D-98AE-5A0B66D78575}"/>
              </a:ext>
            </a:extLst>
          </p:cNvPr>
          <p:cNvSpPr>
            <a:spLocks noGrp="1"/>
          </p:cNvSpPr>
          <p:nvPr/>
        </p:nvSpPr>
        <p:spPr>
          <a:xfrm>
            <a:off x="8572500" y="178489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D222A5-CB53-4D6F-BEF2-68F6D2C2E0E4}"/>
              </a:ext>
            </a:extLst>
          </p:cNvPr>
          <p:cNvSpPr>
            <a:spLocks noGrp="1"/>
          </p:cNvSpPr>
          <p:nvPr/>
        </p:nvSpPr>
        <p:spPr>
          <a:xfrm>
            <a:off x="8667750" y="18706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0.043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830DB4-84F8-4250-9BF4-9C30D5FABEB8}"/>
              </a:ext>
            </a:extLst>
          </p:cNvPr>
          <p:cNvSpPr>
            <a:spLocks noGrp="1"/>
          </p:cNvSpPr>
          <p:nvPr/>
        </p:nvSpPr>
        <p:spPr>
          <a:xfrm>
            <a:off x="10191750" y="178489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3A97089-399F-49F4-8460-CC536A2226A2}"/>
              </a:ext>
            </a:extLst>
          </p:cNvPr>
          <p:cNvSpPr>
            <a:spLocks noGrp="1"/>
          </p:cNvSpPr>
          <p:nvPr/>
        </p:nvSpPr>
        <p:spPr>
          <a:xfrm>
            <a:off x="10287000" y="18706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-0.053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27A2DC-7A2C-49DA-A6CA-61022206D614}"/>
              </a:ext>
            </a:extLst>
          </p:cNvPr>
          <p:cNvSpPr>
            <a:spLocks noGrp="1"/>
          </p:cNvSpPr>
          <p:nvPr/>
        </p:nvSpPr>
        <p:spPr>
          <a:xfrm>
            <a:off x="6477000" y="2223041"/>
            <a:ext cx="2095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366EEAD-28A8-412B-8AE4-396E7698420E}"/>
              </a:ext>
            </a:extLst>
          </p:cNvPr>
          <p:cNvSpPr>
            <a:spLocks noGrp="1"/>
          </p:cNvSpPr>
          <p:nvPr/>
        </p:nvSpPr>
        <p:spPr>
          <a:xfrm>
            <a:off x="6572250" y="2308766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polarization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509C3D3-23D1-414A-AA78-FBC200645C15}"/>
              </a:ext>
            </a:extLst>
          </p:cNvPr>
          <p:cNvSpPr>
            <a:spLocks noGrp="1"/>
          </p:cNvSpPr>
          <p:nvPr/>
        </p:nvSpPr>
        <p:spPr>
          <a:xfrm>
            <a:off x="8572500" y="222304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86D2979-AF4D-4B03-8AE2-77CB836B200A}"/>
              </a:ext>
            </a:extLst>
          </p:cNvPr>
          <p:cNvSpPr>
            <a:spLocks noGrp="1"/>
          </p:cNvSpPr>
          <p:nvPr/>
        </p:nvSpPr>
        <p:spPr>
          <a:xfrm>
            <a:off x="8667750" y="230876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0.601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3CAF05-E161-4FF4-A0EF-709476663264}"/>
              </a:ext>
            </a:extLst>
          </p:cNvPr>
          <p:cNvSpPr>
            <a:spLocks noGrp="1"/>
          </p:cNvSpPr>
          <p:nvPr/>
        </p:nvSpPr>
        <p:spPr>
          <a:xfrm>
            <a:off x="10191750" y="222304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1996618-55DE-470C-96E8-CF194F0C40AC}"/>
              </a:ext>
            </a:extLst>
          </p:cNvPr>
          <p:cNvSpPr>
            <a:spLocks noGrp="1"/>
          </p:cNvSpPr>
          <p:nvPr/>
        </p:nvSpPr>
        <p:spPr>
          <a:xfrm>
            <a:off x="10287000" y="230876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0.962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48E39BC-E03D-4645-B2B0-6C9112522E8C}"/>
              </a:ext>
            </a:extLst>
          </p:cNvPr>
          <p:cNvSpPr>
            <a:spLocks noGrp="1"/>
          </p:cNvSpPr>
          <p:nvPr/>
        </p:nvSpPr>
        <p:spPr>
          <a:xfrm>
            <a:off x="6477000" y="2661191"/>
            <a:ext cx="2095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C49245-75D1-4980-8B40-6C8F1BBC3B6A}"/>
              </a:ext>
            </a:extLst>
          </p:cNvPr>
          <p:cNvSpPr>
            <a:spLocks noGrp="1"/>
          </p:cNvSpPr>
          <p:nvPr/>
        </p:nvSpPr>
        <p:spPr>
          <a:xfrm>
            <a:off x="6572250" y="2746916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negative_emotion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397631E-A44A-4C7D-B611-0E259FD325F2}"/>
              </a:ext>
            </a:extLst>
          </p:cNvPr>
          <p:cNvSpPr>
            <a:spLocks noGrp="1"/>
          </p:cNvSpPr>
          <p:nvPr/>
        </p:nvSpPr>
        <p:spPr>
          <a:xfrm>
            <a:off x="8572500" y="266119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734387A-805E-4F9A-B857-009558C07B1B}"/>
              </a:ext>
            </a:extLst>
          </p:cNvPr>
          <p:cNvSpPr>
            <a:spLocks noGrp="1"/>
          </p:cNvSpPr>
          <p:nvPr/>
        </p:nvSpPr>
        <p:spPr>
          <a:xfrm>
            <a:off x="8667750" y="27469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0.58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93CCEBE-C6DF-47D3-A393-AB915282FCE7}"/>
              </a:ext>
            </a:extLst>
          </p:cNvPr>
          <p:cNvSpPr>
            <a:spLocks noGrp="1"/>
          </p:cNvSpPr>
          <p:nvPr/>
        </p:nvSpPr>
        <p:spPr>
          <a:xfrm>
            <a:off x="10191750" y="266119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054DB3F-D6CD-4EB2-9BEB-26E4964D4185}"/>
              </a:ext>
            </a:extLst>
          </p:cNvPr>
          <p:cNvSpPr>
            <a:spLocks noGrp="1"/>
          </p:cNvSpPr>
          <p:nvPr/>
        </p:nvSpPr>
        <p:spPr>
          <a:xfrm>
            <a:off x="10287000" y="27469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0.87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BAD9B65-789E-4672-AC8D-7AD0151B4CD9}"/>
              </a:ext>
            </a:extLst>
          </p:cNvPr>
          <p:cNvSpPr>
            <a:spLocks noGrp="1"/>
          </p:cNvSpPr>
          <p:nvPr/>
        </p:nvSpPr>
        <p:spPr>
          <a:xfrm>
            <a:off x="6477000" y="3099341"/>
            <a:ext cx="2095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A9A6489-B156-49A5-B3CA-3A28F9268B3B}"/>
              </a:ext>
            </a:extLst>
          </p:cNvPr>
          <p:cNvSpPr>
            <a:spLocks noGrp="1"/>
          </p:cNvSpPr>
          <p:nvPr/>
        </p:nvSpPr>
        <p:spPr>
          <a:xfrm>
            <a:off x="6572250" y="3185066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distortion_level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4155FA8-3A82-4DF3-AAC0-9C5561FB0398}"/>
              </a:ext>
            </a:extLst>
          </p:cNvPr>
          <p:cNvSpPr>
            <a:spLocks noGrp="1"/>
          </p:cNvSpPr>
          <p:nvPr/>
        </p:nvSpPr>
        <p:spPr>
          <a:xfrm>
            <a:off x="8572500" y="309934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F10C7B6-081C-43A1-ABD2-22BA731B299E}"/>
              </a:ext>
            </a:extLst>
          </p:cNvPr>
          <p:cNvSpPr>
            <a:spLocks noGrp="1"/>
          </p:cNvSpPr>
          <p:nvPr/>
        </p:nvSpPr>
        <p:spPr>
          <a:xfrm>
            <a:off x="8667750" y="318506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0.0025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113D401-0BB4-4FC1-9297-BCF8B7039AB6}"/>
              </a:ext>
            </a:extLst>
          </p:cNvPr>
          <p:cNvSpPr>
            <a:spLocks noGrp="1"/>
          </p:cNvSpPr>
          <p:nvPr/>
        </p:nvSpPr>
        <p:spPr>
          <a:xfrm>
            <a:off x="10191750" y="309934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8281DDF-D718-4BBE-89FF-DE94929430D3}"/>
              </a:ext>
            </a:extLst>
          </p:cNvPr>
          <p:cNvSpPr>
            <a:spLocks noGrp="1"/>
          </p:cNvSpPr>
          <p:nvPr/>
        </p:nvSpPr>
        <p:spPr>
          <a:xfrm>
            <a:off x="10287000" y="318506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0.0725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ECFD906-90CF-4366-B365-81A9D4F13CCF}"/>
              </a:ext>
            </a:extLst>
          </p:cNvPr>
          <p:cNvSpPr>
            <a:spLocks noGrp="1"/>
          </p:cNvSpPr>
          <p:nvPr/>
        </p:nvSpPr>
        <p:spPr>
          <a:xfrm>
            <a:off x="6477000" y="3537491"/>
            <a:ext cx="2095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E8E61EC-FC7C-4FF8-ABD7-CC20FE0430A8}"/>
              </a:ext>
            </a:extLst>
          </p:cNvPr>
          <p:cNvSpPr>
            <a:spLocks noGrp="1"/>
          </p:cNvSpPr>
          <p:nvPr/>
        </p:nvSpPr>
        <p:spPr>
          <a:xfrm>
            <a:off x="6572250" y="3623216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cross_group_forward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42B6B20-997A-47F2-A9E5-C68748E1C34B}"/>
              </a:ext>
            </a:extLst>
          </p:cNvPr>
          <p:cNvSpPr>
            <a:spLocks noGrp="1"/>
          </p:cNvSpPr>
          <p:nvPr/>
        </p:nvSpPr>
        <p:spPr>
          <a:xfrm>
            <a:off x="8572500" y="353749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0E534D9-E406-47AE-8F76-B769DD73B5E7}"/>
              </a:ext>
            </a:extLst>
          </p:cNvPr>
          <p:cNvSpPr>
            <a:spLocks noGrp="1"/>
          </p:cNvSpPr>
          <p:nvPr/>
        </p:nvSpPr>
        <p:spPr>
          <a:xfrm>
            <a:off x="8667750" y="36232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29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DD714B7-6E4C-4208-B6CB-B0DB79E49807}"/>
              </a:ext>
            </a:extLst>
          </p:cNvPr>
          <p:cNvSpPr>
            <a:spLocks noGrp="1"/>
          </p:cNvSpPr>
          <p:nvPr/>
        </p:nvSpPr>
        <p:spPr>
          <a:xfrm>
            <a:off x="10191750" y="3537491"/>
            <a:ext cx="1619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7272914-0701-455B-B6B2-6F0D928BA875}"/>
              </a:ext>
            </a:extLst>
          </p:cNvPr>
          <p:cNvSpPr>
            <a:spLocks noGrp="1"/>
          </p:cNvSpPr>
          <p:nvPr/>
        </p:nvSpPr>
        <p:spPr>
          <a:xfrm>
            <a:off x="10287000" y="36232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1F2937"/>
                </a:solidFill>
              </a:defRPr>
            </a:pPr>
            <a:r>
              <a:rPr sz="975" b="0">
                <a:solidFill>
                  <a:srgbClr val="1F2937"/>
                </a:solidFill>
              </a:rPr>
              <a:t>29</a:t>
            </a:r>
          </a:p>
        </p:txBody>
      </p:sp>
      <p:pic>
        <p:nvPicPr>
          <p:cNvPr id="101" name="图片 10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5333" y="1108616"/>
            <a:ext cx="5635498" cy="3135882"/>
          </a:xfrm>
          <a:prstGeom prst="round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CA7E3613-12E5-45ED-B456-DF337BA017D9}"/>
              </a:ext>
            </a:extLst>
          </p:cNvPr>
          <p:cNvSpPr>
            <a:spLocks noGrp="1"/>
          </p:cNvSpPr>
          <p:nvPr/>
        </p:nvSpPr>
        <p:spPr>
          <a:xfrm>
            <a:off x="762000" y="4495864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1F4E79"/>
                </a:solidFill>
              </a:defRPr>
            </a:pPr>
            <a:r>
              <a:rPr sz="2000" b="1">
                <a:solidFill>
                  <a:srgbClr val="00B050"/>
                </a:solidFill>
              </a:rPr>
              <a:t>对照结论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459FAF1-9CF1-41BE-B9A1-1F9203F53702}"/>
              </a:ext>
            </a:extLst>
          </p:cNvPr>
          <p:cNvSpPr>
            <a:spLocks noGrp="1"/>
          </p:cNvSpPr>
          <p:nvPr/>
        </p:nvSpPr>
        <p:spPr>
          <a:xfrm>
            <a:off x="762000" y="4943295"/>
            <a:ext cx="933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• 同seed下tick=19跨群累计同为29，说明传播骨架保持一致。</a:t>
            </a:r>
          </a:p>
          <a:p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• DeepSeek在观点、极化、负面和失真上明显高于Mock，说明LLM改变Agent内生状态。</a:t>
            </a:r>
          </a:p>
          <a:p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• D/E补充分群/分角色、governance_tick与rolling窗口，为后续干预实验提供报告口径。</a:t>
            </a:r>
          </a:p>
        </p:txBody>
      </p:sp>
      <p:pic>
        <p:nvPicPr>
          <p:cNvPr id="104" name="墨迹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6581" y="1312541"/>
            <a:ext cx="18000" cy="108000"/>
          </a:xfrm>
          <a:prstGeom prst="rect">
            <a:avLst/>
          </a:prstGeom>
        </p:spPr>
      </p:pic>
      <p:pic>
        <p:nvPicPr>
          <p:cNvPr id="105" name="墨迹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421" y="1243781"/>
            <a:ext cx="18000" cy="108000"/>
          </a:xfrm>
          <a:prstGeom prst="rect">
            <a:avLst/>
          </a:prstGeom>
        </p:spPr>
      </p:pic>
      <p:pic>
        <p:nvPicPr>
          <p:cNvPr id="106" name="墨迹 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1101" y="1293101"/>
            <a:ext cx="18000" cy="108000"/>
          </a:xfrm>
          <a:prstGeom prst="rect">
            <a:avLst/>
          </a:prstGeom>
        </p:spPr>
      </p:pic>
      <p:pic>
        <p:nvPicPr>
          <p:cNvPr id="107" name="墨迹 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3381" y="1882781"/>
            <a:ext cx="18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7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1B03F73-9DE5-4181-AF7A-7D73A0BD08A9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F2937"/>
                </a:solidFill>
              </a:defRPr>
            </a:pPr>
            <a:r>
              <a:rPr sz="2800" b="1">
                <a:solidFill>
                  <a:srgbClr val="1F2937"/>
                </a:solidFill>
              </a:rPr>
              <a:t>总结计划 summary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57F182-DEF9-45B5-8931-69A620BE5B1C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D13540-B8F1-4D9D-91D2-72356FF95710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C9E325-539F-4684-AFE2-F33CA6385712}"/>
              </a:ext>
            </a:extLst>
          </p:cNvPr>
          <p:cNvSpPr>
            <a:spLocks noGrp="1"/>
          </p:cNvSpPr>
          <p:nvPr/>
        </p:nvSpPr>
        <p:spPr>
          <a:xfrm>
            <a:off x="1028700" y="1790699"/>
            <a:ext cx="2095500" cy="4762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F766E"/>
                </a:solidFill>
              </a:defRPr>
            </a:pPr>
            <a:r>
              <a:rPr sz="2000" b="1">
                <a:solidFill>
                  <a:srgbClr val="0070C0"/>
                </a:solidFill>
              </a:rPr>
              <a:t>本周完成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6360C2-4A9D-4D2B-84FD-8CACD8627F38}"/>
              </a:ext>
            </a:extLst>
          </p:cNvPr>
          <p:cNvSpPr>
            <a:spLocks noGrp="1"/>
          </p:cNvSpPr>
          <p:nvPr/>
        </p:nvSpPr>
        <p:spPr>
          <a:xfrm>
            <a:off x="1028700" y="2266949"/>
            <a:ext cx="4095750" cy="20655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F2937"/>
                </a:solidFill>
              </a:defRPr>
            </a:pPr>
            <a:r>
              <a:rPr sz="1600" dirty="0">
                <a:solidFill>
                  <a:srgbClr val="333333"/>
                </a:solidFill>
              </a:rPr>
              <a:t>1 </a:t>
            </a:r>
            <a:r>
              <a:rPr lang="en-US" altLang="zh-CN" sz="1600" dirty="0">
                <a:solidFill>
                  <a:srgbClr val="1F2937"/>
                </a:solidFill>
              </a:rPr>
              <a:t>Mock 100×50 </a:t>
            </a:r>
            <a:r>
              <a:rPr lang="en-US" altLang="zh-CN" sz="1600" dirty="0" err="1">
                <a:solidFill>
                  <a:srgbClr val="1F2937"/>
                </a:solidFill>
              </a:rPr>
              <a:t>all_pass</a:t>
            </a:r>
            <a:r>
              <a:rPr lang="en-US" altLang="zh-CN" sz="1600" dirty="0">
                <a:solidFill>
                  <a:srgbClr val="1F2937"/>
                </a:solidFill>
              </a:rPr>
              <a:t>=true</a:t>
            </a:r>
            <a:r>
              <a:rPr lang="zh-CN" altLang="en-US" sz="1600" dirty="0">
                <a:solidFill>
                  <a:srgbClr val="1F2937"/>
                </a:solidFill>
              </a:rPr>
              <a:t>；</a:t>
            </a:r>
            <a:r>
              <a:rPr lang="en-US" altLang="zh-CN" sz="1600" dirty="0">
                <a:solidFill>
                  <a:srgbClr val="1F2937"/>
                </a:solidFill>
              </a:rPr>
              <a:t>DeepSeek 100×20</a:t>
            </a:r>
            <a:r>
              <a:rPr lang="zh-CN" altLang="en-US" sz="1600" dirty="0">
                <a:solidFill>
                  <a:srgbClr val="1F2937"/>
                </a:solidFill>
              </a:rPr>
              <a:t>完整输出 （</a:t>
            </a:r>
            <a:r>
              <a:rPr lang="en-US" altLang="zh-CN" sz="1600" dirty="0">
                <a:solidFill>
                  <a:srgbClr val="1F2937"/>
                </a:solidFill>
              </a:rPr>
              <a:t>100%</a:t>
            </a:r>
            <a:r>
              <a:rPr lang="zh-CN" altLang="en-US" sz="1600" dirty="0">
                <a:solidFill>
                  <a:srgbClr val="1F2937"/>
                </a:solidFill>
              </a:rPr>
              <a:t>）</a:t>
            </a:r>
            <a:endParaRPr lang="en-US" altLang="zh-CN" sz="1600" dirty="0">
              <a:solidFill>
                <a:srgbClr val="1F2937"/>
              </a:solidFill>
            </a:endParaRPr>
          </a:p>
          <a:p>
            <a:pPr>
              <a:defRPr sz="1275" b="0">
                <a:solidFill>
                  <a:srgbClr val="1F2937"/>
                </a:solidFill>
              </a:defRPr>
            </a:pPr>
            <a:r>
              <a:rPr lang="en-US" altLang="zh-CN" sz="1600" dirty="0">
                <a:solidFill>
                  <a:srgbClr val="1F2937"/>
                </a:solidFill>
              </a:rPr>
              <a:t>2 D/E</a:t>
            </a:r>
            <a:r>
              <a:rPr lang="zh-CN" altLang="en-US" sz="1600" dirty="0">
                <a:solidFill>
                  <a:srgbClr val="1F2937"/>
                </a:solidFill>
              </a:rPr>
              <a:t>新增</a:t>
            </a:r>
            <a:r>
              <a:rPr lang="en-US" altLang="zh-CN" sz="1600" dirty="0" err="1">
                <a:solidFill>
                  <a:srgbClr val="1F2937"/>
                </a:solidFill>
              </a:rPr>
              <a:t>governance_tick</a:t>
            </a:r>
            <a:r>
              <a:rPr lang="zh-CN" altLang="en-US" sz="1600" dirty="0">
                <a:solidFill>
                  <a:srgbClr val="1F2937"/>
                </a:solidFill>
              </a:rPr>
              <a:t>、</a:t>
            </a:r>
            <a:r>
              <a:rPr lang="en-US" altLang="zh-CN" sz="1600" dirty="0" err="1">
                <a:solidFill>
                  <a:srgbClr val="1F2937"/>
                </a:solidFill>
              </a:rPr>
              <a:t>GroupType</a:t>
            </a:r>
            <a:r>
              <a:rPr lang="en-US" altLang="zh-CN" sz="1600" dirty="0">
                <a:solidFill>
                  <a:srgbClr val="1F2937"/>
                </a:solidFill>
              </a:rPr>
              <a:t>/AgentType</a:t>
            </a:r>
            <a:r>
              <a:rPr lang="zh-CN" altLang="en-US" sz="1600" dirty="0">
                <a:solidFill>
                  <a:srgbClr val="1F2937"/>
                </a:solidFill>
              </a:rPr>
              <a:t>与宽表出图 （</a:t>
            </a:r>
            <a:r>
              <a:rPr lang="en-US" altLang="zh-CN" sz="1600" dirty="0">
                <a:solidFill>
                  <a:srgbClr val="1F2937"/>
                </a:solidFill>
              </a:rPr>
              <a:t>100%</a:t>
            </a:r>
            <a:r>
              <a:rPr lang="zh-CN" altLang="en-US" sz="1600" dirty="0">
                <a:solidFill>
                  <a:srgbClr val="1F2937"/>
                </a:solidFill>
              </a:rPr>
              <a:t>）</a:t>
            </a:r>
          </a:p>
          <a:p>
            <a:pPr>
              <a:defRPr sz="1275" b="0">
                <a:solidFill>
                  <a:srgbClr val="1F2937"/>
                </a:solidFill>
              </a:defRPr>
            </a:pPr>
            <a:endParaRPr lang="zh-CN" altLang="en-US" sz="1600" dirty="0">
              <a:solidFill>
                <a:srgbClr val="1F2937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57EBCF-B6DC-401B-BC05-A88B287A9292}"/>
              </a:ext>
            </a:extLst>
          </p:cNvPr>
          <p:cNvSpPr>
            <a:spLocks noGrp="1"/>
          </p:cNvSpPr>
          <p:nvPr/>
        </p:nvSpPr>
        <p:spPr>
          <a:xfrm>
            <a:off x="6858000" y="17907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B45309"/>
                </a:solidFill>
              </a:defRPr>
            </a:pPr>
            <a:r>
              <a:rPr sz="2000" b="1">
                <a:solidFill>
                  <a:srgbClr val="0070C0"/>
                </a:solidFill>
              </a:rPr>
              <a:t>下周计划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CE0410-2D8A-443B-89CD-0023F37B4787}"/>
              </a:ext>
            </a:extLst>
          </p:cNvPr>
          <p:cNvSpPr>
            <a:spLocks noGrp="1"/>
          </p:cNvSpPr>
          <p:nvPr/>
        </p:nvSpPr>
        <p:spPr>
          <a:xfrm>
            <a:off x="6858000" y="2266949"/>
            <a:ext cx="4095750" cy="21800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0">
                <a:solidFill>
                  <a:srgbClr val="1F2937"/>
                </a:solidFill>
              </a:defRPr>
            </a:pPr>
            <a:r>
              <a:rPr sz="1600" dirty="0">
                <a:solidFill>
                  <a:srgbClr val="1F2937"/>
                </a:solidFill>
              </a:rPr>
              <a:t>1 继续推进1000 </a:t>
            </a:r>
            <a:r>
              <a:rPr sz="1600" dirty="0" err="1">
                <a:solidFill>
                  <a:srgbClr val="1F2937"/>
                </a:solidFill>
              </a:rPr>
              <a:t>Agent闭环，先用Mock验证性能和字段完整性</a:t>
            </a:r>
            <a:r>
              <a:rPr sz="1600" dirty="0">
                <a:solidFill>
                  <a:srgbClr val="1F2937"/>
                </a:solidFill>
              </a:rPr>
              <a:t>。</a:t>
            </a:r>
          </a:p>
          <a:p>
            <a:pPr>
              <a:buNone/>
              <a:defRPr sz="1275" b="0">
                <a:solidFill>
                  <a:srgbClr val="1F2937"/>
                </a:solidFill>
              </a:defRPr>
            </a:pPr>
            <a:r>
              <a:rPr sz="1600" dirty="0">
                <a:solidFill>
                  <a:srgbClr val="1F2937"/>
                </a:solidFill>
              </a:rPr>
              <a:t>2 </a:t>
            </a:r>
            <a:r>
              <a:rPr sz="1600" dirty="0" err="1">
                <a:solidFill>
                  <a:srgbClr val="1F2937"/>
                </a:solidFill>
              </a:rPr>
              <a:t>优化真实LLM：并发、抽样调用、缓存、降级路径，控制step耗时</a:t>
            </a:r>
            <a:r>
              <a:rPr sz="1600" dirty="0">
                <a:solidFill>
                  <a:srgbClr val="1F2937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11796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F6D25A1-21D7-4ECD-B19E-2DB1D11A64DC}"/>
              </a:ext>
            </a:extLst>
          </p:cNvPr>
          <p:cNvSpPr>
            <a:spLocks noGrp="1"/>
          </p:cNvSpPr>
          <p:nvPr/>
        </p:nvSpPr>
        <p:spPr>
          <a:xfrm>
            <a:off x="381000" y="3429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00" b="1">
                <a:solidFill>
                  <a:srgbClr val="1F2937"/>
                </a:solidFill>
              </a:defRPr>
            </a:pPr>
            <a:r>
              <a:rPr sz="3200" b="1" i="0" u="none" cap="none">
                <a:ln>
                  <a:noFill/>
                </a:ln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paper/chapter reading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B4E0C0-AB55-494F-A3FC-13E9D5CB9051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11430000" cy="1333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104211-304C-4F81-8430-FCF53C73A3B3}"/>
              </a:ext>
            </a:extLst>
          </p:cNvPr>
          <p:cNvSpPr>
            <a:spLocks noGrp="1"/>
          </p:cNvSpPr>
          <p:nvPr/>
        </p:nvSpPr>
        <p:spPr>
          <a:xfrm>
            <a:off x="11525250" y="61150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0">
                <a:solidFill>
                  <a:srgbClr val="6B7280"/>
                </a:solidFill>
              </a:defRPr>
            </a:pPr>
            <a:r>
              <a:rPr sz="1350" b="0" i="0" u="none" cap="none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55E662-94B9-4ACC-B4A7-7039B5B7C893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1F4E79"/>
                </a:solidFill>
              </a:defRPr>
            </a:pPr>
            <a:r>
              <a:rPr sz="2000" b="1" i="0" u="none" cap="none">
                <a:ln>
                  <a:noFill/>
                </a:ln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Modeling Information Cascades with Self-exciting Processes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AF6939-4E19-4D23-842E-31795A436145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6B7280"/>
                </a:solidFill>
              </a:defRPr>
            </a:pPr>
            <a:r>
              <a:rPr sz="975" b="0" i="0" u="none" cap="none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Quyu Kong, Marian-Andrei Rizoiu, Lexing Xie · WSDM 2020 · DOI: 10.1145/3336191.3371821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19EC74-7FEC-47C3-B80E-221FE7674FC7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>
                <a:solidFill>
                  <a:srgbClr val="1F4E79"/>
                </a:solidFill>
              </a:defRPr>
            </a:pPr>
            <a:r>
              <a:rPr sz="1600" b="1" i="0" u="none" cap="none">
                <a:ln>
                  <a:noFill/>
                </a:ln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Motivation 动机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21D0A3-6198-4566-833C-C08CC0E2F59B}"/>
              </a:ext>
            </a:extLst>
          </p:cNvPr>
          <p:cNvSpPr>
            <a:spLocks noGrp="1"/>
          </p:cNvSpPr>
          <p:nvPr/>
        </p:nvSpPr>
        <p:spPr>
          <a:xfrm>
            <a:off x="2705100" y="2000250"/>
            <a:ext cx="8334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F2937"/>
                </a:solidFill>
              </a:defRPr>
            </a:pPr>
            <a:r>
              <a:rPr sz="1200" b="0" i="0" u="none" cap="none">
                <a:ln>
                  <a:noFill/>
                </a:ln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在线舆情级联同时具有两类特征：前序转发会抬高后续发生率，传播又会受可感染人群规模限制。论文希望打通流行病模型与自激点过程，用统一框架解释信息扩散的爆发、衰减和饱和。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8F4ED5-0F1D-45E7-BC4D-A436B75C0A87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>
                <a:solidFill>
                  <a:srgbClr val="1F4E79"/>
                </a:solidFill>
              </a:defRPr>
            </a:pPr>
            <a:r>
              <a:rPr sz="1600" b="1" i="0" u="none" cap="none">
                <a:ln>
                  <a:noFill/>
                </a:ln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Theory 理论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72C441-9719-48C5-9808-DDB893F4964A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334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F2937"/>
                </a:solidFill>
              </a:defRPr>
            </a:pPr>
            <a:r>
              <a:rPr sz="1200" b="0" i="0" u="none" cap="none">
                <a:ln>
                  <a:noFill/>
                </a:ln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论文把随机 SIR 推广到任意恢复时间分布，并建立 recovery hazard、infection kernel 与 Hawkes/self-exciting 强度之间的对应关系；因此级联强度既由历史事件自激，又受剩余 susceptible 人群约束。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D5823B-626F-4376-A66E-12BF8140B9C5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>
                <a:solidFill>
                  <a:srgbClr val="1F4E79"/>
                </a:solidFill>
              </a:defRPr>
            </a:pPr>
            <a:r>
              <a:rPr sz="1600" b="1" i="0" u="none" cap="none">
                <a:ln>
                  <a:noFill/>
                </a:ln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Application 应用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704BB2-CDCB-4374-B252-8550FBA0E33D}"/>
              </a:ext>
            </a:extLst>
          </p:cNvPr>
          <p:cNvSpPr>
            <a:spLocks noGrp="1"/>
          </p:cNvSpPr>
          <p:nvPr/>
        </p:nvSpPr>
        <p:spPr>
          <a:xfrm>
            <a:off x="2705100" y="3600450"/>
            <a:ext cx="8334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F2937"/>
                </a:solidFill>
              </a:defRPr>
            </a:pPr>
            <a:r>
              <a:rPr sz="1200" b="0" i="0" u="none" cap="none">
                <a:ln>
                  <a:noFill/>
                </a:ln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用于建模 Twitter 信息级联的转发时间序列，估计事件强度、传播核和最终热度；对本项目而言，它直接支撑 C 模块 Hawkes 引擎，也为 A 中热度触发和 D 中 governance_tick 选择提供理论依据。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891464-B6DD-4102-8706-892E8430B24E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>
                <a:solidFill>
                  <a:srgbClr val="1F4E79"/>
                </a:solidFill>
              </a:defRPr>
            </a:pPr>
            <a:r>
              <a:rPr sz="1600" b="1" i="0" u="none" cap="none">
                <a:ln>
                  <a:noFill/>
                </a:ln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Methodology 方法论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ECFF8B-D49E-4077-AA11-CB4BC2B91DC9}"/>
              </a:ext>
            </a:extLst>
          </p:cNvPr>
          <p:cNvSpPr>
            <a:spLocks noGrp="1"/>
          </p:cNvSpPr>
          <p:nvPr/>
        </p:nvSpPr>
        <p:spPr>
          <a:xfrm>
            <a:off x="2705100" y="4400550"/>
            <a:ext cx="8334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F2937"/>
                </a:solidFill>
              </a:defRPr>
            </a:pPr>
            <a:r>
              <a:rPr sz="1200" b="0" i="0" u="none" cap="none">
                <a:ln>
                  <a:noFill/>
                </a:ln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作者在三个大规模 Twitter 扩散数据集上做拟合优度和 holdout log-likelihood 评估，对比 exponential、power-law、Tsallis Q-exponential 三类传播核，并进一步组合互补模型提升 popularity prediction。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104AC2-5CB7-4900-A9ED-DF16D8FDC7A5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>
                <a:solidFill>
                  <a:srgbClr val="1F4E79"/>
                </a:solidFill>
              </a:defRPr>
            </a:pPr>
            <a:r>
              <a:rPr sz="1600" b="1" i="0" u="none" cap="none">
                <a:ln>
                  <a:noFill/>
                </a:ln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my evaluation 自我评价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79BE5F-33B8-4A3A-B2D5-80E21D3373A9}"/>
              </a:ext>
            </a:extLst>
          </p:cNvPr>
          <p:cNvSpPr>
            <a:spLocks noGrp="1"/>
          </p:cNvSpPr>
          <p:nvPr/>
        </p:nvSpPr>
        <p:spPr>
          <a:xfrm>
            <a:off x="2705100" y="5200650"/>
            <a:ext cx="8334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F2937"/>
                </a:solidFill>
              </a:defRPr>
            </a:pPr>
            <a:r>
              <a:rPr sz="1200" b="0" i="0" u="none" cap="none">
                <a:ln>
                  <a:noFill/>
                </a:ln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这篇论文能增强我们“事件自激传播 + 官方干预评估”的学术可信度：C 可用它解释 intensity/sample/add_event，D 可用干预前后窗口比较强度、负面和传播下降。但论文侧重级联时间过程，不直接建模 LLM Agent 的信念、情绪和角色异质性。</a:t>
            </a:r>
          </a:p>
        </p:txBody>
      </p:sp>
    </p:spTree>
    <p:extLst>
      <p:ext uri="{BB962C8B-B14F-4D97-AF65-F5344CB8AC3E}">
        <p14:creationId xmlns:p14="http://schemas.microsoft.com/office/powerpoint/2010/main" val="635635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1289</Words>
  <Application>Microsoft Office PowerPoint</Application>
  <DocSecurity>0</DocSecurity>
  <PresentationFormat>宽屏</PresentationFormat>
  <Paragraphs>157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旭东 何</cp:lastModifiedBy>
  <cp:revision>1</cp:revision>
  <dcterms:created xsi:type="dcterms:W3CDTF">2026-08-03T15:17:47Z</dcterms:created>
  <dcterms:modified xsi:type="dcterms:W3CDTF">2026-08-03T15:29:52Z</dcterms:modified>
</cp:coreProperties>
</file>