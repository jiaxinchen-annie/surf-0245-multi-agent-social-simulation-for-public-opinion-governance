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C6137-3B25-4AFA-BDDE-8835120AF8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buNone/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21C96-0182-4B55-8942-394B6FB6D7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8352D-A0DB-4668-9BB5-BAEA67EFBC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FEFD7-7241-4A55-9F4E-BE5EC4645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2BFD4-3A6D-4D41-A1E7-D560DF99E7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B5B82-EA2B-4A90-AA14-8BDF0178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>
            <a:normAutofit/>
          </a:bodyPr>
          <a:lstStyle>
            <a:lvl1pPr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5F907-2793-49CE-9BE3-45B7F58C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47047-3DF4-40EC-B56D-585F2C814B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86DB2-81A2-45AF-9A5B-1CF4783688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15939-DCCB-4706-8408-F13DE2CDD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5CE61-4A72-428C-88A3-5C80086B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784DD-D6D4-4F8F-9F3D-15FB084B5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4B54D-E56A-47D8-873E-5F326E4A2E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87996-6DC5-4D31-911A-1D2C5138D6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6A14A-4603-43B0-9170-4F62A5BE39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730D0-7982-4C89-9297-6E58EA6A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buNone/>
              <a:defRPr sz="4400" b="0" i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305A3-49D1-41CD-BA36-72F8AAC34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43EAF8-8285-4D26-816A-3E2535082E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BE30D1-0A6C-4151-B1EF-4B40FEB339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48E88E-2A22-40C8-AE44-C1EE1CE28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59B63C-708D-460D-BABE-AFECB599C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96B38-2939-4451-92EE-8E0AEEC7A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72E7-26C7-4DD7-A64A-6FB7E4CA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AC2A51-0E64-4FD0-A400-E3B0D7F6F97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88177B-288C-4683-BBB6-9C3A1AF198B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6F7EAC-A7C6-4377-9B90-096BFF43B6E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5CB442-FAB4-4A6D-B2BF-244171DC88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4436E4-DE64-49B6-A418-0655374ED4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458CFE-9E54-4B11-9FFA-19E932F6F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D92E3-47C6-40F4-9DD5-26F92EC8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8403EA-0E4B-4DC9-8492-917B31D828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737895-110E-4425-8025-B86CF8A32A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DB2EEA-6F86-46A3-ABFE-C59521DFC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EAB94C-0A05-4BA5-AC69-AB226158F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427297-EA73-4032-89C5-A204F14A51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ED50A5-3438-4BFB-86E4-FD47154D9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88023-7D03-4843-8C9A-C88C6DB3B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>
            <a:normAutofit/>
          </a:bodyPr>
          <a:lstStyle>
            <a:lvl1pPr>
              <a:buNone/>
              <a:defRPr sz="3200" b="0"/>
            </a:lvl1pPr>
          </a:lstStyle>
          <a:p>
            <a:r>
              <a:t>单击此处编辑标题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899066-06B9-45F2-AFFD-6B8F42659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5B21EE-E598-4236-BFA3-A30EEAEEEE5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ABFC65-7298-48AA-8EDC-525ED23FD1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C4362-AADA-4867-A34B-1665A7790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F9243-74C1-4D79-AEB8-63C3556E20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4A4AAF-CC30-4AD5-BC21-7CD07217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21378F-E349-4689-BC44-81C745E0F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D66DD-4369-493B-B5CD-7945158F0A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6B581-14E2-4DD4-BEF2-30F0C30F6E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D2179-7AAF-4491-8951-E6BCD31DD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D9C92B-1975-4677-98C7-DFE33B3438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197A07-EF69-4E0F-875E-23C1E84DD2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954838-2345-4A6A-AAA2-5668E07401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EA11AF-D82D-46B3-AEA7-B7D26E52C9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63A01F-57F3-47FD-87B8-2F6F6F92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88D4E3-C9B7-4397-9F02-AF1A0A26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BA443-A4EF-4DC6-A09E-8E7A43FA3F8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66428-8066-4724-BDE4-5DA2981DD2F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63254-CD9E-402F-8C3B-DD55CE9F5A6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518FD-3104-4354-BF27-9981A0DE9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8242"/>
            <a:ext cx="9144000" cy="2187001"/>
          </a:xfr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defRPr sz="4400" b="0">
                <a:solidFill>
                  <a:srgbClr val="000000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week 3</a:t>
            </a:r>
          </a:p>
          <a:p>
            <a:pPr algn="ctr">
              <a:lnSpc>
                <a:spcPct val="105000"/>
              </a:lnSpc>
              <a:defRPr sz="4400" b="0">
                <a:solidFill>
                  <a:srgbClr val="000000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多智能体舆情处理系统</a:t>
            </a:r>
            <a:endParaRPr dirty="0">
              <a:latin typeface="Microsoft YaHei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7EFBB01-4ADC-4277-9E0A-25A8A5716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3778"/>
            <a:ext cx="9144000" cy="2717482"/>
          </a:xfr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A-B-E </a:t>
            </a:r>
            <a:r>
              <a:rPr dirty="0" err="1">
                <a:latin typeface="Microsoft YaHei"/>
              </a:rPr>
              <a:t>联调完成周</a:t>
            </a:r>
            <a:r>
              <a:rPr dirty="0">
                <a:latin typeface="Microsoft YaHei"/>
              </a:rPr>
              <a:t> / 单 Agent </a:t>
            </a:r>
            <a:r>
              <a:rPr dirty="0" err="1">
                <a:latin typeface="Microsoft YaHei"/>
              </a:rPr>
              <a:t>最小闭环跑通</a:t>
            </a:r>
            <a:endParaRPr dirty="0">
              <a:latin typeface="Microsoft YaHei"/>
            </a:endParaRPr>
          </a:p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A </a:t>
            </a:r>
            <a:r>
              <a:rPr dirty="0" err="1">
                <a:latin typeface="Microsoft YaHei"/>
              </a:rPr>
              <a:t>陈佳欣</a:t>
            </a:r>
            <a:r>
              <a:rPr dirty="0">
                <a:latin typeface="Microsoft YaHei"/>
              </a:rPr>
              <a:t> 2471400</a:t>
            </a:r>
          </a:p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B </a:t>
            </a:r>
            <a:r>
              <a:rPr dirty="0" err="1">
                <a:latin typeface="Microsoft YaHei"/>
              </a:rPr>
              <a:t>张乐年</a:t>
            </a:r>
            <a:r>
              <a:rPr dirty="0">
                <a:latin typeface="Microsoft YaHei"/>
              </a:rPr>
              <a:t> 2471172</a:t>
            </a:r>
          </a:p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C </a:t>
            </a:r>
            <a:r>
              <a:rPr dirty="0" err="1">
                <a:latin typeface="Microsoft YaHei"/>
              </a:rPr>
              <a:t>石雨凡</a:t>
            </a:r>
            <a:r>
              <a:rPr dirty="0">
                <a:latin typeface="Microsoft YaHei"/>
              </a:rPr>
              <a:t> 2363487</a:t>
            </a:r>
          </a:p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D </a:t>
            </a:r>
            <a:r>
              <a:rPr dirty="0" err="1">
                <a:latin typeface="Microsoft YaHei"/>
              </a:rPr>
              <a:t>张峻烨</a:t>
            </a:r>
            <a:r>
              <a:rPr dirty="0">
                <a:latin typeface="Microsoft YaHei"/>
              </a:rPr>
              <a:t> 2471659</a:t>
            </a:r>
          </a:p>
          <a:p>
            <a:pPr algn="ctr"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E </a:t>
            </a:r>
            <a:r>
              <a:rPr dirty="0" err="1">
                <a:latin typeface="Microsoft YaHei"/>
              </a:rPr>
              <a:t>刘嘉铭</a:t>
            </a:r>
            <a:r>
              <a:rPr dirty="0">
                <a:latin typeface="Microsoft YaHei"/>
              </a:rPr>
              <a:t> 2471680</a:t>
            </a:r>
          </a:p>
        </p:txBody>
      </p:sp>
    </p:spTree>
    <p:extLst>
      <p:ext uri="{BB962C8B-B14F-4D97-AF65-F5344CB8AC3E}">
        <p14:creationId xmlns:p14="http://schemas.microsoft.com/office/powerpoint/2010/main" val="31532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DC5C8-4A8A-4C39-9093-66C58530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17938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400" b="0">
                <a:solidFill>
                  <a:srgbClr val="000000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进度</a:t>
            </a:r>
            <a:r>
              <a:rPr dirty="0">
                <a:latin typeface="Microsoft YaHei"/>
              </a:rPr>
              <a:t> Schedule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C7E97D-941F-4FA1-A4E1-E945D7572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4984115" cy="4351655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W3 </a:t>
            </a:r>
            <a:r>
              <a:rPr dirty="0" err="1">
                <a:latin typeface="Microsoft YaHei"/>
              </a:rPr>
              <a:t>原计划</a:t>
            </a:r>
            <a:r>
              <a:rPr dirty="0">
                <a:latin typeface="Microsoft YaHei"/>
              </a:rPr>
              <a:t> plan</a:t>
            </a:r>
          </a:p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1 A-B-E </a:t>
            </a:r>
            <a:r>
              <a:rPr dirty="0" err="1">
                <a:latin typeface="Microsoft YaHei"/>
              </a:rPr>
              <a:t>联通协调（续</a:t>
            </a:r>
            <a:r>
              <a:rPr dirty="0">
                <a:latin typeface="Microsoft YaHei"/>
              </a:rPr>
              <a:t>）</a:t>
            </a:r>
            <a:r>
              <a:rPr lang="zh-CN" altLang="en-US" dirty="0">
                <a:latin typeface="Microsoft YaHei"/>
              </a:rPr>
              <a:t>（</a:t>
            </a:r>
            <a:r>
              <a:rPr lang="en-US" altLang="zh-CN" dirty="0">
                <a:latin typeface="Microsoft YaHei"/>
              </a:rPr>
              <a:t>50%</a:t>
            </a:r>
            <a:r>
              <a:rPr lang="zh-CN" altLang="en-US" dirty="0">
                <a:latin typeface="Microsoft YaHei"/>
              </a:rPr>
              <a:t>）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lang="en-US" dirty="0">
                <a:latin typeface="Microsoft YaHei"/>
              </a:rPr>
              <a:t>2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完成单</a:t>
            </a:r>
            <a:r>
              <a:rPr dirty="0">
                <a:latin typeface="Microsoft YaHei"/>
              </a:rPr>
              <a:t> Agent </a:t>
            </a:r>
            <a:r>
              <a:rPr dirty="0" err="1">
                <a:latin typeface="Microsoft YaHei"/>
              </a:rPr>
              <a:t>或少量</a:t>
            </a:r>
            <a:r>
              <a:rPr dirty="0">
                <a:latin typeface="Microsoft YaHei"/>
              </a:rPr>
              <a:t> Agent </a:t>
            </a:r>
            <a:r>
              <a:rPr dirty="0" err="1">
                <a:latin typeface="Microsoft YaHei"/>
              </a:rPr>
              <a:t>最小闭环测试</a:t>
            </a:r>
            <a:endParaRPr dirty="0">
              <a:latin typeface="Microsoft YaHei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B628AC-CC2C-4CC0-B3A3-7C754CE2A2E4}"/>
              </a:ext>
            </a:extLst>
          </p:cNvPr>
          <p:cNvSpPr>
            <a:spLocks noGrp="1"/>
          </p:cNvSpPr>
          <p:nvPr/>
        </p:nvSpPr>
        <p:spPr>
          <a:xfrm>
            <a:off x="5905500" y="1825624"/>
            <a:ext cx="4984115" cy="4351655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本周完成</a:t>
            </a:r>
            <a:r>
              <a:rPr dirty="0">
                <a:latin typeface="Microsoft YaHei"/>
              </a:rPr>
              <a:t> this week</a:t>
            </a:r>
          </a:p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1 </a:t>
            </a:r>
            <a:r>
              <a:rPr lang="en-US" dirty="0">
                <a:latin typeface="Microsoft YaHei"/>
              </a:rPr>
              <a:t>50</a:t>
            </a:r>
            <a:r>
              <a:rPr dirty="0">
                <a:latin typeface="Microsoft YaHei"/>
              </a:rPr>
              <a:t>%</a:t>
            </a:r>
          </a:p>
          <a:p>
            <a:pPr>
              <a:lnSpc>
                <a:spcPct val="105000"/>
              </a:lnSpc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2 100%</a:t>
            </a:r>
          </a:p>
        </p:txBody>
      </p:sp>
    </p:spTree>
    <p:extLst>
      <p:ext uri="{BB962C8B-B14F-4D97-AF65-F5344CB8AC3E}">
        <p14:creationId xmlns:p14="http://schemas.microsoft.com/office/powerpoint/2010/main" val="63543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ADF23-CE96-4455-85FD-2A45479C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400" b="0">
                <a:solidFill>
                  <a:srgbClr val="000000"/>
                </a:solidFill>
                <a:latin typeface="Microsoft YaHei"/>
              </a:defRPr>
            </a:pPr>
            <a:r>
              <a:rPr sz="3200" dirty="0">
                <a:latin typeface="Microsoft YaHei"/>
              </a:rPr>
              <a:t>1 </a:t>
            </a:r>
            <a:r>
              <a:rPr sz="3200" dirty="0" err="1">
                <a:latin typeface="Microsoft YaHei"/>
              </a:rPr>
              <a:t>本周整体结论</a:t>
            </a:r>
            <a:r>
              <a:rPr sz="3200" dirty="0">
                <a:latin typeface="Microsoft YaHei"/>
              </a:rPr>
              <a:t> detail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E39B-99DE-42CF-B719-81C6EAB4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1325563"/>
            <a:ext cx="10515600" cy="4473575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本周主线</a:t>
            </a:r>
            <a:endParaRPr sz="1575" b="0" dirty="0">
              <a:solidFill>
                <a:srgbClr val="444444"/>
              </a:solidFill>
            </a:endParaRP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延续</a:t>
            </a:r>
            <a:r>
              <a:rPr dirty="0">
                <a:latin typeface="Microsoft YaHei"/>
              </a:rPr>
              <a:t> Week2 </a:t>
            </a:r>
            <a:r>
              <a:rPr dirty="0" err="1">
                <a:latin typeface="Microsoft YaHei"/>
              </a:rPr>
              <a:t>未完成的</a:t>
            </a:r>
            <a:r>
              <a:rPr dirty="0">
                <a:latin typeface="Microsoft YaHei"/>
              </a:rPr>
              <a:t> A-B-E </a:t>
            </a:r>
            <a:r>
              <a:rPr dirty="0" err="1">
                <a:latin typeface="Microsoft YaHei"/>
              </a:rPr>
              <a:t>联通任务，本周完成从“模块独立可运行”到“最小闭环可流动”的转变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完成状态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B </a:t>
            </a:r>
            <a:r>
              <a:rPr dirty="0" err="1">
                <a:latin typeface="Microsoft YaHei"/>
              </a:rPr>
              <a:t>模块能够生成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ActionRecord；A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模块能够接收并缓存行为、推进环境更新；E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模块能够读取</a:t>
            </a:r>
            <a:r>
              <a:rPr dirty="0">
                <a:latin typeface="Microsoft YaHei"/>
              </a:rPr>
              <a:t> A 的 </a:t>
            </a:r>
            <a:r>
              <a:rPr dirty="0" err="1">
                <a:latin typeface="Microsoft YaHei"/>
              </a:rPr>
              <a:t>DataCollector</a:t>
            </a:r>
            <a:r>
              <a:rPr dirty="0">
                <a:latin typeface="Microsoft YaHei"/>
              </a:rPr>
              <a:t> / </a:t>
            </a:r>
            <a:r>
              <a:rPr dirty="0" err="1">
                <a:latin typeface="Microsoft YaHei"/>
              </a:rPr>
              <a:t>metrics，并导出</a:t>
            </a:r>
            <a:r>
              <a:rPr dirty="0">
                <a:latin typeface="Microsoft YaHei"/>
              </a:rPr>
              <a:t> CSV、JSON </a:t>
            </a:r>
            <a:r>
              <a:rPr dirty="0" err="1">
                <a:latin typeface="Microsoft YaHei"/>
              </a:rPr>
              <a:t>与趋势图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关键变化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项目进入局部系统联调阶段：不再只验证单个函数或单个模块，而是验证</a:t>
            </a:r>
            <a:r>
              <a:rPr dirty="0">
                <a:latin typeface="Microsoft YaHei"/>
              </a:rPr>
              <a:t> Agent </a:t>
            </a:r>
            <a:r>
              <a:rPr dirty="0" err="1">
                <a:latin typeface="Microsoft YaHei"/>
              </a:rPr>
              <a:t>行为、环境状态、指标输出是否可以按</a:t>
            </a:r>
            <a:r>
              <a:rPr dirty="0">
                <a:latin typeface="Microsoft YaHei"/>
              </a:rPr>
              <a:t> tick </a:t>
            </a:r>
            <a:r>
              <a:rPr dirty="0" err="1">
                <a:latin typeface="Microsoft YaHei"/>
              </a:rPr>
              <a:t>连续传递</a:t>
            </a:r>
            <a:r>
              <a:rPr dirty="0"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9590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0A6D8-47F8-4A28-92F3-CBDF3442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30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000000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2 A-B-E </a:t>
            </a:r>
            <a:r>
              <a:rPr dirty="0" err="1">
                <a:latin typeface="Microsoft YaHei"/>
              </a:rPr>
              <a:t>数据链路已形成闭环</a:t>
            </a:r>
            <a:endParaRPr sz="3000" b="0" dirty="0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EEFEA-B353-4A31-AA00-17258B959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993057"/>
            <a:ext cx="10756491" cy="534678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联调目标</a:t>
            </a:r>
            <a:endParaRPr lang="en-US" altLang="zh-CN" sz="2200" dirty="0">
              <a:solidFill>
                <a:srgbClr val="444444"/>
              </a:solidFill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把 Week2 </a:t>
            </a:r>
            <a:r>
              <a:rPr dirty="0" err="1">
                <a:latin typeface="Microsoft YaHei"/>
              </a:rPr>
              <a:t>的“具备联通条件”推进为真实可运行链路</a:t>
            </a:r>
            <a:r>
              <a:rPr dirty="0">
                <a:latin typeface="Microsoft YaHei"/>
              </a:rPr>
              <a:t>。</a:t>
            </a:r>
            <a:endParaRPr lang="en-US"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核心链路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B </a:t>
            </a:r>
            <a:r>
              <a:rPr dirty="0" err="1">
                <a:latin typeface="Microsoft YaHei"/>
              </a:rPr>
              <a:t>SocialAgent</a:t>
            </a:r>
            <a:r>
              <a:rPr dirty="0">
                <a:latin typeface="Microsoft YaHei"/>
              </a:rPr>
              <a:t> → </a:t>
            </a:r>
            <a:r>
              <a:rPr dirty="0" err="1">
                <a:latin typeface="Microsoft YaHei"/>
              </a:rPr>
              <a:t>ActionRecord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A </a:t>
            </a:r>
            <a:r>
              <a:rPr dirty="0" err="1">
                <a:latin typeface="Microsoft YaHei"/>
              </a:rPr>
              <a:t>OpinionModel</a:t>
            </a:r>
            <a:r>
              <a:rPr dirty="0">
                <a:latin typeface="Microsoft YaHei"/>
              </a:rPr>
              <a:t> → </a:t>
            </a:r>
            <a:r>
              <a:rPr dirty="0" err="1">
                <a:latin typeface="Microsoft YaHei"/>
              </a:rPr>
              <a:t>submit_action</a:t>
            </a:r>
            <a:r>
              <a:rPr dirty="0">
                <a:latin typeface="Microsoft YaHei"/>
              </a:rPr>
              <a:t> / </a:t>
            </a:r>
            <a:r>
              <a:rPr dirty="0" err="1">
                <a:latin typeface="Microsoft YaHei"/>
              </a:rPr>
              <a:t>环境更新</a:t>
            </a:r>
            <a:r>
              <a:rPr dirty="0">
                <a:latin typeface="Microsoft YaHei"/>
              </a:rPr>
              <a:t> / </a:t>
            </a:r>
            <a:r>
              <a:rPr dirty="0" err="1">
                <a:latin typeface="Microsoft YaHei"/>
              </a:rPr>
              <a:t>DataCollector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E Utils → metrics </a:t>
            </a:r>
            <a:r>
              <a:rPr dirty="0" err="1">
                <a:latin typeface="Microsoft YaHei"/>
              </a:rPr>
              <a:t>读取</a:t>
            </a:r>
            <a:r>
              <a:rPr dirty="0">
                <a:latin typeface="Microsoft YaHei"/>
              </a:rPr>
              <a:t> / </a:t>
            </a:r>
            <a:r>
              <a:rPr dirty="0" err="1">
                <a:latin typeface="Microsoft YaHei"/>
              </a:rPr>
              <a:t>CSV、JSON、趋势图输出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接口对齐结果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</a:t>
            </a:r>
            <a:r>
              <a:rPr dirty="0" err="1">
                <a:latin typeface="Microsoft YaHei"/>
              </a:rPr>
              <a:t>ActionRecord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字段已进入</a:t>
            </a:r>
            <a:r>
              <a:rPr dirty="0">
                <a:latin typeface="Microsoft YaHei"/>
              </a:rPr>
              <a:t> A：agent_id、action_type、content、event_id、opinion_value、target_id、tick。</a:t>
            </a: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A </a:t>
            </a:r>
            <a:r>
              <a:rPr dirty="0" err="1">
                <a:latin typeface="Microsoft YaHei"/>
              </a:rPr>
              <a:t>输出的</a:t>
            </a:r>
            <a:r>
              <a:rPr dirty="0">
                <a:latin typeface="Microsoft YaHei"/>
              </a:rPr>
              <a:t> metrics </a:t>
            </a:r>
            <a:r>
              <a:rPr dirty="0" err="1">
                <a:latin typeface="Microsoft YaHei"/>
              </a:rPr>
              <a:t>保持固定字段：step</a:t>
            </a:r>
            <a:r>
              <a:rPr dirty="0">
                <a:latin typeface="Microsoft YaHei"/>
              </a:rPr>
              <a:t> / </a:t>
            </a:r>
            <a:r>
              <a:rPr dirty="0" err="1">
                <a:latin typeface="Microsoft YaHei"/>
              </a:rPr>
              <a:t>tick、avg_opinion、polarization、emotional_contagion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E </a:t>
            </a:r>
            <a:r>
              <a:rPr dirty="0" err="1">
                <a:latin typeface="Microsoft YaHei"/>
              </a:rPr>
              <a:t>可以直接消费</a:t>
            </a:r>
            <a:r>
              <a:rPr dirty="0">
                <a:latin typeface="Microsoft YaHei"/>
              </a:rPr>
              <a:t> A 的 </a:t>
            </a:r>
            <a:r>
              <a:rPr dirty="0" err="1">
                <a:latin typeface="Microsoft YaHei"/>
              </a:rPr>
              <a:t>DataFrame</a:t>
            </a:r>
            <a:r>
              <a:rPr dirty="0">
                <a:latin typeface="Microsoft YaHei"/>
              </a:rPr>
              <a:t> 或 CSV </a:t>
            </a:r>
            <a:r>
              <a:rPr dirty="0" err="1">
                <a:latin typeface="Microsoft YaHei"/>
              </a:rPr>
              <a:t>文件，完成结果保存和可视化</a:t>
            </a:r>
            <a:r>
              <a:rPr dirty="0"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7445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ADF23-CE96-4455-85FD-2A45479C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99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400" b="0">
                <a:solidFill>
                  <a:srgbClr val="000000"/>
                </a:solidFill>
                <a:latin typeface="Microsoft YaHei"/>
              </a:defRPr>
            </a:pPr>
            <a:r>
              <a:rPr sz="3200" dirty="0">
                <a:latin typeface="Microsoft YaHei"/>
              </a:rPr>
              <a:t>3 单 Agent / </a:t>
            </a:r>
            <a:r>
              <a:rPr sz="3200" dirty="0" err="1">
                <a:latin typeface="Microsoft YaHei"/>
              </a:rPr>
              <a:t>少量</a:t>
            </a:r>
            <a:r>
              <a:rPr sz="3200" dirty="0">
                <a:latin typeface="Microsoft YaHei"/>
              </a:rPr>
              <a:t> Agent </a:t>
            </a:r>
            <a:r>
              <a:rPr sz="3200" dirty="0" err="1">
                <a:latin typeface="Microsoft YaHei"/>
              </a:rPr>
              <a:t>闭环验证完成</a:t>
            </a:r>
            <a:endParaRPr sz="3200" dirty="0">
              <a:latin typeface="Microsoft YaHei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E39B-99DE-42CF-B719-81C6EAB4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144029"/>
            <a:ext cx="10515600" cy="5713971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测试路径</a:t>
            </a:r>
            <a:endParaRPr sz="1575" b="0" dirty="0">
              <a:solidFill>
                <a:srgbClr val="444444"/>
              </a:solidFill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单 Agent / </a:t>
            </a:r>
            <a:r>
              <a:rPr dirty="0" err="1">
                <a:latin typeface="Microsoft YaHei"/>
              </a:rPr>
              <a:t>少量</a:t>
            </a:r>
            <a:r>
              <a:rPr dirty="0">
                <a:latin typeface="Microsoft YaHei"/>
              </a:rPr>
              <a:t> Agent → B </a:t>
            </a:r>
            <a:r>
              <a:rPr dirty="0" err="1">
                <a:latin typeface="Microsoft YaHei"/>
              </a:rPr>
              <a:t>生成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ActionRecord</a:t>
            </a:r>
            <a:r>
              <a:rPr dirty="0">
                <a:latin typeface="Microsoft YaHei"/>
              </a:rPr>
              <a:t> → A </a:t>
            </a:r>
            <a:r>
              <a:rPr dirty="0" err="1">
                <a:latin typeface="Microsoft YaHei"/>
              </a:rPr>
              <a:t>更新环境</a:t>
            </a:r>
            <a:r>
              <a:rPr dirty="0">
                <a:latin typeface="Microsoft YaHei"/>
              </a:rPr>
              <a:t> → E </a:t>
            </a:r>
            <a:r>
              <a:rPr dirty="0" err="1">
                <a:latin typeface="Microsoft YaHei"/>
              </a:rPr>
              <a:t>导出</a:t>
            </a:r>
            <a:r>
              <a:rPr dirty="0">
                <a:latin typeface="Microsoft YaHei"/>
              </a:rPr>
              <a:t> CSV / JSON / </a:t>
            </a:r>
            <a:r>
              <a:rPr dirty="0" err="1">
                <a:latin typeface="Microsoft YaHei"/>
              </a:rPr>
              <a:t>图表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验证结果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B </a:t>
            </a:r>
            <a:r>
              <a:rPr dirty="0" err="1">
                <a:latin typeface="Microsoft YaHei"/>
              </a:rPr>
              <a:t>侧：agent.step</a:t>
            </a:r>
            <a:r>
              <a:rPr dirty="0">
                <a:latin typeface="Microsoft YaHei"/>
              </a:rPr>
              <a:t>() </a:t>
            </a:r>
            <a:r>
              <a:rPr dirty="0" err="1">
                <a:latin typeface="Microsoft YaHei"/>
              </a:rPr>
              <a:t>完成“感知→信念→欲望→意图→行动”流程，产生</a:t>
            </a:r>
            <a:r>
              <a:rPr dirty="0">
                <a:latin typeface="Microsoft YaHei"/>
              </a:rPr>
              <a:t> COMMENT </a:t>
            </a:r>
            <a:r>
              <a:rPr dirty="0" err="1">
                <a:latin typeface="Microsoft YaHei"/>
              </a:rPr>
              <a:t>等行为记录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A </a:t>
            </a:r>
            <a:r>
              <a:rPr dirty="0" err="1">
                <a:latin typeface="Microsoft YaHei"/>
              </a:rPr>
              <a:t>侧：收到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ActionRecord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后写入缓存，并通过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DataCollector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汇总观点、极化和情绪感染指标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• E </a:t>
            </a:r>
            <a:r>
              <a:rPr dirty="0" err="1">
                <a:latin typeface="Microsoft YaHei"/>
              </a:rPr>
              <a:t>侧：从</a:t>
            </a:r>
            <a:r>
              <a:rPr dirty="0">
                <a:latin typeface="Microsoft YaHei"/>
              </a:rPr>
              <a:t> A </a:t>
            </a:r>
            <a:r>
              <a:rPr dirty="0" err="1">
                <a:latin typeface="Microsoft YaHei"/>
              </a:rPr>
              <a:t>读取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BeliefSystem</a:t>
            </a:r>
            <a:r>
              <a:rPr dirty="0">
                <a:latin typeface="Microsoft YaHei"/>
              </a:rPr>
              <a:t> 与 </a:t>
            </a:r>
            <a:r>
              <a:rPr dirty="0" err="1">
                <a:latin typeface="Microsoft YaHei"/>
              </a:rPr>
              <a:t>metrics，用于可视化和行为分析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数据结果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metrics.csv 共 50 </a:t>
            </a:r>
            <a:r>
              <a:rPr dirty="0" err="1">
                <a:latin typeface="Microsoft YaHei"/>
              </a:rPr>
              <a:t>行，字段为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step、avg_opinion、polarization、emotional_contagion；无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NaN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avg_opinion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范围</a:t>
            </a:r>
            <a:r>
              <a:rPr dirty="0">
                <a:latin typeface="Microsoft YaHei"/>
              </a:rPr>
              <a:t> [-0.0378, -0.0378]，polarization 约 0.5820，emotional_contagion </a:t>
            </a:r>
            <a:r>
              <a:rPr dirty="0" err="1">
                <a:latin typeface="Microsoft YaHei"/>
              </a:rPr>
              <a:t>范围</a:t>
            </a:r>
            <a:r>
              <a:rPr dirty="0">
                <a:latin typeface="Microsoft YaHei"/>
              </a:rPr>
              <a:t> [0.0000, 0.0135]。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本页结论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最小闭环不是静态接口检查，而是已经能够连续产生时序数据</a:t>
            </a:r>
            <a:r>
              <a:rPr dirty="0"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9590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8BE8-3886-550D-97D6-20E1A56D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00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100" b="0">
                <a:solidFill>
                  <a:srgbClr val="000000"/>
                </a:solidFill>
                <a:latin typeface="Microsoft YaHei"/>
              </a:defRPr>
            </a:pPr>
            <a:r>
              <a:rPr sz="3200" dirty="0">
                <a:latin typeface="Microsoft YaHei"/>
              </a:rPr>
              <a:t>4 </a:t>
            </a:r>
            <a:r>
              <a:rPr sz="3200" dirty="0" err="1">
                <a:latin typeface="Microsoft YaHei"/>
              </a:rPr>
              <a:t>联调测试结果：B</a:t>
            </a:r>
            <a:r>
              <a:rPr sz="3200" dirty="0">
                <a:latin typeface="Microsoft YaHei"/>
              </a:rPr>
              <a:t> </a:t>
            </a:r>
            <a:r>
              <a:rPr sz="3200" dirty="0" err="1">
                <a:latin typeface="Microsoft YaHei"/>
              </a:rPr>
              <a:t>行为进入</a:t>
            </a:r>
            <a:r>
              <a:rPr sz="3200" dirty="0">
                <a:latin typeface="Microsoft YaHei"/>
              </a:rPr>
              <a:t> A </a:t>
            </a:r>
            <a:r>
              <a:rPr sz="3200" dirty="0" err="1">
                <a:latin typeface="Microsoft YaHei"/>
              </a:rPr>
              <a:t>并可供</a:t>
            </a:r>
            <a:r>
              <a:rPr sz="3200" dirty="0">
                <a:latin typeface="Microsoft YaHei"/>
              </a:rPr>
              <a:t> E </a:t>
            </a:r>
            <a:r>
              <a:rPr sz="3200" dirty="0" err="1">
                <a:latin typeface="Microsoft YaHei"/>
              </a:rPr>
              <a:t>读取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E6E105-BC48-11A4-C5C4-5F067C6A1404}"/>
              </a:ext>
            </a:extLst>
          </p:cNvPr>
          <p:cNvSpPr txBox="1"/>
          <p:nvPr/>
        </p:nvSpPr>
        <p:spPr>
          <a:xfrm>
            <a:off x="7941120" y="1058183"/>
            <a:ext cx="4057840" cy="4042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Microsoft YaHei"/>
              </a:rPr>
              <a:t>测试含义</a:t>
            </a:r>
            <a:endParaRPr sz="2000" b="1" dirty="0">
              <a:latin typeface="Microsoft YaHei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B </a:t>
            </a:r>
            <a:r>
              <a:rPr dirty="0" err="1">
                <a:latin typeface="Microsoft YaHei"/>
              </a:rPr>
              <a:t>执行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agent.step</a:t>
            </a:r>
            <a:r>
              <a:rPr dirty="0">
                <a:latin typeface="Microsoft YaHei"/>
              </a:rPr>
              <a:t>() </a:t>
            </a:r>
            <a:r>
              <a:rPr dirty="0" err="1">
                <a:latin typeface="Microsoft YaHei"/>
              </a:rPr>
              <a:t>生成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ActionRecord；A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通过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submit_action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接收并缓存；E</a:t>
            </a:r>
            <a:r>
              <a:rPr dirty="0">
                <a:latin typeface="Microsoft YaHei"/>
              </a:rPr>
              <a:t> 从 </a:t>
            </a:r>
            <a:r>
              <a:rPr dirty="0" err="1">
                <a:latin typeface="Microsoft YaHei"/>
              </a:rPr>
              <a:t>DataCollector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中读取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ActionRecord、BeliefSystem</a:t>
            </a:r>
            <a:r>
              <a:rPr dirty="0">
                <a:latin typeface="Microsoft YaHei"/>
              </a:rPr>
              <a:t> 与 Memory。</a:t>
            </a: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Microsoft YaHei"/>
              </a:rPr>
              <a:t>关键证据</a:t>
            </a:r>
            <a:endParaRPr sz="2000" b="1" dirty="0">
              <a:latin typeface="Microsoft YaHei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截图中可见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agent_id、action_type、content、event_id、opinion_value、tick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等字段均被保留；BeliefSystem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中观点、置信度、情绪效价、人格开放性和风险规避等状态也可被读取</a:t>
            </a:r>
            <a:r>
              <a:rPr dirty="0">
                <a:latin typeface="Microsoft YaHei"/>
              </a:rPr>
              <a:t>。</a:t>
            </a: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Microsoft YaHei"/>
              </a:rPr>
              <a:t>结论</a:t>
            </a:r>
            <a:endParaRPr sz="2000" b="1" dirty="0">
              <a:latin typeface="Microsoft YaHei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B→A→E </a:t>
            </a:r>
            <a:r>
              <a:rPr dirty="0" err="1">
                <a:latin typeface="Microsoft YaHei"/>
              </a:rPr>
              <a:t>的单</a:t>
            </a:r>
            <a:r>
              <a:rPr dirty="0">
                <a:latin typeface="Microsoft YaHei"/>
              </a:rPr>
              <a:t> Agent </a:t>
            </a:r>
            <a:r>
              <a:rPr dirty="0" err="1">
                <a:latin typeface="Microsoft YaHei"/>
              </a:rPr>
              <a:t>行为链路已跑通，具备继续扩大</a:t>
            </a:r>
            <a:r>
              <a:rPr dirty="0">
                <a:latin typeface="Microsoft YaHei"/>
              </a:rPr>
              <a:t> Agent </a:t>
            </a:r>
            <a:r>
              <a:rPr dirty="0" err="1">
                <a:latin typeface="Microsoft YaHei"/>
              </a:rPr>
              <a:t>数量的条件</a:t>
            </a:r>
            <a:r>
              <a:rPr dirty="0">
                <a:latin typeface="Microsoft YaHei"/>
              </a:rPr>
              <a:t>。</a:t>
            </a:r>
          </a:p>
        </p:txBody>
      </p:sp>
      <p:pic>
        <p:nvPicPr>
          <p:cNvPr id="10" name="Picture 9" descr="e511ef06503c2b9c0bab1adede26b3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55" y="976623"/>
            <a:ext cx="6951645" cy="53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44A5D-A70F-6EFA-CA11-EC98440F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6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100" b="0">
                <a:solidFill>
                  <a:srgbClr val="000000"/>
                </a:solidFill>
                <a:latin typeface="Microsoft YaHei"/>
              </a:defRPr>
            </a:pPr>
            <a:r>
              <a:rPr sz="3200" dirty="0">
                <a:latin typeface="Microsoft YaHei"/>
              </a:rPr>
              <a:t>5 </a:t>
            </a:r>
            <a:r>
              <a:rPr sz="3200" dirty="0" err="1">
                <a:latin typeface="Microsoft YaHei"/>
              </a:rPr>
              <a:t>联调测试结果：metrics</a:t>
            </a:r>
            <a:r>
              <a:rPr sz="3200" dirty="0">
                <a:latin typeface="Microsoft YaHei"/>
              </a:rPr>
              <a:t> </a:t>
            </a:r>
            <a:r>
              <a:rPr sz="3200" dirty="0" err="1">
                <a:latin typeface="Microsoft YaHei"/>
              </a:rPr>
              <a:t>与趋势图可直接输出</a:t>
            </a:r>
            <a:endParaRPr lang="zh-CN" altLang="en-US" sz="4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66F75E-5B0F-2FBE-08DB-F4C25A74839D}"/>
              </a:ext>
            </a:extLst>
          </p:cNvPr>
          <p:cNvSpPr txBox="1"/>
          <p:nvPr/>
        </p:nvSpPr>
        <p:spPr>
          <a:xfrm>
            <a:off x="375976" y="3947306"/>
            <a:ext cx="11440048" cy="61306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输出说明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metrics.csv 按 tick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50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行时序数据。avg_opinion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保持在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[-1, 1]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内，当前约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-0.0378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polarization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保持非负，当前约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0.5820。</a:t>
            </a: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emotional_contagion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为非负指标，最大约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0.0135。</a:t>
            </a: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结果解释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当前测试以最小闭环为主，因此平均观点与极化度变化较平稳；情绪感染指标在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50 tick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内持续波动，说明时序输出不是空结果，E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模块可以直接据此绘图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A→E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的数据导出与图表链路已验证。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的关键问题是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avg_opinion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polarization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恒定无变化，待接上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Hawkes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）后，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avg_opinion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polarization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每步都应有变化。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 descr="4bea2a7877964994987f3aa77f2061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888913"/>
            <a:ext cx="4961488" cy="31365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B64D12-3048-1B9D-01E9-95DB49166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76" y="888913"/>
            <a:ext cx="4876744" cy="29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0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6B11E-29F8-403F-8D69-D4848905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" y="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400" b="0">
                <a:solidFill>
                  <a:srgbClr val="000000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总结计划</a:t>
            </a:r>
            <a:r>
              <a:rPr dirty="0">
                <a:latin typeface="Microsoft YaHei"/>
              </a:rPr>
              <a:t> 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E64C9-7CA7-4E16-941C-D7F65ED7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285" y="1584325"/>
            <a:ext cx="4984115" cy="4351655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下周计划</a:t>
            </a:r>
            <a:r>
              <a:rPr dirty="0">
                <a:latin typeface="Microsoft YaHei"/>
              </a:rPr>
              <a:t> next week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1 </a:t>
            </a:r>
            <a:r>
              <a:rPr dirty="0" err="1">
                <a:latin typeface="Microsoft YaHei"/>
              </a:rPr>
              <a:t>接入</a:t>
            </a:r>
            <a:r>
              <a:rPr dirty="0">
                <a:latin typeface="Microsoft YaHei"/>
              </a:rPr>
              <a:t> C </a:t>
            </a:r>
            <a:r>
              <a:rPr dirty="0" err="1">
                <a:latin typeface="Microsoft YaHei"/>
              </a:rPr>
              <a:t>模块：Hawkes</a:t>
            </a:r>
            <a:r>
              <a:rPr dirty="0">
                <a:latin typeface="Microsoft YaHei"/>
              </a:rPr>
              <a:t> </a:t>
            </a:r>
            <a:r>
              <a:rPr dirty="0" err="1">
                <a:latin typeface="Microsoft YaHei"/>
              </a:rPr>
              <a:t>事件采样与</a:t>
            </a:r>
            <a:r>
              <a:rPr dirty="0">
                <a:latin typeface="Microsoft YaHei"/>
              </a:rPr>
              <a:t> LLM prompt/parse </a:t>
            </a:r>
            <a:r>
              <a:rPr dirty="0" err="1">
                <a:latin typeface="Microsoft YaHei"/>
              </a:rPr>
              <a:t>链路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2 </a:t>
            </a:r>
            <a:r>
              <a:rPr dirty="0" err="1">
                <a:latin typeface="Microsoft YaHei"/>
              </a:rPr>
              <a:t>接入</a:t>
            </a:r>
            <a:r>
              <a:rPr dirty="0">
                <a:latin typeface="Microsoft YaHei"/>
              </a:rPr>
              <a:t> D </a:t>
            </a:r>
            <a:r>
              <a:rPr dirty="0" err="1">
                <a:latin typeface="Microsoft YaHei"/>
              </a:rPr>
              <a:t>模块：使用</a:t>
            </a:r>
            <a:r>
              <a:rPr dirty="0">
                <a:latin typeface="Microsoft YaHei"/>
              </a:rPr>
              <a:t> A </a:t>
            </a:r>
            <a:r>
              <a:rPr dirty="0" err="1">
                <a:latin typeface="Microsoft YaHei"/>
              </a:rPr>
              <a:t>的真实</a:t>
            </a:r>
            <a:r>
              <a:rPr dirty="0">
                <a:latin typeface="Microsoft YaHei"/>
              </a:rPr>
              <a:t> metrics </a:t>
            </a:r>
            <a:r>
              <a:rPr dirty="0" err="1">
                <a:latin typeface="Microsoft YaHei"/>
              </a:rPr>
              <a:t>做干预评估</a:t>
            </a:r>
            <a:endParaRPr dirty="0">
              <a:latin typeface="Microsoft YaHei"/>
            </a:endParaRP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lang="en-US" altLang="zh-CN" dirty="0">
                <a:latin typeface="Microsoft YaHei"/>
              </a:rPr>
              <a:t>3</a:t>
            </a:r>
            <a:r>
              <a:rPr lang="zh-CN" altLang="en-US" dirty="0">
                <a:latin typeface="Microsoft YaHei"/>
              </a:rPr>
              <a:t> 完善霍克斯引擎异常处理（避免</a:t>
            </a:r>
            <a:r>
              <a:rPr lang="en-US" altLang="zh-CN" dirty="0">
                <a:latin typeface="Microsoft YaHei"/>
              </a:rPr>
              <a:t>polarization</a:t>
            </a:r>
            <a:r>
              <a:rPr lang="zh-CN" altLang="en-US" dirty="0">
                <a:latin typeface="Microsoft YaHei"/>
              </a:rPr>
              <a:t>和</a:t>
            </a:r>
            <a:r>
              <a:rPr lang="en-US" altLang="zh-CN" dirty="0" err="1">
                <a:latin typeface="Microsoft YaHei"/>
              </a:rPr>
              <a:t>arg_opinion</a:t>
            </a:r>
            <a:r>
              <a:rPr lang="zh-CN" altLang="en-US" dirty="0">
                <a:latin typeface="Microsoft YaHei"/>
              </a:rPr>
              <a:t>恒定不变）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F085796-31B2-4DED-A46B-4004087BEE44}"/>
              </a:ext>
            </a:extLst>
          </p:cNvPr>
          <p:cNvSpPr>
            <a:spLocks noGrp="1"/>
          </p:cNvSpPr>
          <p:nvPr/>
        </p:nvSpPr>
        <p:spPr>
          <a:xfrm>
            <a:off x="746760" y="1584325"/>
            <a:ext cx="4984115" cy="4351655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本周完成</a:t>
            </a:r>
            <a:r>
              <a:rPr dirty="0">
                <a:latin typeface="Microsoft YaHei"/>
              </a:rPr>
              <a:t> this week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1 A-B-E 联通协调完成（100%）</a:t>
            </a:r>
          </a:p>
          <a:p>
            <a:pPr>
              <a:lnSpc>
                <a:spcPct val="1050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rPr dirty="0">
                <a:latin typeface="Microsoft YaHei"/>
              </a:rPr>
              <a:t>2 单 Agent / </a:t>
            </a:r>
            <a:r>
              <a:rPr dirty="0" err="1">
                <a:latin typeface="Microsoft YaHei"/>
              </a:rPr>
              <a:t>少量</a:t>
            </a:r>
            <a:r>
              <a:rPr dirty="0">
                <a:latin typeface="Microsoft YaHei"/>
              </a:rPr>
              <a:t> Agent 最小闭环跑通（100%）</a:t>
            </a:r>
          </a:p>
        </p:txBody>
      </p:sp>
    </p:spTree>
    <p:extLst>
      <p:ext uri="{BB962C8B-B14F-4D97-AF65-F5344CB8AC3E}">
        <p14:creationId xmlns:p14="http://schemas.microsoft.com/office/powerpoint/2010/main" val="69051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E9FB5-E7A9-4FE4-833C-93767AFE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4" y="-233680"/>
            <a:ext cx="10515600" cy="1325563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defRPr sz="3400" b="0">
                <a:solidFill>
                  <a:srgbClr val="000000"/>
                </a:solidFill>
                <a:latin typeface="Microsoft YaHei"/>
              </a:defRPr>
            </a:pPr>
            <a:r>
              <a:rPr sz="3200" dirty="0">
                <a:latin typeface="Microsoft YaHei"/>
              </a:rPr>
              <a:t>paper/chapter reading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8BB211F-2666-42C1-93B6-45DF60D7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798443"/>
            <a:ext cx="11755120" cy="6130677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本周阅读文章：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opinion dissemination simulation based on large language model multi-agent systems</a:t>
            </a: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DOI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10.1038/s41598-026-44206-z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 </a:t>
            </a:r>
            <a:r>
              <a:rPr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sz="1600" b="1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传统舆情仿真存在演化真实性不足、个体行为同质化和建模成本高的问题；论文提出用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LLM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多智能体框架同时刻画宏观传播与微观认知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Theory </a:t>
            </a:r>
            <a:r>
              <a:rPr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文章将角色异质性、行为概率校准、PSOP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标准流程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（事件发生→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获取信息→思考→发帖→评论→更新记忆→下一轮循环）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GISP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全局信息共享池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（保存贡献内容：如最新新闻、热门帖子等）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结合，形成“认知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概率”的混合驱动机制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 </a:t>
            </a:r>
            <a:r>
              <a:rPr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这一思路对应本周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A-B-E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联调：A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负责环境与调度，B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负责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认知和行动，E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负责指标输出与可视化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Methodology </a:t>
            </a:r>
            <a:r>
              <a:rPr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方法论</a:t>
            </a:r>
            <a:endParaRPr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论文用公共政策和食品安全两个场景验证鲁棒性，并用传播强度、角色贡献、行为熵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zh-CN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衡量 Agent 行为是否多样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Distinct-n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（其中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时衡量不同词语比例，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时衡量不同短语比例，衡量数值越高代表内容越多样）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评估仿真效果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 evaluation </a:t>
            </a:r>
            <a:r>
              <a:rPr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自我评价</a:t>
            </a:r>
            <a:endParaRPr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此论文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对本项目的启发是：先稳定数据闭环，再提高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认知复杂度和场景规模；下周接入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C/D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时仍需保持统一数据契约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365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776</Words>
  <Application>Microsoft Office PowerPoint</Application>
  <DocSecurity>0</DocSecurity>
  <PresentationFormat>宽屏</PresentationFormat>
  <Paragraphs>96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</vt:lpstr>
      <vt:lpstr>Microsoft YaHei</vt:lpstr>
      <vt:lpstr>Calibri</vt:lpstr>
      <vt:lpstr>Office 主题​​</vt:lpstr>
      <vt:lpstr>week 3 多智能体舆情处理系统</vt:lpstr>
      <vt:lpstr>进度 Schedule</vt:lpstr>
      <vt:lpstr>1 本周整体结论 detail</vt:lpstr>
      <vt:lpstr>2 A-B-E 数据链路已形成闭环</vt:lpstr>
      <vt:lpstr>3 单 Agent / 少量 Agent 闭环验证完成</vt:lpstr>
      <vt:lpstr>4 联调测试结果：B 行为进入 A 并可供 E 读取</vt:lpstr>
      <vt:lpstr>5 联调测试结果：metrics 与趋势图可直接输出</vt:lpstr>
      <vt:lpstr>总结计划 summary</vt:lpstr>
      <vt:lpstr>paper/chapter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6</cp:revision>
  <dcterms:created xsi:type="dcterms:W3CDTF">2026-07-06T08:00:21Z</dcterms:created>
  <dcterms:modified xsi:type="dcterms:W3CDTF">2026-07-13T10:37:46Z</dcterms:modified>
</cp:coreProperties>
</file>